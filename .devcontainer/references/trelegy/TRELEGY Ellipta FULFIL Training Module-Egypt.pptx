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5.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theme/themeOverride2.xml" ContentType="application/vnd.openxmlformats-officedocument.themeOverride+xml"/>
  <Override PartName="/ppt/notesSlides/notesSlide11.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charts/chart4.xml" ContentType="application/vnd.openxmlformats-officedocument.drawingml.chart+xml"/>
  <Override PartName="/ppt/theme/themeOverride3.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6.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803" r:id="rId5"/>
  </p:sldMasterIdLst>
  <p:notesMasterIdLst>
    <p:notesMasterId r:id="rId27"/>
  </p:notesMasterIdLst>
  <p:handoutMasterIdLst>
    <p:handoutMasterId r:id="rId28"/>
  </p:handoutMasterIdLst>
  <p:sldIdLst>
    <p:sldId id="267" r:id="rId6"/>
    <p:sldId id="2147480980" r:id="rId7"/>
    <p:sldId id="838839903" r:id="rId8"/>
    <p:sldId id="682" r:id="rId9"/>
    <p:sldId id="301" r:id="rId10"/>
    <p:sldId id="683" r:id="rId11"/>
    <p:sldId id="838839905" r:id="rId12"/>
    <p:sldId id="648" r:id="rId13"/>
    <p:sldId id="684" r:id="rId14"/>
    <p:sldId id="838839904" r:id="rId15"/>
    <p:sldId id="838839906" r:id="rId16"/>
    <p:sldId id="688" r:id="rId17"/>
    <p:sldId id="689" r:id="rId18"/>
    <p:sldId id="838839907" r:id="rId19"/>
    <p:sldId id="690" r:id="rId20"/>
    <p:sldId id="696" r:id="rId21"/>
    <p:sldId id="697" r:id="rId22"/>
    <p:sldId id="699" r:id="rId23"/>
    <p:sldId id="385" r:id="rId24"/>
    <p:sldId id="2147480982" r:id="rId25"/>
    <p:sldId id="291" r:id="rId26"/>
  </p:sldIdLst>
  <p:sldSz cx="12192000" cy="6858000"/>
  <p:notesSz cx="6858000" cy="9144000"/>
  <p:custDataLst>
    <p:tags r:id="rId29"/>
  </p:custData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71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D7B26C5-4107-4FEC-AEDC-1716B250A1E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2308" autoAdjust="0"/>
  </p:normalViewPr>
  <p:slideViewPr>
    <p:cSldViewPr snapToGrid="0" showGuides="1">
      <p:cViewPr varScale="1">
        <p:scale>
          <a:sx n="58" d="100"/>
          <a:sy n="58" d="100"/>
        </p:scale>
        <p:origin x="988"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80" d="100"/>
        <a:sy n="180" d="100"/>
      </p:scale>
      <p:origin x="0" y="-20268"/>
    </p:cViewPr>
  </p:sorterViewPr>
  <p:notesViewPr>
    <p:cSldViewPr snapToGrid="0" showGuides="1">
      <p:cViewPr varScale="1">
        <p:scale>
          <a:sx n="60" d="100"/>
          <a:sy n="60" d="100"/>
        </p:scale>
        <p:origin x="3384"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elrahman Sayed" userId="532b912a-a378-477b-9da3-1268d2a7b168" providerId="ADAL" clId="{5893654D-ECE6-41D7-A052-455440A63BDE}"/>
    <pc:docChg chg="custSel modSld">
      <pc:chgData name="Abdelrahman Sayed" userId="532b912a-a378-477b-9da3-1268d2a7b168" providerId="ADAL" clId="{5893654D-ECE6-41D7-A052-455440A63BDE}" dt="2025-07-22T05:44:59.327" v="4" actId="478"/>
      <pc:docMkLst>
        <pc:docMk/>
      </pc:docMkLst>
      <pc:sldChg chg="mod modShow">
        <pc:chgData name="Abdelrahman Sayed" userId="532b912a-a378-477b-9da3-1268d2a7b168" providerId="ADAL" clId="{5893654D-ECE6-41D7-A052-455440A63BDE}" dt="2025-07-21T10:51:20.612" v="0" actId="729"/>
        <pc:sldMkLst>
          <pc:docMk/>
          <pc:sldMk cId="0" sldId="648"/>
        </pc:sldMkLst>
      </pc:sldChg>
      <pc:sldChg chg="modSp mod">
        <pc:chgData name="Abdelrahman Sayed" userId="532b912a-a378-477b-9da3-1268d2a7b168" providerId="ADAL" clId="{5893654D-ECE6-41D7-A052-455440A63BDE}" dt="2025-07-22T05:41:08.574" v="1" actId="115"/>
        <pc:sldMkLst>
          <pc:docMk/>
          <pc:sldMk cId="2171011628" sldId="682"/>
        </pc:sldMkLst>
        <pc:spChg chg="mod">
          <ac:chgData name="Abdelrahman Sayed" userId="532b912a-a378-477b-9da3-1268d2a7b168" providerId="ADAL" clId="{5893654D-ECE6-41D7-A052-455440A63BDE}" dt="2025-07-22T05:41:08.574" v="1" actId="115"/>
          <ac:spMkLst>
            <pc:docMk/>
            <pc:sldMk cId="2171011628" sldId="682"/>
            <ac:spMk id="105" creationId="{00000000-0000-0000-0000-000000000000}"/>
          </ac:spMkLst>
        </pc:spChg>
      </pc:sldChg>
      <pc:sldChg chg="modSp mod">
        <pc:chgData name="Abdelrahman Sayed" userId="532b912a-a378-477b-9da3-1268d2a7b168" providerId="ADAL" clId="{5893654D-ECE6-41D7-A052-455440A63BDE}" dt="2025-07-22T05:42:21.401" v="2" actId="115"/>
        <pc:sldMkLst>
          <pc:docMk/>
          <pc:sldMk cId="1617472223" sldId="689"/>
        </pc:sldMkLst>
        <pc:spChg chg="mod">
          <ac:chgData name="Abdelrahman Sayed" userId="532b912a-a378-477b-9da3-1268d2a7b168" providerId="ADAL" clId="{5893654D-ECE6-41D7-A052-455440A63BDE}" dt="2025-07-22T05:42:21.401" v="2" actId="115"/>
          <ac:spMkLst>
            <pc:docMk/>
            <pc:sldMk cId="1617472223" sldId="689"/>
            <ac:spMk id="40" creationId="{00000000-0000-0000-0000-000000000000}"/>
          </ac:spMkLst>
        </pc:spChg>
      </pc:sldChg>
      <pc:sldChg chg="delSp mod">
        <pc:chgData name="Abdelrahman Sayed" userId="532b912a-a378-477b-9da3-1268d2a7b168" providerId="ADAL" clId="{5893654D-ECE6-41D7-A052-455440A63BDE}" dt="2025-07-22T05:44:59.327" v="4" actId="478"/>
        <pc:sldMkLst>
          <pc:docMk/>
          <pc:sldMk cId="2848440914" sldId="697"/>
        </pc:sldMkLst>
        <pc:spChg chg="del">
          <ac:chgData name="Abdelrahman Sayed" userId="532b912a-a378-477b-9da3-1268d2a7b168" providerId="ADAL" clId="{5893654D-ECE6-41D7-A052-455440A63BDE}" dt="2025-07-22T05:44:59.327" v="4" actId="478"/>
          <ac:spMkLst>
            <pc:docMk/>
            <pc:sldMk cId="2848440914" sldId="697"/>
            <ac:spMk id="8" creationId="{F1E56C50-3E54-1946-D378-B1D45953419A}"/>
          </ac:spMkLst>
        </pc:spChg>
      </pc:sldChg>
      <pc:sldChg chg="modSp mod">
        <pc:chgData name="Abdelrahman Sayed" userId="532b912a-a378-477b-9da3-1268d2a7b168" providerId="ADAL" clId="{5893654D-ECE6-41D7-A052-455440A63BDE}" dt="2025-07-22T05:42:49.074" v="3" actId="115"/>
        <pc:sldMkLst>
          <pc:docMk/>
          <pc:sldMk cId="1520721672" sldId="838839907"/>
        </pc:sldMkLst>
        <pc:spChg chg="mod">
          <ac:chgData name="Abdelrahman Sayed" userId="532b912a-a378-477b-9da3-1268d2a7b168" providerId="ADAL" clId="{5893654D-ECE6-41D7-A052-455440A63BDE}" dt="2025-07-22T05:42:49.074" v="3" actId="115"/>
          <ac:spMkLst>
            <pc:docMk/>
            <pc:sldMk cId="1520721672" sldId="838839907"/>
            <ac:spMk id="43" creationId="{4FEA5A62-39A1-DC72-5EC3-890C682F92AA}"/>
          </ac:spMkLst>
        </pc:spChg>
      </pc:sldChg>
    </pc:docChg>
  </pc:docChgLst>
  <pc:docChgLst>
    <pc:chgData name="Abdelrahman Sayed" userId="532b912a-a378-477b-9da3-1268d2a7b168" providerId="ADAL" clId="{2B98F959-620F-40A5-9BCD-A644D5310395}"/>
    <pc:docChg chg="custSel addSld delSld modSld">
      <pc:chgData name="Abdelrahman Sayed" userId="532b912a-a378-477b-9da3-1268d2a7b168" providerId="ADAL" clId="{2B98F959-620F-40A5-9BCD-A644D5310395}" dt="2025-06-10T07:27:45.221" v="29" actId="255"/>
      <pc:docMkLst>
        <pc:docMk/>
      </pc:docMkLst>
      <pc:sldChg chg="add del">
        <pc:chgData name="Abdelrahman Sayed" userId="532b912a-a378-477b-9da3-1268d2a7b168" providerId="ADAL" clId="{2B98F959-620F-40A5-9BCD-A644D5310395}" dt="2025-06-10T07:26:54.249" v="7" actId="47"/>
        <pc:sldMkLst>
          <pc:docMk/>
          <pc:sldMk cId="668494003" sldId="371"/>
        </pc:sldMkLst>
      </pc:sldChg>
      <pc:sldChg chg="modSp add del mod">
        <pc:chgData name="Abdelrahman Sayed" userId="532b912a-a378-477b-9da3-1268d2a7b168" providerId="ADAL" clId="{2B98F959-620F-40A5-9BCD-A644D5310395}" dt="2025-06-10T07:27:45.221" v="29" actId="255"/>
        <pc:sldMkLst>
          <pc:docMk/>
          <pc:sldMk cId="2532203025" sldId="385"/>
        </pc:sldMkLst>
        <pc:spChg chg="mod">
          <ac:chgData name="Abdelrahman Sayed" userId="532b912a-a378-477b-9da3-1268d2a7b168" providerId="ADAL" clId="{2B98F959-620F-40A5-9BCD-A644D5310395}" dt="2025-06-10T07:27:45.221" v="29" actId="255"/>
          <ac:spMkLst>
            <pc:docMk/>
            <pc:sldMk cId="2532203025" sldId="385"/>
            <ac:spMk id="4" creationId="{00000000-0000-0000-0000-000000000000}"/>
          </ac:spMkLst>
        </pc:spChg>
      </pc:sldChg>
      <pc:sldMasterChg chg="delSldLayout">
        <pc:chgData name="Abdelrahman Sayed" userId="532b912a-a378-477b-9da3-1268d2a7b168" providerId="ADAL" clId="{2B98F959-620F-40A5-9BCD-A644D5310395}" dt="2025-06-10T07:26:54.249" v="7" actId="47"/>
        <pc:sldMasterMkLst>
          <pc:docMk/>
          <pc:sldMasterMk cId="4260756284" sldId="2147483660"/>
        </pc:sldMasterMkLst>
        <pc:sldLayoutChg chg="del">
          <pc:chgData name="Abdelrahman Sayed" userId="532b912a-a378-477b-9da3-1268d2a7b168" providerId="ADAL" clId="{2B98F959-620F-40A5-9BCD-A644D5310395}" dt="2025-06-10T07:26:54.249" v="7" actId="47"/>
          <pc:sldLayoutMkLst>
            <pc:docMk/>
            <pc:sldMasterMk cId="4260756284" sldId="2147483660"/>
            <pc:sldLayoutMk cId="770459613" sldId="2147483838"/>
          </pc:sldLayoutMkLst>
        </pc:sldLayoutChg>
      </pc:sldMasterChg>
    </pc:docChg>
  </pc:docChgLst>
  <pc:docChgLst>
    <pc:chgData name="Abdelrahman Sayed" userId="532b912a-a378-477b-9da3-1268d2a7b168" providerId="ADAL" clId="{E48D57BF-B69D-4946-AF69-ABEFF597003D}"/>
    <pc:docChg chg="delSld">
      <pc:chgData name="Abdelrahman Sayed" userId="532b912a-a378-477b-9da3-1268d2a7b168" providerId="ADAL" clId="{E48D57BF-B69D-4946-AF69-ABEFF597003D}" dt="2025-02-10T12:10:42.439" v="2" actId="47"/>
      <pc:docMkLst>
        <pc:docMk/>
      </pc:docMkLst>
      <pc:sldChg chg="del">
        <pc:chgData name="Abdelrahman Sayed" userId="532b912a-a378-477b-9da3-1268d2a7b168" providerId="ADAL" clId="{E48D57BF-B69D-4946-AF69-ABEFF597003D}" dt="2025-02-10T12:10:41.924" v="1" actId="47"/>
        <pc:sldMkLst>
          <pc:docMk/>
          <pc:sldMk cId="1549681465" sldId="314"/>
        </pc:sldMkLst>
      </pc:sldChg>
      <pc:sldChg chg="del">
        <pc:chgData name="Abdelrahman Sayed" userId="532b912a-a378-477b-9da3-1268d2a7b168" providerId="ADAL" clId="{E48D57BF-B69D-4946-AF69-ABEFF597003D}" dt="2025-02-10T12:10:42.439" v="2" actId="47"/>
        <pc:sldMkLst>
          <pc:docMk/>
          <pc:sldMk cId="139111025" sldId="315"/>
        </pc:sldMkLst>
      </pc:sldChg>
      <pc:sldChg chg="del">
        <pc:chgData name="Abdelrahman Sayed" userId="532b912a-a378-477b-9da3-1268d2a7b168" providerId="ADAL" clId="{E48D57BF-B69D-4946-AF69-ABEFF597003D}" dt="2025-02-10T12:10:41.388" v="0" actId="47"/>
        <pc:sldMkLst>
          <pc:docMk/>
          <pc:sldMk cId="2362881991" sldId="838839902"/>
        </pc:sldMkLst>
      </pc:sldChg>
    </pc:docChg>
  </pc:docChgLst>
  <pc:docChgLst>
    <pc:chgData name="Hela Saidi" userId="fd279006-c2eb-4eae-8b14-531c3576f8ee" providerId="ADAL" clId="{6B1C85F1-43C0-452B-93F1-2EF0C24E296C}"/>
    <pc:docChg chg="custSel modSld replTag delTag">
      <pc:chgData name="Hela Saidi" userId="fd279006-c2eb-4eae-8b14-531c3576f8ee" providerId="ADAL" clId="{6B1C85F1-43C0-452B-93F1-2EF0C24E296C}" dt="2023-03-01T14:29:46.645" v="38"/>
      <pc:docMkLst>
        <pc:docMk/>
      </pc:docMkLst>
      <pc:sldChg chg="modSp mod">
        <pc:chgData name="Hela Saidi" userId="fd279006-c2eb-4eae-8b14-531c3576f8ee" providerId="ADAL" clId="{6B1C85F1-43C0-452B-93F1-2EF0C24E296C}" dt="2023-03-01T14:27:16.284" v="9" actId="20577"/>
        <pc:sldMkLst>
          <pc:docMk/>
          <pc:sldMk cId="1972642022" sldId="267"/>
        </pc:sldMkLst>
      </pc:sldChg>
      <pc:sldChg chg="modSp mod">
        <pc:chgData name="Hela Saidi" userId="fd279006-c2eb-4eae-8b14-531c3576f8ee" providerId="ADAL" clId="{6B1C85F1-43C0-452B-93F1-2EF0C24E296C}" dt="2023-03-01T14:29:43.374" v="35" actId="208"/>
        <pc:sldMkLst>
          <pc:docMk/>
          <pc:sldMk cId="139111025" sldId="315"/>
        </pc:sldMkLst>
      </pc:sldChg>
    </pc:docChg>
  </pc:docChgLst>
  <pc:docChgLst>
    <pc:chgData name="Abdelrahman Sayed" userId="532b912a-a378-477b-9da3-1268d2a7b168" providerId="ADAL" clId="{4586FF66-5AE5-49C9-B79B-429D9AC2F370}"/>
    <pc:docChg chg="custSel addSld delSld modSld">
      <pc:chgData name="Abdelrahman Sayed" userId="532b912a-a378-477b-9da3-1268d2a7b168" providerId="ADAL" clId="{4586FF66-5AE5-49C9-B79B-429D9AC2F370}" dt="2025-05-05T21:28:26.112" v="78" actId="47"/>
      <pc:docMkLst>
        <pc:docMk/>
      </pc:docMkLst>
      <pc:sldChg chg="modSp mod">
        <pc:chgData name="Abdelrahman Sayed" userId="532b912a-a378-477b-9da3-1268d2a7b168" providerId="ADAL" clId="{4586FF66-5AE5-49C9-B79B-429D9AC2F370}" dt="2025-05-05T21:27:37.080" v="75" actId="20577"/>
        <pc:sldMkLst>
          <pc:docMk/>
          <pc:sldMk cId="1972642022" sldId="267"/>
        </pc:sldMkLst>
        <pc:spChg chg="mod">
          <ac:chgData name="Abdelrahman Sayed" userId="532b912a-a378-477b-9da3-1268d2a7b168" providerId="ADAL" clId="{4586FF66-5AE5-49C9-B79B-429D9AC2F370}" dt="2025-05-05T21:27:37.080" v="75" actId="20577"/>
          <ac:spMkLst>
            <pc:docMk/>
            <pc:sldMk cId="1972642022" sldId="267"/>
            <ac:spMk id="17" creationId="{85E055EA-D41E-A34C-0654-6D6518109B87}"/>
          </ac:spMkLst>
        </pc:spChg>
      </pc:sldChg>
      <pc:sldChg chg="modSp add del mod">
        <pc:chgData name="Abdelrahman Sayed" userId="532b912a-a378-477b-9da3-1268d2a7b168" providerId="ADAL" clId="{4586FF66-5AE5-49C9-B79B-429D9AC2F370}" dt="2025-05-05T21:26:14.687" v="5" actId="47"/>
        <pc:sldMkLst>
          <pc:docMk/>
          <pc:sldMk cId="2578634537" sldId="838839908"/>
        </pc:sldMkLst>
      </pc:sldChg>
      <pc:sldChg chg="add del">
        <pc:chgData name="Abdelrahman Sayed" userId="532b912a-a378-477b-9da3-1268d2a7b168" providerId="ADAL" clId="{4586FF66-5AE5-49C9-B79B-429D9AC2F370}" dt="2025-05-05T21:26:06.363" v="4" actId="47"/>
        <pc:sldMkLst>
          <pc:docMk/>
          <pc:sldMk cId="3284105779" sldId="838839909"/>
        </pc:sldMkLst>
      </pc:sldChg>
      <pc:sldChg chg="add">
        <pc:chgData name="Abdelrahman Sayed" userId="532b912a-a378-477b-9da3-1268d2a7b168" providerId="ADAL" clId="{4586FF66-5AE5-49C9-B79B-429D9AC2F370}" dt="2025-05-05T21:28:02.191" v="76"/>
        <pc:sldMkLst>
          <pc:docMk/>
          <pc:sldMk cId="3115010345" sldId="2147480980"/>
        </pc:sldMkLst>
      </pc:sldChg>
      <pc:sldChg chg="add">
        <pc:chgData name="Abdelrahman Sayed" userId="532b912a-a378-477b-9da3-1268d2a7b168" providerId="ADAL" clId="{4586FF66-5AE5-49C9-B79B-429D9AC2F370}" dt="2025-05-05T21:28:23.850" v="77"/>
        <pc:sldMkLst>
          <pc:docMk/>
          <pc:sldMk cId="2794376136" sldId="2147480982"/>
        </pc:sldMkLst>
      </pc:sldChg>
      <pc:sldChg chg="add del">
        <pc:chgData name="Abdelrahman Sayed" userId="532b912a-a378-477b-9da3-1268d2a7b168" providerId="ADAL" clId="{4586FF66-5AE5-49C9-B79B-429D9AC2F370}" dt="2025-05-05T21:28:26.112" v="78" actId="47"/>
        <pc:sldMkLst>
          <pc:docMk/>
          <pc:sldMk cId="2079170277" sldId="2147480983"/>
        </pc:sldMkLst>
      </pc:sldChg>
    </pc:docChg>
  </pc:docChgLst>
  <pc:docChgLst>
    <pc:chgData name="Abdelrahman Sayed" userId="532b912a-a378-477b-9da3-1268d2a7b168" providerId="ADAL" clId="{E6BB6FA0-4931-4082-9D84-BB97EFE4B6A5}"/>
    <pc:docChg chg="undo custSel modSld">
      <pc:chgData name="Abdelrahman Sayed" userId="532b912a-a378-477b-9da3-1268d2a7b168" providerId="ADAL" clId="{E6BB6FA0-4931-4082-9D84-BB97EFE4B6A5}" dt="2025-05-08T07:34:14.366" v="121" actId="20577"/>
      <pc:docMkLst>
        <pc:docMk/>
      </pc:docMkLst>
      <pc:sldChg chg="modSp mod">
        <pc:chgData name="Abdelrahman Sayed" userId="532b912a-a378-477b-9da3-1268d2a7b168" providerId="ADAL" clId="{E6BB6FA0-4931-4082-9D84-BB97EFE4B6A5}" dt="2025-05-06T05:49:22.423" v="14" actId="20577"/>
        <pc:sldMkLst>
          <pc:docMk/>
          <pc:sldMk cId="1972642022" sldId="267"/>
        </pc:sldMkLst>
        <pc:spChg chg="mod">
          <ac:chgData name="Abdelrahman Sayed" userId="532b912a-a378-477b-9da3-1268d2a7b168" providerId="ADAL" clId="{E6BB6FA0-4931-4082-9D84-BB97EFE4B6A5}" dt="2025-05-06T05:49:22.423" v="14" actId="20577"/>
          <ac:spMkLst>
            <pc:docMk/>
            <pc:sldMk cId="1972642022" sldId="267"/>
            <ac:spMk id="17" creationId="{85E055EA-D41E-A34C-0654-6D6518109B87}"/>
          </ac:spMkLst>
        </pc:spChg>
      </pc:sldChg>
      <pc:sldChg chg="addSp modSp mod">
        <pc:chgData name="Abdelrahman Sayed" userId="532b912a-a378-477b-9da3-1268d2a7b168" providerId="ADAL" clId="{E6BB6FA0-4931-4082-9D84-BB97EFE4B6A5}" dt="2025-05-08T07:30:49.660" v="102" actId="255"/>
        <pc:sldMkLst>
          <pc:docMk/>
          <pc:sldMk cId="0" sldId="648"/>
        </pc:sldMkLst>
        <pc:spChg chg="add mod">
          <ac:chgData name="Abdelrahman Sayed" userId="532b912a-a378-477b-9da3-1268d2a7b168" providerId="ADAL" clId="{E6BB6FA0-4931-4082-9D84-BB97EFE4B6A5}" dt="2025-05-08T07:30:49.660" v="102" actId="255"/>
          <ac:spMkLst>
            <pc:docMk/>
            <pc:sldMk cId="0" sldId="648"/>
            <ac:spMk id="6" creationId="{6FD0DF78-27F5-944C-36A9-589ABF6EAD21}"/>
          </ac:spMkLst>
        </pc:spChg>
        <pc:spChg chg="mod">
          <ac:chgData name="Abdelrahman Sayed" userId="532b912a-a378-477b-9da3-1268d2a7b168" providerId="ADAL" clId="{E6BB6FA0-4931-4082-9D84-BB97EFE4B6A5}" dt="2025-05-08T07:27:58.946" v="15" actId="255"/>
          <ac:spMkLst>
            <pc:docMk/>
            <pc:sldMk cId="0" sldId="648"/>
            <ac:spMk id="9" creationId="{00000000-0000-0000-0000-000000000000}"/>
          </ac:spMkLst>
        </pc:spChg>
      </pc:sldChg>
      <pc:sldChg chg="addSp modSp mod">
        <pc:chgData name="Abdelrahman Sayed" userId="532b912a-a378-477b-9da3-1268d2a7b168" providerId="ADAL" clId="{E6BB6FA0-4931-4082-9D84-BB97EFE4B6A5}" dt="2025-05-08T07:32:10.848" v="106" actId="1076"/>
        <pc:sldMkLst>
          <pc:docMk/>
          <pc:sldMk cId="2155205761" sldId="683"/>
        </pc:sldMkLst>
        <pc:spChg chg="mod">
          <ac:chgData name="Abdelrahman Sayed" userId="532b912a-a378-477b-9da3-1268d2a7b168" providerId="ADAL" clId="{E6BB6FA0-4931-4082-9D84-BB97EFE4B6A5}" dt="2025-05-08T07:31:58.180" v="103" actId="14100"/>
          <ac:spMkLst>
            <pc:docMk/>
            <pc:sldMk cId="2155205761" sldId="683"/>
            <ac:spMk id="9" creationId="{00000000-0000-0000-0000-000000000000}"/>
          </ac:spMkLst>
        </pc:spChg>
      </pc:sldChg>
      <pc:sldChg chg="addSp delSp modSp mod">
        <pc:chgData name="Abdelrahman Sayed" userId="532b912a-a378-477b-9da3-1268d2a7b168" providerId="ADAL" clId="{E6BB6FA0-4931-4082-9D84-BB97EFE4B6A5}" dt="2025-05-06T05:48:12.299" v="4" actId="478"/>
        <pc:sldMkLst>
          <pc:docMk/>
          <pc:sldMk cId="2848440914" sldId="697"/>
        </pc:sldMkLst>
        <pc:spChg chg="add mod">
          <ac:chgData name="Abdelrahman Sayed" userId="532b912a-a378-477b-9da3-1268d2a7b168" providerId="ADAL" clId="{E6BB6FA0-4931-4082-9D84-BB97EFE4B6A5}" dt="2025-05-06T05:48:12.299" v="4" actId="478"/>
          <ac:spMkLst>
            <pc:docMk/>
            <pc:sldMk cId="2848440914" sldId="697"/>
            <ac:spMk id="8" creationId="{F1E56C50-3E54-1946-D378-B1D45953419A}"/>
          </ac:spMkLst>
        </pc:spChg>
      </pc:sldChg>
      <pc:sldChg chg="addSp modSp mod">
        <pc:chgData name="Abdelrahman Sayed" userId="532b912a-a378-477b-9da3-1268d2a7b168" providerId="ADAL" clId="{E6BB6FA0-4931-4082-9D84-BB97EFE4B6A5}" dt="2025-05-08T07:34:14.366" v="121" actId="20577"/>
        <pc:sldMkLst>
          <pc:docMk/>
          <pc:sldMk cId="3786942693" sldId="699"/>
        </pc:sldMkLst>
        <pc:spChg chg="add mod">
          <ac:chgData name="Abdelrahman Sayed" userId="532b912a-a378-477b-9da3-1268d2a7b168" providerId="ADAL" clId="{E6BB6FA0-4931-4082-9D84-BB97EFE4B6A5}" dt="2025-05-08T07:34:14.366" v="121" actId="20577"/>
          <ac:spMkLst>
            <pc:docMk/>
            <pc:sldMk cId="3786942693" sldId="699"/>
            <ac:spMk id="3" creationId="{E5866627-EAEC-F13F-6887-C95A33AEEAE8}"/>
          </ac:spMkLst>
        </pc:spChg>
        <pc:spChg chg="mod">
          <ac:chgData name="Abdelrahman Sayed" userId="532b912a-a378-477b-9da3-1268d2a7b168" providerId="ADAL" clId="{E6BB6FA0-4931-4082-9D84-BB97EFE4B6A5}" dt="2025-05-08T07:33:54.636" v="115" actId="14100"/>
          <ac:spMkLst>
            <pc:docMk/>
            <pc:sldMk cId="3786942693" sldId="699"/>
            <ac:spMk id="9" creationId="{00000000-0000-0000-0000-000000000000}"/>
          </ac:spMkLst>
        </pc:sp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package" Target="../embeddings/Microsoft_Excel_Worksheet.xlsx"/><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1.xlsx"/><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3.xlsx"/><Relationship Id="rId1" Type="http://schemas.openxmlformats.org/officeDocument/2006/relationships/themeOverride" Target="../theme/themeOverride3.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145538167169205"/>
          <c:y val="6.6232956324145623E-2"/>
          <c:w val="0.79842179358932364"/>
          <c:h val="0.77447169172215813"/>
        </c:manualLayout>
      </c:layout>
      <c:barChart>
        <c:barDir val="col"/>
        <c:grouping val="clustered"/>
        <c:varyColors val="0"/>
        <c:ser>
          <c:idx val="0"/>
          <c:order val="0"/>
          <c:tx>
            <c:strRef>
              <c:f>Sheet1!$B$1</c:f>
              <c:strCache>
                <c:ptCount val="1"/>
                <c:pt idx="0">
                  <c:v>FF/UMEC/VI 100/62.5/25</c:v>
                </c:pt>
              </c:strCache>
            </c:strRef>
          </c:tx>
          <c:spPr>
            <a:solidFill>
              <a:srgbClr val="544F40"/>
            </a:solidFill>
            <a:ln>
              <a:solidFill>
                <a:srgbClr val="F36633"/>
              </a:solidFill>
            </a:ln>
          </c:spPr>
          <c:invertIfNegative val="0"/>
          <c:dPt>
            <c:idx val="0"/>
            <c:invertIfNegative val="0"/>
            <c:bubble3D val="0"/>
            <c:spPr>
              <a:solidFill>
                <a:srgbClr val="F36633"/>
              </a:solidFill>
              <a:ln>
                <a:solidFill>
                  <a:srgbClr val="F36633"/>
                </a:solidFill>
              </a:ln>
            </c:spPr>
            <c:extLst>
              <c:ext xmlns:c16="http://schemas.microsoft.com/office/drawing/2014/chart" uri="{C3380CC4-5D6E-409C-BE32-E72D297353CC}">
                <c16:uniqueId val="{00000001-B2DA-44B1-A203-099148620068}"/>
              </c:ext>
            </c:extLst>
          </c:dPt>
          <c:dLbls>
            <c:spPr>
              <a:noFill/>
              <a:ln>
                <a:noFill/>
              </a:ln>
              <a:effectLst/>
            </c:spPr>
            <c:txPr>
              <a:bodyPr/>
              <a:lstStyle/>
              <a:p>
                <a:pPr>
                  <a:defRPr sz="1400" b="1">
                    <a:solidFill>
                      <a:schemeClr val="bg1"/>
                    </a:solidFill>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Day 84</c:v>
                </c:pt>
              </c:strCache>
            </c:strRef>
          </c:cat>
          <c:val>
            <c:numRef>
              <c:f>Sheet1!$B$2</c:f>
              <c:numCache>
                <c:formatCode>General</c:formatCode>
                <c:ptCount val="1"/>
                <c:pt idx="0">
                  <c:v>142</c:v>
                </c:pt>
              </c:numCache>
            </c:numRef>
          </c:val>
          <c:extLst>
            <c:ext xmlns:c16="http://schemas.microsoft.com/office/drawing/2014/chart" uri="{C3380CC4-5D6E-409C-BE32-E72D297353CC}">
              <c16:uniqueId val="{00000002-B2DA-44B1-A203-099148620068}"/>
            </c:ext>
          </c:extLst>
        </c:ser>
        <c:ser>
          <c:idx val="1"/>
          <c:order val="1"/>
          <c:tx>
            <c:strRef>
              <c:f>Sheet1!$C$1</c:f>
              <c:strCache>
                <c:ptCount val="1"/>
                <c:pt idx="0">
                  <c:v>BUD/FOR 400/12</c:v>
                </c:pt>
              </c:strCache>
            </c:strRef>
          </c:tx>
          <c:spPr>
            <a:solidFill>
              <a:srgbClr val="15717D"/>
            </a:solidFill>
          </c:spPr>
          <c:invertIfNegative val="0"/>
          <c:dLbls>
            <c:dLbl>
              <c:idx val="0"/>
              <c:layout>
                <c:manualLayout>
                  <c:x val="5.6593551155853093E-2"/>
                  <c:y val="0.1015161285703827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2DA-44B1-A203-099148620068}"/>
                </c:ext>
              </c:extLst>
            </c:dLbl>
            <c:spPr>
              <a:noFill/>
              <a:ln>
                <a:noFill/>
              </a:ln>
              <a:effectLst/>
            </c:spPr>
            <c:txPr>
              <a:bodyPr/>
              <a:lstStyle/>
              <a:p>
                <a:pPr>
                  <a:defRPr sz="1400" b="1">
                    <a:solidFill>
                      <a:schemeClr val="bg1"/>
                    </a:solidFill>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Day 84</c:v>
                </c:pt>
              </c:strCache>
            </c:strRef>
          </c:cat>
          <c:val>
            <c:numRef>
              <c:f>Sheet1!$C$2</c:f>
              <c:numCache>
                <c:formatCode>General</c:formatCode>
                <c:ptCount val="1"/>
                <c:pt idx="0">
                  <c:v>-29</c:v>
                </c:pt>
              </c:numCache>
            </c:numRef>
          </c:val>
          <c:extLst>
            <c:ext xmlns:c16="http://schemas.microsoft.com/office/drawing/2014/chart" uri="{C3380CC4-5D6E-409C-BE32-E72D297353CC}">
              <c16:uniqueId val="{00000004-B2DA-44B1-A203-099148620068}"/>
            </c:ext>
          </c:extLst>
        </c:ser>
        <c:dLbls>
          <c:showLegendKey val="0"/>
          <c:showVal val="0"/>
          <c:showCatName val="0"/>
          <c:showSerName val="0"/>
          <c:showPercent val="0"/>
          <c:showBubbleSize val="0"/>
        </c:dLbls>
        <c:gapWidth val="60"/>
        <c:overlap val="-32"/>
        <c:axId val="106799488"/>
        <c:axId val="106801024"/>
      </c:barChart>
      <c:catAx>
        <c:axId val="106799488"/>
        <c:scaling>
          <c:orientation val="minMax"/>
        </c:scaling>
        <c:delete val="0"/>
        <c:axPos val="b"/>
        <c:numFmt formatCode="General" sourceLinked="0"/>
        <c:majorTickMark val="out"/>
        <c:minorTickMark val="none"/>
        <c:tickLblPos val="none"/>
        <c:spPr>
          <a:ln w="19050" cap="sq">
            <a:solidFill>
              <a:srgbClr val="544F40"/>
            </a:solidFill>
            <a:miter lim="800000"/>
          </a:ln>
        </c:spPr>
        <c:crossAx val="106801024"/>
        <c:crosses val="autoZero"/>
        <c:auto val="1"/>
        <c:lblAlgn val="ctr"/>
        <c:lblOffset val="100"/>
        <c:noMultiLvlLbl val="0"/>
      </c:catAx>
      <c:valAx>
        <c:axId val="106801024"/>
        <c:scaling>
          <c:orientation val="minMax"/>
        </c:scaling>
        <c:delete val="0"/>
        <c:axPos val="l"/>
        <c:numFmt formatCode="General" sourceLinked="1"/>
        <c:majorTickMark val="out"/>
        <c:minorTickMark val="none"/>
        <c:tickLblPos val="nextTo"/>
        <c:spPr>
          <a:ln w="19050" cap="sq">
            <a:solidFill>
              <a:srgbClr val="544F40"/>
            </a:solidFill>
            <a:miter lim="800000"/>
          </a:ln>
        </c:spPr>
        <c:txPr>
          <a:bodyPr/>
          <a:lstStyle/>
          <a:p>
            <a:pPr>
              <a:defRPr sz="1400">
                <a:solidFill>
                  <a:schemeClr val="tx1"/>
                </a:solidFill>
              </a:defRPr>
            </a:pPr>
            <a:endParaRPr lang="fr-FR"/>
          </a:p>
        </c:txPr>
        <c:crossAx val="106799488"/>
        <c:crosses val="autoZero"/>
        <c:crossBetween val="between"/>
      </c:valAx>
    </c:plotArea>
    <c:plotVisOnly val="1"/>
    <c:dispBlanksAs val="gap"/>
    <c:showDLblsOverMax val="0"/>
  </c:chart>
  <c:txPr>
    <a:bodyPr/>
    <a:lstStyle/>
    <a:p>
      <a:pPr>
        <a:defRPr sz="1200">
          <a:solidFill>
            <a:srgbClr val="000000"/>
          </a:solidFill>
        </a:defRPr>
      </a:pPr>
      <a:endParaRPr lang="fr-FR"/>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5325394793533567"/>
          <c:y val="6.6232956324145623E-2"/>
          <c:w val="0.75972175563701405"/>
          <c:h val="0.77447169172215813"/>
        </c:manualLayout>
      </c:layout>
      <c:barChart>
        <c:barDir val="col"/>
        <c:grouping val="clustered"/>
        <c:varyColors val="0"/>
        <c:ser>
          <c:idx val="0"/>
          <c:order val="0"/>
          <c:tx>
            <c:strRef>
              <c:f>Sheet1!$B$1</c:f>
              <c:strCache>
                <c:ptCount val="1"/>
                <c:pt idx="0">
                  <c:v>FF/UMEC/VI 100/62.5/25 (N=911)</c:v>
                </c:pt>
              </c:strCache>
            </c:strRef>
          </c:tx>
          <c:spPr>
            <a:solidFill>
              <a:srgbClr val="F36633"/>
            </a:solidFill>
            <a:ln>
              <a:noFill/>
            </a:ln>
          </c:spPr>
          <c:invertIfNegative val="0"/>
          <c:dLbls>
            <c:spPr>
              <a:noFill/>
              <a:ln>
                <a:noFill/>
              </a:ln>
              <a:effectLst/>
            </c:spPr>
            <c:txPr>
              <a:bodyPr/>
              <a:lstStyle/>
              <a:p>
                <a:pPr>
                  <a:defRPr sz="1400" b="1">
                    <a:solidFill>
                      <a:schemeClr val="bg1"/>
                    </a:solidFill>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Day 84</c:v>
                </c:pt>
              </c:strCache>
            </c:strRef>
          </c:cat>
          <c:val>
            <c:numRef>
              <c:f>Sheet1!$B$2</c:f>
              <c:numCache>
                <c:formatCode>General</c:formatCode>
                <c:ptCount val="1"/>
                <c:pt idx="0">
                  <c:v>-6.6</c:v>
                </c:pt>
              </c:numCache>
            </c:numRef>
          </c:val>
          <c:extLst>
            <c:ext xmlns:c16="http://schemas.microsoft.com/office/drawing/2014/chart" uri="{C3380CC4-5D6E-409C-BE32-E72D297353CC}">
              <c16:uniqueId val="{00000000-8C6F-4B99-8BEC-EDFFE754D24C}"/>
            </c:ext>
          </c:extLst>
        </c:ser>
        <c:ser>
          <c:idx val="1"/>
          <c:order val="1"/>
          <c:tx>
            <c:strRef>
              <c:f>Sheet1!$C$1</c:f>
              <c:strCache>
                <c:ptCount val="1"/>
                <c:pt idx="0">
                  <c:v>BUD/FOR 400/12 (N=899)</c:v>
                </c:pt>
              </c:strCache>
            </c:strRef>
          </c:tx>
          <c:spPr>
            <a:solidFill>
              <a:srgbClr val="15717D"/>
            </a:solidFill>
          </c:spPr>
          <c:invertIfNegative val="0"/>
          <c:dLbls>
            <c:spPr>
              <a:noFill/>
              <a:ln>
                <a:noFill/>
              </a:ln>
              <a:effectLst/>
            </c:spPr>
            <c:txPr>
              <a:bodyPr/>
              <a:lstStyle/>
              <a:p>
                <a:pPr>
                  <a:defRPr sz="1400" b="1">
                    <a:solidFill>
                      <a:schemeClr val="bg1"/>
                    </a:solidFill>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c:f>
              <c:strCache>
                <c:ptCount val="1"/>
                <c:pt idx="0">
                  <c:v>Day 84</c:v>
                </c:pt>
              </c:strCache>
            </c:strRef>
          </c:cat>
          <c:val>
            <c:numRef>
              <c:f>Sheet1!$C$2</c:f>
              <c:numCache>
                <c:formatCode>General</c:formatCode>
                <c:ptCount val="1"/>
                <c:pt idx="0">
                  <c:v>-4.3</c:v>
                </c:pt>
              </c:numCache>
            </c:numRef>
          </c:val>
          <c:extLst>
            <c:ext xmlns:c16="http://schemas.microsoft.com/office/drawing/2014/chart" uri="{C3380CC4-5D6E-409C-BE32-E72D297353CC}">
              <c16:uniqueId val="{00000001-8C6F-4B99-8BEC-EDFFE754D24C}"/>
            </c:ext>
          </c:extLst>
        </c:ser>
        <c:dLbls>
          <c:showLegendKey val="0"/>
          <c:showVal val="0"/>
          <c:showCatName val="0"/>
          <c:showSerName val="0"/>
          <c:showPercent val="0"/>
          <c:showBubbleSize val="0"/>
        </c:dLbls>
        <c:gapWidth val="60"/>
        <c:overlap val="-32"/>
        <c:axId val="115128192"/>
        <c:axId val="115212672"/>
      </c:barChart>
      <c:catAx>
        <c:axId val="115128192"/>
        <c:scaling>
          <c:orientation val="minMax"/>
        </c:scaling>
        <c:delete val="0"/>
        <c:axPos val="b"/>
        <c:numFmt formatCode="General" sourceLinked="0"/>
        <c:majorTickMark val="none"/>
        <c:minorTickMark val="none"/>
        <c:tickLblPos val="none"/>
        <c:spPr>
          <a:ln w="19050" cap="sq">
            <a:solidFill>
              <a:srgbClr val="544F40"/>
            </a:solidFill>
            <a:miter lim="800000"/>
          </a:ln>
        </c:spPr>
        <c:crossAx val="115212672"/>
        <c:crosses val="autoZero"/>
        <c:auto val="1"/>
        <c:lblAlgn val="ctr"/>
        <c:lblOffset val="100"/>
        <c:noMultiLvlLbl val="0"/>
      </c:catAx>
      <c:valAx>
        <c:axId val="115212672"/>
        <c:scaling>
          <c:orientation val="minMax"/>
        </c:scaling>
        <c:delete val="0"/>
        <c:axPos val="l"/>
        <c:numFmt formatCode="General" sourceLinked="1"/>
        <c:majorTickMark val="out"/>
        <c:minorTickMark val="none"/>
        <c:tickLblPos val="nextTo"/>
        <c:spPr>
          <a:ln w="19050" cap="sq">
            <a:solidFill>
              <a:srgbClr val="544F40"/>
            </a:solidFill>
            <a:miter lim="800000"/>
          </a:ln>
        </c:spPr>
        <c:txPr>
          <a:bodyPr/>
          <a:lstStyle/>
          <a:p>
            <a:pPr>
              <a:defRPr sz="1400">
                <a:solidFill>
                  <a:schemeClr val="tx1"/>
                </a:solidFill>
              </a:defRPr>
            </a:pPr>
            <a:endParaRPr lang="fr-FR"/>
          </a:p>
        </c:txPr>
        <c:crossAx val="115128192"/>
        <c:crosses val="autoZero"/>
        <c:crossBetween val="between"/>
      </c:valAx>
    </c:plotArea>
    <c:plotVisOnly val="1"/>
    <c:dispBlanksAs val="gap"/>
    <c:showDLblsOverMax val="0"/>
  </c:chart>
  <c:txPr>
    <a:bodyPr/>
    <a:lstStyle/>
    <a:p>
      <a:pPr>
        <a:defRPr sz="1200">
          <a:solidFill>
            <a:srgbClr val="000000"/>
          </a:solidFill>
        </a:defRPr>
      </a:pPr>
      <a:endParaRPr lang="fr-FR"/>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419382056470552"/>
          <c:y val="0.10599579401974227"/>
          <c:w val="0.7828672751050757"/>
          <c:h val="0.62311725320049638"/>
        </c:manualLayout>
      </c:layout>
      <c:barChart>
        <c:barDir val="col"/>
        <c:grouping val="clustered"/>
        <c:varyColors val="0"/>
        <c:ser>
          <c:idx val="0"/>
          <c:order val="0"/>
          <c:tx>
            <c:strRef>
              <c:f>Sheet1!$B$1</c:f>
              <c:strCache>
                <c:ptCount val="1"/>
                <c:pt idx="0">
                  <c:v>Column1</c:v>
                </c:pt>
              </c:strCache>
            </c:strRef>
          </c:tx>
          <c:spPr>
            <a:solidFill>
              <a:schemeClr val="accent1"/>
            </a:solidFill>
            <a:ln>
              <a:noFill/>
            </a:ln>
            <a:effectLst/>
          </c:spPr>
          <c:invertIfNegative val="0"/>
          <c:dPt>
            <c:idx val="0"/>
            <c:invertIfNegative val="0"/>
            <c:bubble3D val="0"/>
            <c:spPr>
              <a:solidFill>
                <a:schemeClr val="tx2"/>
              </a:solidFill>
              <a:ln>
                <a:noFill/>
              </a:ln>
              <a:effectLst/>
            </c:spPr>
            <c:extLst>
              <c:ext xmlns:c16="http://schemas.microsoft.com/office/drawing/2014/chart" uri="{C3380CC4-5D6E-409C-BE32-E72D297353CC}">
                <c16:uniqueId val="{00000000-9A84-4BAB-8BF3-9C7D34243625}"/>
              </c:ext>
            </c:extLst>
          </c:dPt>
          <c:dPt>
            <c:idx val="1"/>
            <c:invertIfNegative val="0"/>
            <c:bubble3D val="0"/>
            <c:spPr>
              <a:solidFill>
                <a:schemeClr val="tx2"/>
              </a:solidFill>
              <a:ln>
                <a:noFill/>
              </a:ln>
              <a:effectLst/>
            </c:spPr>
            <c:extLst>
              <c:ext xmlns:c16="http://schemas.microsoft.com/office/drawing/2014/chart" uri="{C3380CC4-5D6E-409C-BE32-E72D297353CC}">
                <c16:uniqueId val="{00000001-9A84-4BAB-8BF3-9C7D34243625}"/>
              </c:ext>
            </c:extLst>
          </c:dPt>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Sheet1!$A$2:$A$3</c:f>
              <c:strCache>
                <c:ptCount val="2"/>
                <c:pt idx="0">
                  <c:v>FF/UMEC/VI
100/62.5/25
(N=904)</c:v>
                </c:pt>
                <c:pt idx="1">
                  <c:v>BUD/FOR
400/12
(N=893)</c:v>
                </c:pt>
              </c:strCache>
            </c:strRef>
          </c:cat>
          <c:val>
            <c:numRef>
              <c:f>Sheet1!$B$2:$B$3</c:f>
              <c:numCache>
                <c:formatCode>General</c:formatCode>
                <c:ptCount val="2"/>
                <c:pt idx="0">
                  <c:v>50</c:v>
                </c:pt>
                <c:pt idx="1">
                  <c:v>44</c:v>
                </c:pt>
              </c:numCache>
            </c:numRef>
          </c:val>
          <c:extLst>
            <c:ext xmlns:c16="http://schemas.microsoft.com/office/drawing/2014/chart" uri="{C3380CC4-5D6E-409C-BE32-E72D297353CC}">
              <c16:uniqueId val="{00000000-8CD4-4E46-9300-18DFB7F538CE}"/>
            </c:ext>
          </c:extLst>
        </c:ser>
        <c:ser>
          <c:idx val="1"/>
          <c:order val="1"/>
          <c:tx>
            <c:strRef>
              <c:f>Sheet1!$C$1</c:f>
              <c:strCache>
                <c:ptCount val="1"/>
                <c:pt idx="0">
                  <c:v>Column2</c:v>
                </c:pt>
              </c:strCache>
            </c:strRef>
          </c:tx>
          <c:spPr>
            <a:solidFill>
              <a:srgbClr val="15717D"/>
            </a:solidFill>
            <a:ln>
              <a:noFill/>
            </a:ln>
            <a:effectLst/>
          </c:spPr>
          <c:invertIfNegative val="0"/>
          <c:dLbls>
            <c:dLbl>
              <c:idx val="0"/>
              <c:layout>
                <c:manualLayout>
                  <c:x val="-5.0867683140822176E-17"/>
                  <c:y val="7.5540147744632927E-2"/>
                </c:manualLayout>
              </c:layout>
              <c:tx>
                <c:rich>
                  <a:bodyPr/>
                  <a:lstStyle/>
                  <a:p>
                    <a:r>
                      <a:rPr lang="en-US" b="1" dirty="0">
                        <a:solidFill>
                          <a:schemeClr val="bg1"/>
                        </a:solidFill>
                      </a:rPr>
                      <a:t>41</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CD4-4E46-9300-18DFB7F538CE}"/>
                </c:ext>
              </c:extLst>
            </c:dLbl>
            <c:dLbl>
              <c:idx val="1"/>
              <c:layout>
                <c:manualLayout>
                  <c:x val="-1.0173536628164364E-16"/>
                  <c:y val="6.3453724105491896E-2"/>
                </c:manualLayout>
              </c:layout>
              <c:tx>
                <c:rich>
                  <a:bodyPr/>
                  <a:lstStyle/>
                  <a:p>
                    <a:r>
                      <a:rPr lang="en-US" b="1" dirty="0">
                        <a:solidFill>
                          <a:schemeClr val="bg1"/>
                        </a:solidFill>
                      </a:rPr>
                      <a:t>33</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CD4-4E46-9300-18DFB7F538CE}"/>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Sheet1!$A$2:$A$3</c:f>
              <c:strCache>
                <c:ptCount val="2"/>
                <c:pt idx="0">
                  <c:v>FF/UMEC/VI
100/62.5/25
(N=904)</c:v>
                </c:pt>
                <c:pt idx="1">
                  <c:v>BUD/FOR
400/12
(N=893)</c:v>
                </c:pt>
              </c:strCache>
            </c:strRef>
          </c:cat>
          <c:val>
            <c:numRef>
              <c:f>Sheet1!$C$2:$C$3</c:f>
              <c:numCache>
                <c:formatCode>General</c:formatCode>
                <c:ptCount val="2"/>
                <c:pt idx="0">
                  <c:v>41</c:v>
                </c:pt>
                <c:pt idx="1">
                  <c:v>33</c:v>
                </c:pt>
              </c:numCache>
            </c:numRef>
          </c:val>
          <c:extLst>
            <c:ext xmlns:c16="http://schemas.microsoft.com/office/drawing/2014/chart" uri="{C3380CC4-5D6E-409C-BE32-E72D297353CC}">
              <c16:uniqueId val="{00000003-8CD4-4E46-9300-18DFB7F538CE}"/>
            </c:ext>
          </c:extLst>
        </c:ser>
        <c:dLbls>
          <c:showLegendKey val="0"/>
          <c:showVal val="0"/>
          <c:showCatName val="0"/>
          <c:showSerName val="0"/>
          <c:showPercent val="0"/>
          <c:showBubbleSize val="0"/>
        </c:dLbls>
        <c:gapWidth val="150"/>
        <c:overlap val="-50"/>
        <c:axId val="117464448"/>
        <c:axId val="117573888"/>
      </c:barChart>
      <c:catAx>
        <c:axId val="117464448"/>
        <c:scaling>
          <c:orientation val="minMax"/>
        </c:scaling>
        <c:delete val="0"/>
        <c:axPos val="b"/>
        <c:numFmt formatCode="General" sourceLinked="1"/>
        <c:majorTickMark val="none"/>
        <c:minorTickMark val="none"/>
        <c:tickLblPos val="none"/>
        <c:spPr>
          <a:noFill/>
          <a:ln w="19050" cap="sq" cmpd="sng" algn="ctr">
            <a:solidFill>
              <a:schemeClr val="tx1"/>
            </a:solidFill>
            <a:prstDash val="solid"/>
            <a:miter lim="800000"/>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fr-FR"/>
          </a:p>
        </c:txPr>
        <c:crossAx val="117573888"/>
        <c:crossesAt val="0"/>
        <c:auto val="1"/>
        <c:lblAlgn val="ctr"/>
        <c:lblOffset val="100"/>
        <c:noMultiLvlLbl val="0"/>
      </c:catAx>
      <c:valAx>
        <c:axId val="117573888"/>
        <c:scaling>
          <c:orientation val="minMax"/>
        </c:scaling>
        <c:delete val="0"/>
        <c:axPos val="l"/>
        <c:title>
          <c:tx>
            <c:rich>
              <a:bodyPr rot="-5400000" spcFirstLastPara="1" vertOverflow="ellipsis" vert="horz" wrap="square" anchor="ctr" anchorCtr="1"/>
              <a:lstStyle/>
              <a:p>
                <a:pPr>
                  <a:defRPr sz="1200" b="1" i="0" u="none" strike="noStrike" kern="1200" baseline="0">
                    <a:solidFill>
                      <a:schemeClr val="tx1"/>
                    </a:solidFill>
                    <a:latin typeface="+mn-lt"/>
                    <a:ea typeface="+mn-ea"/>
                    <a:cs typeface="+mn-cs"/>
                  </a:defRPr>
                </a:pPr>
                <a:r>
                  <a:rPr lang="en-GB" dirty="0"/>
                  <a:t>% SGRQ</a:t>
                </a:r>
                <a:r>
                  <a:rPr lang="en-GB" baseline="0" dirty="0"/>
                  <a:t> responders with </a:t>
                </a:r>
                <a:r>
                  <a:rPr lang="en-GB" baseline="0" dirty="0">
                    <a:latin typeface="Calibri" panose="020F0502020204030204" pitchFamily="34" charset="0"/>
                    <a:cs typeface="Calibri" panose="020F0502020204030204" pitchFamily="34" charset="0"/>
                  </a:rPr>
                  <a:t>≥</a:t>
                </a:r>
                <a:r>
                  <a:rPr lang="en-GB" baseline="0" dirty="0"/>
                  <a:t>4 unit decrease</a:t>
                </a:r>
                <a:endParaRPr lang="en-GB" dirty="0"/>
              </a:p>
            </c:rich>
          </c:tx>
          <c:layout>
            <c:manualLayout>
              <c:xMode val="edge"/>
              <c:yMode val="edge"/>
              <c:x val="3.4266716945054843E-2"/>
              <c:y val="6.3693311282747883E-2"/>
            </c:manualLayout>
          </c:layout>
          <c:overlay val="0"/>
          <c:spPr>
            <a:noFill/>
            <a:ln>
              <a:noFill/>
            </a:ln>
            <a:effectLst/>
          </c:spPr>
          <c:txPr>
            <a:bodyPr rot="-5400000" spcFirstLastPara="1" vertOverflow="ellipsis" vert="horz" wrap="square" anchor="ctr" anchorCtr="1"/>
            <a:lstStyle/>
            <a:p>
              <a:pPr>
                <a:defRPr sz="1200" b="1" i="0" u="none" strike="noStrike" kern="1200" baseline="0">
                  <a:solidFill>
                    <a:schemeClr val="tx1"/>
                  </a:solidFill>
                  <a:latin typeface="+mn-lt"/>
                  <a:ea typeface="+mn-ea"/>
                  <a:cs typeface="+mn-cs"/>
                </a:defRPr>
              </a:pPr>
              <a:endParaRPr lang="en-GB"/>
            </a:p>
          </c:txPr>
        </c:title>
        <c:numFmt formatCode="General" sourceLinked="1"/>
        <c:majorTickMark val="out"/>
        <c:minorTickMark val="none"/>
        <c:tickLblPos val="nextTo"/>
        <c:spPr>
          <a:noFill/>
          <a:ln w="19050" cap="sq" cmpd="sng" algn="ctr">
            <a:solidFill>
              <a:schemeClr val="tx1"/>
            </a:solidFill>
            <a:prstDash val="solid"/>
            <a:miter lim="800000"/>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fr-FR"/>
          </a:p>
        </c:txPr>
        <c:crossAx val="117464448"/>
        <c:crosses val="autoZero"/>
        <c:crossBetween val="between"/>
        <c:majorUnit val="20"/>
      </c:valAx>
      <c:spPr>
        <a:noFill/>
        <a:ln>
          <a:noFill/>
        </a:ln>
        <a:effectLst/>
      </c:spPr>
    </c:plotArea>
    <c:plotVisOnly val="1"/>
    <c:dispBlanksAs val="gap"/>
    <c:showDLblsOverMax val="0"/>
  </c:chart>
  <c:spPr>
    <a:noFill/>
    <a:ln w="9525" cap="flat" cmpd="sng" algn="ctr">
      <a:noFill/>
      <a:prstDash val="solid"/>
    </a:ln>
    <a:effectLst/>
  </c:spPr>
  <c:txPr>
    <a:bodyPr/>
    <a:lstStyle/>
    <a:p>
      <a:pPr>
        <a:defRPr sz="1200"/>
      </a:pPr>
      <a:endParaRPr lang="fr-F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0"/>
    <c:plotArea>
      <c:layout>
        <c:manualLayout>
          <c:layoutTarget val="inner"/>
          <c:xMode val="edge"/>
          <c:yMode val="edge"/>
          <c:x val="0.15325394793533567"/>
          <c:y val="6.6232956324145623E-2"/>
          <c:w val="0.82350770381715688"/>
          <c:h val="0.77447169172215813"/>
        </c:manualLayout>
      </c:layout>
      <c:barChart>
        <c:barDir val="col"/>
        <c:grouping val="clustered"/>
        <c:varyColors val="0"/>
        <c:ser>
          <c:idx val="0"/>
          <c:order val="0"/>
          <c:tx>
            <c:strRef>
              <c:f>Sheet1!$B$1</c:f>
              <c:strCache>
                <c:ptCount val="1"/>
                <c:pt idx="0">
                  <c:v>FF/UMEC/VI 100/62.5/25 (N=911)</c:v>
                </c:pt>
              </c:strCache>
            </c:strRef>
          </c:tx>
          <c:spPr>
            <a:solidFill>
              <a:srgbClr val="F36633"/>
            </a:solidFill>
            <a:ln>
              <a:noFill/>
            </a:ln>
          </c:spPr>
          <c:invertIfNegative val="0"/>
          <c:dLbls>
            <c:spPr>
              <a:noFill/>
              <a:ln>
                <a:noFill/>
              </a:ln>
              <a:effectLst/>
            </c:spPr>
            <c:txPr>
              <a:bodyPr/>
              <a:lstStyle/>
              <a:p>
                <a:pPr>
                  <a:defRPr b="1">
                    <a:solidFill>
                      <a:schemeClr val="bg1"/>
                    </a:solidFill>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c:f>
              <c:numCache>
                <c:formatCode>General</c:formatCode>
                <c:ptCount val="1"/>
              </c:numCache>
            </c:numRef>
          </c:cat>
          <c:val>
            <c:numRef>
              <c:f>Sheet1!$B$2</c:f>
              <c:numCache>
                <c:formatCode>General</c:formatCode>
                <c:ptCount val="1"/>
                <c:pt idx="0">
                  <c:v>-6.6</c:v>
                </c:pt>
              </c:numCache>
            </c:numRef>
          </c:val>
          <c:extLst>
            <c:ext xmlns:c16="http://schemas.microsoft.com/office/drawing/2014/chart" uri="{C3380CC4-5D6E-409C-BE32-E72D297353CC}">
              <c16:uniqueId val="{00000000-4645-4C5E-ABE5-B740B4D73993}"/>
            </c:ext>
          </c:extLst>
        </c:ser>
        <c:ser>
          <c:idx val="1"/>
          <c:order val="1"/>
          <c:tx>
            <c:strRef>
              <c:f>Sheet1!$C$1</c:f>
              <c:strCache>
                <c:ptCount val="1"/>
                <c:pt idx="0">
                  <c:v>BUD/FOR 400/12 (N=899)</c:v>
                </c:pt>
              </c:strCache>
            </c:strRef>
          </c:tx>
          <c:spPr>
            <a:solidFill>
              <a:srgbClr val="15717D"/>
            </a:solidFill>
          </c:spPr>
          <c:invertIfNegative val="0"/>
          <c:dLbls>
            <c:spPr>
              <a:noFill/>
              <a:ln>
                <a:noFill/>
              </a:ln>
              <a:effectLst/>
            </c:spPr>
            <c:txPr>
              <a:bodyPr/>
              <a:lstStyle/>
              <a:p>
                <a:pPr>
                  <a:defRPr b="1">
                    <a:solidFill>
                      <a:schemeClr val="bg1"/>
                    </a:solidFill>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c:f>
              <c:numCache>
                <c:formatCode>General</c:formatCode>
                <c:ptCount val="1"/>
              </c:numCache>
            </c:numRef>
          </c:cat>
          <c:val>
            <c:numRef>
              <c:f>Sheet1!$C$2</c:f>
              <c:numCache>
                <c:formatCode>General</c:formatCode>
                <c:ptCount val="1"/>
                <c:pt idx="0">
                  <c:v>-4.3</c:v>
                </c:pt>
              </c:numCache>
            </c:numRef>
          </c:val>
          <c:extLst>
            <c:ext xmlns:c16="http://schemas.microsoft.com/office/drawing/2014/chart" uri="{C3380CC4-5D6E-409C-BE32-E72D297353CC}">
              <c16:uniqueId val="{00000001-4645-4C5E-ABE5-B740B4D73993}"/>
            </c:ext>
          </c:extLst>
        </c:ser>
        <c:ser>
          <c:idx val="2"/>
          <c:order val="2"/>
          <c:tx>
            <c:strRef>
              <c:f>Sheet1!$D$1</c:f>
              <c:strCache>
                <c:ptCount val="1"/>
                <c:pt idx="0">
                  <c:v>Column3</c:v>
                </c:pt>
              </c:strCache>
            </c:strRef>
          </c:tx>
          <c:spPr>
            <a:solidFill>
              <a:srgbClr val="F36633"/>
            </a:solidFill>
          </c:spPr>
          <c:invertIfNegative val="0"/>
          <c:dLbls>
            <c:dLbl>
              <c:idx val="0"/>
              <c:layout>
                <c:manualLayout>
                  <c:x val="6.3441712926249104E-3"/>
                  <c:y val="0.11097637950775997"/>
                </c:manualLayout>
              </c:layout>
              <c:tx>
                <c:rich>
                  <a:bodyPr/>
                  <a:lstStyle/>
                  <a:p>
                    <a:fld id="{3AE5E8CB-529E-4934-8F9D-6C1D27692123}" type="VALUE">
                      <a:rPr lang="en-US" b="1">
                        <a:solidFill>
                          <a:schemeClr val="bg1"/>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4645-4C5E-ABE5-B740B4D73993}"/>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Sheet1!$A$2</c:f>
              <c:numCache>
                <c:formatCode>General</c:formatCode>
                <c:ptCount val="1"/>
              </c:numCache>
            </c:numRef>
          </c:cat>
          <c:val>
            <c:numRef>
              <c:f>Sheet1!$D$2</c:f>
              <c:numCache>
                <c:formatCode>General</c:formatCode>
                <c:ptCount val="1"/>
              </c:numCache>
            </c:numRef>
          </c:val>
          <c:extLst>
            <c:ext xmlns:c16="http://schemas.microsoft.com/office/drawing/2014/chart" uri="{C3380CC4-5D6E-409C-BE32-E72D297353CC}">
              <c16:uniqueId val="{00000003-4645-4C5E-ABE5-B740B4D73993}"/>
            </c:ext>
          </c:extLst>
        </c:ser>
        <c:ser>
          <c:idx val="3"/>
          <c:order val="3"/>
          <c:tx>
            <c:strRef>
              <c:f>Sheet1!$E$1</c:f>
              <c:strCache>
                <c:ptCount val="1"/>
                <c:pt idx="0">
                  <c:v>Column1</c:v>
                </c:pt>
              </c:strCache>
            </c:strRef>
          </c:tx>
          <c:spPr>
            <a:solidFill>
              <a:srgbClr val="F36633"/>
            </a:solidFill>
          </c:spPr>
          <c:invertIfNegative val="0"/>
          <c:dLbls>
            <c:dLbl>
              <c:idx val="0"/>
              <c:layout>
                <c:manualLayout>
                  <c:x val="0"/>
                  <c:y val="8.878110360620807E-2"/>
                </c:manualLayout>
              </c:layout>
              <c:tx>
                <c:rich>
                  <a:bodyPr/>
                  <a:lstStyle/>
                  <a:p>
                    <a:r>
                      <a:rPr lang="en-US" b="1" dirty="0">
                        <a:solidFill>
                          <a:schemeClr val="bg1"/>
                        </a:solidFill>
                      </a:rPr>
                      <a:t>-4.6</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645-4C5E-ABE5-B740B4D73993}"/>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numRef>
              <c:f>Sheet1!$A$2</c:f>
              <c:numCache>
                <c:formatCode>General</c:formatCode>
                <c:ptCount val="1"/>
              </c:numCache>
            </c:numRef>
          </c:cat>
          <c:val>
            <c:numRef>
              <c:f>Sheet1!$E$2</c:f>
              <c:numCache>
                <c:formatCode>General</c:formatCode>
                <c:ptCount val="1"/>
                <c:pt idx="0">
                  <c:v>-4.5999999999999996</c:v>
                </c:pt>
              </c:numCache>
            </c:numRef>
          </c:val>
          <c:extLst>
            <c:ext xmlns:c16="http://schemas.microsoft.com/office/drawing/2014/chart" uri="{C3380CC4-5D6E-409C-BE32-E72D297353CC}">
              <c16:uniqueId val="{00000005-4645-4C5E-ABE5-B740B4D73993}"/>
            </c:ext>
          </c:extLst>
        </c:ser>
        <c:ser>
          <c:idx val="4"/>
          <c:order val="4"/>
          <c:tx>
            <c:strRef>
              <c:f>Sheet1!$F$1</c:f>
              <c:strCache>
                <c:ptCount val="1"/>
                <c:pt idx="0">
                  <c:v>Column2</c:v>
                </c:pt>
              </c:strCache>
            </c:strRef>
          </c:tx>
          <c:spPr>
            <a:solidFill>
              <a:srgbClr val="15717D"/>
            </a:solidFill>
          </c:spPr>
          <c:invertIfNegative val="0"/>
          <c:dLbls>
            <c:dLbl>
              <c:idx val="0"/>
              <c:layout>
                <c:manualLayout>
                  <c:x val="0"/>
                  <c:y val="8.5081890955949507E-2"/>
                </c:manualLayout>
              </c:layout>
              <c:tx>
                <c:rich>
                  <a:bodyPr/>
                  <a:lstStyle/>
                  <a:p>
                    <a:r>
                      <a:rPr lang="en-US" b="1" dirty="0">
                        <a:solidFill>
                          <a:schemeClr val="bg1"/>
                        </a:solidFill>
                      </a:rPr>
                      <a:t>-1.9</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4645-4C5E-ABE5-B740B4D7399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1"/>
              </c:ext>
            </c:extLst>
          </c:dLbls>
          <c:cat>
            <c:numRef>
              <c:f>Sheet1!$A$2</c:f>
              <c:numCache>
                <c:formatCode>General</c:formatCode>
                <c:ptCount val="1"/>
              </c:numCache>
            </c:numRef>
          </c:cat>
          <c:val>
            <c:numRef>
              <c:f>Sheet1!$F$2</c:f>
              <c:numCache>
                <c:formatCode>General</c:formatCode>
                <c:ptCount val="1"/>
                <c:pt idx="0">
                  <c:v>-1.9000000000000001</c:v>
                </c:pt>
              </c:numCache>
            </c:numRef>
          </c:val>
          <c:extLst>
            <c:ext xmlns:c16="http://schemas.microsoft.com/office/drawing/2014/chart" uri="{C3380CC4-5D6E-409C-BE32-E72D297353CC}">
              <c16:uniqueId val="{00000007-4645-4C5E-ABE5-B740B4D73993}"/>
            </c:ext>
          </c:extLst>
        </c:ser>
        <c:dLbls>
          <c:showLegendKey val="0"/>
          <c:showVal val="0"/>
          <c:showCatName val="0"/>
          <c:showSerName val="0"/>
          <c:showPercent val="0"/>
          <c:showBubbleSize val="0"/>
        </c:dLbls>
        <c:gapWidth val="60"/>
        <c:overlap val="-32"/>
        <c:axId val="119479296"/>
        <c:axId val="119497856"/>
      </c:barChart>
      <c:catAx>
        <c:axId val="119479296"/>
        <c:scaling>
          <c:orientation val="minMax"/>
        </c:scaling>
        <c:delete val="0"/>
        <c:axPos val="b"/>
        <c:numFmt formatCode="General" sourceLinked="0"/>
        <c:majorTickMark val="none"/>
        <c:minorTickMark val="none"/>
        <c:tickLblPos val="none"/>
        <c:spPr>
          <a:ln w="19050" cap="sq">
            <a:solidFill>
              <a:srgbClr val="544F40"/>
            </a:solidFill>
            <a:miter lim="800000"/>
          </a:ln>
        </c:spPr>
        <c:crossAx val="119497856"/>
        <c:crosses val="autoZero"/>
        <c:auto val="1"/>
        <c:lblAlgn val="ctr"/>
        <c:lblOffset val="100"/>
        <c:noMultiLvlLbl val="0"/>
      </c:catAx>
      <c:valAx>
        <c:axId val="119497856"/>
        <c:scaling>
          <c:orientation val="minMax"/>
        </c:scaling>
        <c:delete val="0"/>
        <c:axPos val="l"/>
        <c:numFmt formatCode="General" sourceLinked="1"/>
        <c:majorTickMark val="out"/>
        <c:minorTickMark val="none"/>
        <c:tickLblPos val="nextTo"/>
        <c:spPr>
          <a:ln w="19050" cap="sq">
            <a:solidFill>
              <a:srgbClr val="544F40"/>
            </a:solidFill>
            <a:miter lim="800000"/>
          </a:ln>
        </c:spPr>
        <c:txPr>
          <a:bodyPr/>
          <a:lstStyle/>
          <a:p>
            <a:pPr>
              <a:defRPr>
                <a:solidFill>
                  <a:srgbClr val="000000"/>
                </a:solidFill>
              </a:defRPr>
            </a:pPr>
            <a:endParaRPr lang="fr-FR"/>
          </a:p>
        </c:txPr>
        <c:crossAx val="119479296"/>
        <c:crosses val="autoZero"/>
        <c:crossBetween val="between"/>
      </c:valAx>
    </c:plotArea>
    <c:plotVisOnly val="1"/>
    <c:dispBlanksAs val="gap"/>
    <c:showDLblsOverMax val="0"/>
  </c:chart>
  <c:txPr>
    <a:bodyPr/>
    <a:lstStyle/>
    <a:p>
      <a:pPr>
        <a:defRPr sz="1200">
          <a:solidFill>
            <a:srgbClr val="000000"/>
          </a:solidFill>
        </a:defRPr>
      </a:pPr>
      <a:endParaRPr lang="fr-FR"/>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2344456283333978E-2"/>
          <c:y val="3.9426000321388398E-2"/>
          <c:w val="0.90107054560132449"/>
          <c:h val="0.65474503816379337"/>
        </c:manualLayout>
      </c:layout>
      <c:barChart>
        <c:barDir val="col"/>
        <c:grouping val="clustered"/>
        <c:varyColors val="0"/>
        <c:ser>
          <c:idx val="0"/>
          <c:order val="0"/>
          <c:tx>
            <c:strRef>
              <c:f>Sheet1!$B$1</c:f>
              <c:strCache>
                <c:ptCount val="1"/>
                <c:pt idx="0">
                  <c:v>Mod/severe exacerbations</c:v>
                </c:pt>
              </c:strCache>
            </c:strRef>
          </c:tx>
          <c:spPr>
            <a:solidFill>
              <a:srgbClr val="F36633"/>
            </a:solidFill>
            <a:ln>
              <a:noFill/>
            </a:ln>
            <a:effectLst/>
          </c:spPr>
          <c:invertIfNegative val="0"/>
          <c:dLbls>
            <c:spPr>
              <a:noFill/>
              <a:ln>
                <a:noFill/>
              </a:ln>
              <a:effectLst/>
            </c:spPr>
            <c:txPr>
              <a:bodyPr rot="0" spcFirstLastPara="1" vertOverflow="ellipsis" vert="horz" wrap="square" anchor="ctr" anchorCtr="1"/>
              <a:lstStyle/>
              <a:p>
                <a:pPr>
                  <a:defRPr sz="1200" b="1" i="0" u="none" strike="noStrike" kern="1200" baseline="0">
                    <a:solidFill>
                      <a:schemeClr val="bg1"/>
                    </a:solidFill>
                    <a:latin typeface="+mn-lt"/>
                    <a:ea typeface="+mn-ea"/>
                    <a:cs typeface="+mn-cs"/>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prstDash val="solid"/>
                      <a:round/>
                    </a:ln>
                    <a:effectLst/>
                  </c:spPr>
                </c15:leaderLines>
              </c:ext>
            </c:extLst>
          </c:dLbls>
          <c:cat>
            <c:strRef>
              <c:f>Sheet1!$A$2:$A$3</c:f>
              <c:strCache>
                <c:ptCount val="2"/>
                <c:pt idx="0">
                  <c:v>FF/UMEC/VI
100/62.5/25
(N=911)</c:v>
                </c:pt>
                <c:pt idx="1">
                  <c:v>BUD/FOR
400/12
(N=219)</c:v>
                </c:pt>
              </c:strCache>
            </c:strRef>
          </c:cat>
          <c:val>
            <c:numRef>
              <c:f>Sheet1!$B$2:$B$3</c:f>
              <c:numCache>
                <c:formatCode>General</c:formatCode>
                <c:ptCount val="2"/>
                <c:pt idx="0">
                  <c:v>0.22</c:v>
                </c:pt>
                <c:pt idx="1">
                  <c:v>0.2</c:v>
                </c:pt>
              </c:numCache>
            </c:numRef>
          </c:val>
          <c:extLst>
            <c:ext xmlns:c16="http://schemas.microsoft.com/office/drawing/2014/chart" uri="{C3380CC4-5D6E-409C-BE32-E72D297353CC}">
              <c16:uniqueId val="{00000000-F31F-428D-9290-53A9FE735D58}"/>
            </c:ext>
          </c:extLst>
        </c:ser>
        <c:ser>
          <c:idx val="1"/>
          <c:order val="1"/>
          <c:tx>
            <c:strRef>
              <c:f>Sheet1!$C$1</c:f>
              <c:strCache>
                <c:ptCount val="1"/>
                <c:pt idx="0">
                  <c:v>Mild, moderate and severe exacerbations</c:v>
                </c:pt>
              </c:strCache>
            </c:strRef>
          </c:tx>
          <c:spPr>
            <a:solidFill>
              <a:srgbClr val="15717D"/>
            </a:solidFill>
            <a:ln>
              <a:noFill/>
            </a:ln>
            <a:effectLst/>
          </c:spPr>
          <c:invertIfNegative val="0"/>
          <c:dLbls>
            <c:dLbl>
              <c:idx val="0"/>
              <c:layout>
                <c:manualLayout>
                  <c:x val="-5.5282688420803874E-17"/>
                  <c:y val="7.188113961151131E-2"/>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31F-428D-9290-53A9FE735D58}"/>
                </c:ext>
              </c:extLst>
            </c:dLbl>
            <c:dLbl>
              <c:idx val="1"/>
              <c:layout>
                <c:manualLayout>
                  <c:x val="-1.1056537684160664E-16"/>
                  <c:y val="7.1881139611511324E-2"/>
                </c:manualLayout>
              </c:layout>
              <c:tx>
                <c:rich>
                  <a:bodyPr/>
                  <a:lstStyle/>
                  <a:p>
                    <a:r>
                      <a:rPr lang="en-US" b="1" dirty="0">
                        <a:solidFill>
                          <a:schemeClr val="bg1"/>
                        </a:solidFill>
                      </a:rPr>
                      <a:t>0.36</a:t>
                    </a:r>
                    <a:endParaRPr lang="en-US" dirty="0"/>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F31F-428D-9290-53A9FE735D58}"/>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Sheet1!$A$2:$A$3</c:f>
              <c:strCache>
                <c:ptCount val="2"/>
                <c:pt idx="0">
                  <c:v>FF/UMEC/VI
100/62.5/25
(N=911)</c:v>
                </c:pt>
                <c:pt idx="1">
                  <c:v>BUD/FOR
400/12
(N=219)</c:v>
                </c:pt>
              </c:strCache>
            </c:strRef>
          </c:cat>
          <c:val>
            <c:numRef>
              <c:f>Sheet1!$C$2:$C$3</c:f>
              <c:numCache>
                <c:formatCode>General</c:formatCode>
                <c:ptCount val="2"/>
                <c:pt idx="0">
                  <c:v>0.34</c:v>
                </c:pt>
                <c:pt idx="1">
                  <c:v>0.36000000000000032</c:v>
                </c:pt>
              </c:numCache>
            </c:numRef>
          </c:val>
          <c:extLst>
            <c:ext xmlns:c16="http://schemas.microsoft.com/office/drawing/2014/chart" uri="{C3380CC4-5D6E-409C-BE32-E72D297353CC}">
              <c16:uniqueId val="{00000003-F31F-428D-9290-53A9FE735D58}"/>
            </c:ext>
          </c:extLst>
        </c:ser>
        <c:dLbls>
          <c:showLegendKey val="0"/>
          <c:showVal val="0"/>
          <c:showCatName val="0"/>
          <c:showSerName val="0"/>
          <c:showPercent val="0"/>
          <c:showBubbleSize val="0"/>
        </c:dLbls>
        <c:gapWidth val="219"/>
        <c:overlap val="-50"/>
        <c:axId val="119573504"/>
        <c:axId val="119600256"/>
      </c:barChart>
      <c:catAx>
        <c:axId val="119573504"/>
        <c:scaling>
          <c:orientation val="minMax"/>
        </c:scaling>
        <c:delete val="0"/>
        <c:axPos val="b"/>
        <c:numFmt formatCode="General" sourceLinked="1"/>
        <c:majorTickMark val="none"/>
        <c:minorTickMark val="none"/>
        <c:tickLblPos val="none"/>
        <c:spPr>
          <a:noFill/>
          <a:ln w="19050" cap="sq" cmpd="sng" algn="ctr">
            <a:solidFill>
              <a:schemeClr val="tx1"/>
            </a:solidFill>
            <a:prstDash val="solid"/>
            <a:miter lim="800000"/>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fr-FR"/>
          </a:p>
        </c:txPr>
        <c:crossAx val="119600256"/>
        <c:crossesAt val="0"/>
        <c:auto val="1"/>
        <c:lblAlgn val="ctr"/>
        <c:lblOffset val="100"/>
        <c:noMultiLvlLbl val="0"/>
      </c:catAx>
      <c:valAx>
        <c:axId val="119600256"/>
        <c:scaling>
          <c:orientation val="minMax"/>
        </c:scaling>
        <c:delete val="0"/>
        <c:axPos val="l"/>
        <c:numFmt formatCode="General" sourceLinked="1"/>
        <c:majorTickMark val="out"/>
        <c:minorTickMark val="none"/>
        <c:tickLblPos val="nextTo"/>
        <c:spPr>
          <a:noFill/>
          <a:ln w="19050" cap="sq" cmpd="sng" algn="ctr">
            <a:solidFill>
              <a:schemeClr val="tx1"/>
            </a:solidFill>
            <a:prstDash val="solid"/>
            <a:miter lim="800000"/>
          </a:ln>
          <a:effectLst/>
        </c:spPr>
        <c:txPr>
          <a:bodyPr rot="-60000000" spcFirstLastPara="1" vertOverflow="ellipsis" vert="horz" wrap="square" anchor="ctr" anchorCtr="1"/>
          <a:lstStyle/>
          <a:p>
            <a:pPr>
              <a:defRPr sz="1200" b="0" i="0" u="none" strike="noStrike" kern="1200" baseline="0">
                <a:solidFill>
                  <a:schemeClr val="tx1"/>
                </a:solidFill>
                <a:latin typeface="+mn-lt"/>
                <a:ea typeface="+mn-ea"/>
                <a:cs typeface="+mn-cs"/>
              </a:defRPr>
            </a:pPr>
            <a:endParaRPr lang="fr-FR"/>
          </a:p>
        </c:txPr>
        <c:crossAx val="119573504"/>
        <c:crosses val="autoZero"/>
        <c:crossBetween val="between"/>
        <c:majorUnit val="0.1"/>
      </c:valAx>
      <c:spPr>
        <a:noFill/>
        <a:ln>
          <a:noFill/>
        </a:ln>
        <a:effectLst/>
      </c:spPr>
    </c:plotArea>
    <c:plotVisOnly val="1"/>
    <c:dispBlanksAs val="gap"/>
    <c:showDLblsOverMax val="0"/>
  </c:chart>
  <c:spPr>
    <a:noFill/>
    <a:ln w="9525" cap="flat" cmpd="sng" algn="ctr">
      <a:noFill/>
      <a:prstDash val="solid"/>
    </a:ln>
    <a:effectLst/>
  </c:spPr>
  <c:txPr>
    <a:bodyPr/>
    <a:lstStyle/>
    <a:p>
      <a:pPr>
        <a:defRPr sz="1200"/>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7C5DC5B-BF83-D0F8-F17D-E458477D6A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CA5C446-58AD-F05A-78BC-F13AD7A39D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2FE7CBA-E269-484E-BC88-4EF08BDBC0FE}" type="datetimeFigureOut">
              <a:rPr lang="en-GB" smtClean="0"/>
              <a:t>22/07/2025</a:t>
            </a:fld>
            <a:endParaRPr lang="en-GB"/>
          </a:p>
        </p:txBody>
      </p:sp>
      <p:sp>
        <p:nvSpPr>
          <p:cNvPr id="4" name="Footer Placeholder 3">
            <a:extLst>
              <a:ext uri="{FF2B5EF4-FFF2-40B4-BE49-F238E27FC236}">
                <a16:creationId xmlns:a16="http://schemas.microsoft.com/office/drawing/2014/main" id="{1BBAEC85-53EE-AA3F-A105-CB67500BDB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61DCF5B-A081-B9F4-9E5F-FDA0297F20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B59F402-05D6-4C19-804E-80C8EBA9A784}" type="slidenum">
              <a:rPr lang="en-GB" smtClean="0"/>
              <a:t>‹#›</a:t>
            </a:fld>
            <a:endParaRPr lang="en-GB"/>
          </a:p>
        </p:txBody>
      </p:sp>
    </p:spTree>
    <p:extLst>
      <p:ext uri="{BB962C8B-B14F-4D97-AF65-F5344CB8AC3E}">
        <p14:creationId xmlns:p14="http://schemas.microsoft.com/office/powerpoint/2010/main" val="20826926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050A8971-52B8-4C5A-99D8-986A596F2912}" type="datetimeFigureOut">
              <a:rPr lang="en-GB" smtClean="0"/>
              <a:pPr/>
              <a:t>22/07/2025</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026B53C8-14E4-49A7-A1A5-3BF810B81EBE}" type="slidenum">
              <a:rPr lang="en-GB" smtClean="0"/>
              <a:pPr/>
              <a:t>‹#›</a:t>
            </a:fld>
            <a:endParaRPr lang="en-GB" dirty="0"/>
          </a:p>
        </p:txBody>
      </p:sp>
    </p:spTree>
    <p:extLst>
      <p:ext uri="{BB962C8B-B14F-4D97-AF65-F5344CB8AC3E}">
        <p14:creationId xmlns:p14="http://schemas.microsoft.com/office/powerpoint/2010/main" val="4209032733"/>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5"/>
          </p:nvPr>
        </p:nvSpPr>
        <p:spPr/>
        <p:txBody>
          <a:bodyPr/>
          <a:lstStyle/>
          <a:p>
            <a:fld id="{953A0CC3-FF33-41F8-9865-2C0277BEC2FF}" type="slidenum">
              <a:rPr lang="en-US" smtClean="0"/>
              <a:t>2</a:t>
            </a:fld>
            <a:endParaRPr lang="en-US"/>
          </a:p>
        </p:txBody>
      </p:sp>
    </p:spTree>
    <p:extLst>
      <p:ext uri="{BB962C8B-B14F-4D97-AF65-F5344CB8AC3E}">
        <p14:creationId xmlns:p14="http://schemas.microsoft.com/office/powerpoint/2010/main" val="934694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defTabSz="882213">
              <a:defRPr/>
            </a:pPr>
            <a:r>
              <a:rPr lang="en-GB" dirty="0"/>
              <a:t>BD, twice daily</a:t>
            </a:r>
            <a:r>
              <a:rPr lang="en-US" dirty="0"/>
              <a:t>; </a:t>
            </a:r>
            <a:r>
              <a:rPr lang="en-GB" dirty="0"/>
              <a:t>BUD, budesonide; CAT, COPD Assessment Test; COPD, </a:t>
            </a:r>
            <a:r>
              <a:rPr lang="en-GB" dirty="0" err="1"/>
              <a:t>chroobstructive</a:t>
            </a:r>
            <a:r>
              <a:rPr lang="en-GB" dirty="0"/>
              <a:t> pulmonary disease; </a:t>
            </a:r>
            <a:br>
              <a:rPr lang="en-GB" dirty="0"/>
            </a:br>
            <a:r>
              <a:rPr lang="en-US" dirty="0"/>
              <a:t>FEV</a:t>
            </a:r>
            <a:r>
              <a:rPr lang="en-US" baseline="-25000" dirty="0"/>
              <a:t>1</a:t>
            </a:r>
            <a:r>
              <a:rPr lang="en-US" dirty="0"/>
              <a:t>, forced expiratory volume in 1 second; </a:t>
            </a:r>
            <a:r>
              <a:rPr lang="en-GB" dirty="0"/>
              <a:t>FF, fluticasone furoate; FOR, formoterol; GOLD, Global Initiative for Chronic Obstructive Lung Disease</a:t>
            </a:r>
            <a:r>
              <a:rPr lang="en-US" dirty="0"/>
              <a:t>; </a:t>
            </a:r>
            <a:r>
              <a:rPr lang="en-GB" dirty="0"/>
              <a:t>OD, once daily; SGRQ, St. George’s Respiratory Questionnaire; UMEC, umeclidinium; VI, </a:t>
            </a:r>
            <a:r>
              <a:rPr lang="en-GB" dirty="0" err="1"/>
              <a:t>vilanterolnic</a:t>
            </a:r>
            <a:endParaRPr lang="en-GB" dirty="0"/>
          </a:p>
          <a:p>
            <a:pPr lvl="0"/>
            <a:endParaRPr lang="en-GB" dirty="0"/>
          </a:p>
          <a:p>
            <a:pPr lvl="0"/>
            <a:endParaRPr lang="en-GB" dirty="0"/>
          </a:p>
          <a:p>
            <a:pPr lvl="0"/>
            <a:r>
              <a:rPr lang="en-GB" dirty="0"/>
              <a:t>FULFIL, </a:t>
            </a:r>
            <a:r>
              <a:rPr lang="en-US" dirty="0"/>
              <a:t>lung FUnction and quality of LiFe assessment in COPD with single</a:t>
            </a:r>
            <a:r>
              <a:rPr lang="en-US" baseline="0" dirty="0"/>
              <a:t> inhaler</a:t>
            </a:r>
            <a:r>
              <a:rPr lang="en-US" dirty="0"/>
              <a:t> trIpLe therapy</a:t>
            </a:r>
          </a:p>
          <a:p>
            <a:pPr lvl="0"/>
            <a:endParaRPr lang="en-US" dirty="0"/>
          </a:p>
          <a:p>
            <a:pPr marL="171436" indent="-171436">
              <a:buFont typeface="Arial" panose="020B0604020202020204" pitchFamily="34" charset="0"/>
              <a:buChar char="•"/>
            </a:pPr>
            <a:r>
              <a:rPr lang="en-US" dirty="0"/>
              <a:t>The FULFIL study was a randomised, double blinded, double-dummy, parallel group, multicentre trial.</a:t>
            </a:r>
          </a:p>
          <a:p>
            <a:pPr marL="171436" indent="-171436">
              <a:buFont typeface="Arial" panose="020B0604020202020204" pitchFamily="34" charset="0"/>
              <a:buChar char="•"/>
            </a:pPr>
            <a:r>
              <a:rPr lang="en-US" dirty="0"/>
              <a:t>Eligible patients were aged </a:t>
            </a:r>
            <a:r>
              <a:rPr lang="en-GB" dirty="0"/>
              <a:t>≥40 years, with a COPD defined as either:</a:t>
            </a:r>
          </a:p>
          <a:p>
            <a:pPr marL="628599" lvl="1" indent="-171436">
              <a:buFont typeface="Arial" panose="020B0604020202020204" pitchFamily="34" charset="0"/>
              <a:buChar char="•"/>
            </a:pPr>
            <a:r>
              <a:rPr lang="en-US" dirty="0"/>
              <a:t>FEV</a:t>
            </a:r>
            <a:r>
              <a:rPr lang="en-US" baseline="-25000" dirty="0"/>
              <a:t>1</a:t>
            </a:r>
            <a:r>
              <a:rPr lang="en-US" dirty="0"/>
              <a:t> &lt;50% + CAT ≥10 or</a:t>
            </a:r>
          </a:p>
          <a:p>
            <a:pPr marL="628599" lvl="1" indent="-171436">
              <a:buFont typeface="Arial" panose="020B0604020202020204" pitchFamily="34" charset="0"/>
              <a:buChar char="•"/>
            </a:pPr>
            <a:r>
              <a:rPr lang="en-US" dirty="0"/>
              <a:t>FEV</a:t>
            </a:r>
            <a:r>
              <a:rPr lang="en-US" baseline="-25000" dirty="0"/>
              <a:t>1</a:t>
            </a:r>
            <a:r>
              <a:rPr lang="en-US" dirty="0"/>
              <a:t> &gt;50% to &lt;80% + ≥2 moderate exacerbations in past year or ≥1 severe exacerbations in past year + CAT ≥10.</a:t>
            </a:r>
          </a:p>
          <a:p>
            <a:pPr marL="171436" indent="-171436">
              <a:buFont typeface="Arial" panose="020B0604020202020204" pitchFamily="34" charset="0"/>
              <a:buChar char="•"/>
            </a:pPr>
            <a:r>
              <a:rPr lang="en-US" dirty="0"/>
              <a:t>1810 patients were randomised to receive either: </a:t>
            </a:r>
          </a:p>
          <a:p>
            <a:pPr marL="628599" lvl="1" indent="-171436">
              <a:buFont typeface="Arial" panose="020B0604020202020204" pitchFamily="34" charset="0"/>
              <a:buChar char="•"/>
            </a:pPr>
            <a:r>
              <a:rPr lang="en-US" dirty="0"/>
              <a:t>FF/UMEC/VI 100 mcg/62.5 mcg/25 mcg OD delivered via an ELLIPTA® inhaler or</a:t>
            </a:r>
          </a:p>
          <a:p>
            <a:pPr marL="628599" lvl="1" indent="-171436">
              <a:buFont typeface="Arial" panose="020B0604020202020204" pitchFamily="34" charset="0"/>
              <a:buChar char="•"/>
            </a:pPr>
            <a:r>
              <a:rPr lang="en-US" dirty="0"/>
              <a:t>BUD/FOR 400 mcg/12 mcg BD delivered using the Turbohaler®.</a:t>
            </a:r>
          </a:p>
          <a:p>
            <a:pPr marL="171436" indent="-171436">
              <a:buFont typeface="Arial" panose="020B0604020202020204" pitchFamily="34" charset="0"/>
              <a:buChar char="•"/>
            </a:pPr>
            <a:r>
              <a:rPr lang="en-US" dirty="0"/>
              <a:t>A subset of 430 patients remained on blinded treatment for up to 52 weeks (extension population).</a:t>
            </a:r>
          </a:p>
          <a:p>
            <a:pPr marL="171436" indent="-171436">
              <a:buFont typeface="Arial" panose="020B0604020202020204" pitchFamily="34" charset="0"/>
              <a:buChar char="•"/>
            </a:pPr>
            <a:r>
              <a:rPr lang="en-US" dirty="0"/>
              <a:t>Co-primary endpoints were:</a:t>
            </a:r>
          </a:p>
          <a:p>
            <a:pPr marL="628599" lvl="1" indent="-171436">
              <a:buFont typeface="Arial" panose="020B0604020202020204" pitchFamily="34" charset="0"/>
              <a:buChar char="•"/>
            </a:pPr>
            <a:r>
              <a:rPr lang="en-US" dirty="0"/>
              <a:t>Change from baseline in trough FEV</a:t>
            </a:r>
            <a:r>
              <a:rPr lang="en-US" baseline="-25000" dirty="0"/>
              <a:t>1</a:t>
            </a:r>
            <a:r>
              <a:rPr lang="en-US" dirty="0"/>
              <a:t> at week 24.</a:t>
            </a:r>
          </a:p>
          <a:p>
            <a:pPr marL="628599" lvl="1" indent="-171436">
              <a:buFont typeface="Arial" panose="020B0604020202020204" pitchFamily="34" charset="0"/>
              <a:buChar char="•"/>
            </a:pPr>
            <a:r>
              <a:rPr lang="en-US" dirty="0"/>
              <a:t>Change from baseline in SGRQ total score at week 24. </a:t>
            </a:r>
          </a:p>
          <a:p>
            <a:pPr marL="171436" indent="-171436">
              <a:buFont typeface="Arial" panose="020B0604020202020204" pitchFamily="34" charset="0"/>
              <a:buChar char="•"/>
            </a:pPr>
            <a:r>
              <a:rPr lang="en-US" dirty="0"/>
              <a:t>Secondary and other selected endpoints were:</a:t>
            </a:r>
          </a:p>
          <a:p>
            <a:pPr marL="628599" lvl="1" indent="-171436">
              <a:buFont typeface="Arial" panose="020B0604020202020204" pitchFamily="34" charset="0"/>
              <a:buChar char="•"/>
            </a:pPr>
            <a:r>
              <a:rPr lang="en-US" dirty="0"/>
              <a:t>Annual rate of on-treatment moderate and/or severe COPD exacerbations.</a:t>
            </a:r>
          </a:p>
          <a:p>
            <a:pPr marL="628599" lvl="1" indent="-171436">
              <a:buFont typeface="Arial" panose="020B0604020202020204" pitchFamily="34" charset="0"/>
              <a:buChar char="•"/>
            </a:pPr>
            <a:r>
              <a:rPr lang="en-US" dirty="0"/>
              <a:t>Proportion of SGRQ total score responders (defined as an SGRQ total score of four units below baseline or lower) at week 24.</a:t>
            </a:r>
          </a:p>
          <a:p>
            <a:pPr marL="171436" indent="-171436">
              <a:buFont typeface="Arial" panose="020B0604020202020204" pitchFamily="34" charset="0"/>
              <a:buChar char="•"/>
            </a:pPr>
            <a:r>
              <a:rPr lang="en-US" dirty="0"/>
              <a:t>Baseline data were collected while patients were receiving current COPD medications. </a:t>
            </a:r>
          </a:p>
          <a:p>
            <a:pPr marL="171436" indent="-171436">
              <a:buFont typeface="Arial" panose="020B0604020202020204" pitchFamily="34" charset="0"/>
              <a:buChar char="•"/>
            </a:pPr>
            <a:r>
              <a:rPr lang="en-US" dirty="0"/>
              <a:t>Safety data were analyzed up to week 24 in the intent-to-treat population and up to week 52 in the extension population.</a:t>
            </a:r>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4343000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u="sng" dirty="0"/>
              <a:t>Clinical</a:t>
            </a:r>
            <a:r>
              <a:rPr lang="en-GB" b="0" u="sng" baseline="0" dirty="0"/>
              <a:t> conclusions:</a:t>
            </a:r>
            <a:r>
              <a:rPr lang="en-GB" b="1" baseline="0" dirty="0"/>
              <a:t> </a:t>
            </a:r>
          </a:p>
          <a:p>
            <a:pPr marL="177691" indent="-177691">
              <a:buFont typeface="Arial" panose="020B0604020202020204" pitchFamily="34" charset="0"/>
              <a:buChar char="•"/>
            </a:pPr>
            <a:r>
              <a:rPr lang="de-DE" dirty="0"/>
              <a:t>IMPACT had broad inclusion criteria. The study population is representative of patients with COPD in clinical practice, including a range of disease severities, comorbidities and exacerbation frequencies, and the robust findings are applicable to wide range of patients.</a:t>
            </a:r>
          </a:p>
          <a:p>
            <a:pPr marL="177691" indent="-177691">
              <a:buFont typeface="Arial" panose="020B0604020202020204" pitchFamily="34" charset="0"/>
              <a:buChar char="•"/>
            </a:pPr>
            <a:r>
              <a:rPr lang="en-US" dirty="0"/>
              <a:t>Patients included in IMPACT could continue their existing maintenance medication during the run-in period, at the end of which they were </a:t>
            </a:r>
            <a:r>
              <a:rPr lang="en-US" dirty="0" err="1"/>
              <a:t>randomised</a:t>
            </a:r>
            <a:r>
              <a:rPr lang="en-US" dirty="0"/>
              <a:t> to one of the three treatment groups. This approach is reflective of that applied in clinical practice when medication changes are made.</a:t>
            </a:r>
            <a:endParaRPr lang="en-GB" dirty="0"/>
          </a:p>
          <a:p>
            <a:endParaRPr lang="en-GB" dirty="0"/>
          </a:p>
        </p:txBody>
      </p:sp>
      <p:sp>
        <p:nvSpPr>
          <p:cNvPr id="4" name="Slide Number Placeholder 3"/>
          <p:cNvSpPr>
            <a:spLocks noGrp="1"/>
          </p:cNvSpPr>
          <p:nvPr>
            <p:ph type="sldNum" sz="quarter" idx="10"/>
          </p:nvPr>
        </p:nvSpPr>
        <p:spPr/>
        <p:txBody>
          <a:bodyPr/>
          <a:lstStyle/>
          <a:p>
            <a:fld id="{23CAFC68-314F-D44F-9587-2ACEAE2CFB56}" type="slidenum">
              <a:rPr lang="en-US" smtClean="0"/>
              <a:t>5</a:t>
            </a:fld>
            <a:endParaRPr lang="en-US"/>
          </a:p>
        </p:txBody>
      </p:sp>
    </p:spTree>
    <p:extLst>
      <p:ext uri="{BB962C8B-B14F-4D97-AF65-F5344CB8AC3E}">
        <p14:creationId xmlns:p14="http://schemas.microsoft.com/office/powerpoint/2010/main" val="1028584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GB" dirty="0"/>
              <a:t>BUD, budesonide; COPD, chronic obstructive pulmonary disease; </a:t>
            </a:r>
            <a:r>
              <a:rPr lang="en-US" dirty="0"/>
              <a:t>CV, cardiovascular; FEV</a:t>
            </a:r>
            <a:r>
              <a:rPr lang="en-US" baseline="-25000" dirty="0"/>
              <a:t>1</a:t>
            </a:r>
            <a:r>
              <a:rPr lang="en-US" dirty="0"/>
              <a:t>, forced expiratory volume in 1 second; </a:t>
            </a:r>
            <a:r>
              <a:rPr lang="en-GB" dirty="0"/>
              <a:t>FF, fluticasone furoate; FOR, formoterol; </a:t>
            </a:r>
            <a:r>
              <a:rPr lang="en-US" dirty="0"/>
              <a:t>SD, standard deviation; </a:t>
            </a:r>
            <a:r>
              <a:rPr lang="en-GB" dirty="0"/>
              <a:t>UMEC, umeclidinium; VI, vilanterol</a:t>
            </a:r>
          </a:p>
          <a:p>
            <a:pPr lvl="0"/>
            <a:endParaRPr lang="en-GB" dirty="0"/>
          </a:p>
          <a:p>
            <a:pPr lvl="0"/>
            <a:endParaRPr lang="en-GB" dirty="0"/>
          </a:p>
          <a:p>
            <a:pPr lvl="0"/>
            <a:r>
              <a:rPr lang="en-GB" dirty="0"/>
              <a:t>FULFIL, </a:t>
            </a:r>
            <a:r>
              <a:rPr lang="en-US" dirty="0"/>
              <a:t>lung FUnction and quality of LiFe assessment in COPD with single</a:t>
            </a:r>
            <a:r>
              <a:rPr lang="en-US" baseline="0" dirty="0"/>
              <a:t> inhaler</a:t>
            </a:r>
            <a:r>
              <a:rPr lang="en-US" dirty="0"/>
              <a:t> trIpLe therapy</a:t>
            </a:r>
            <a:endParaRPr lang="en-GB" dirty="0"/>
          </a:p>
          <a:p>
            <a:endParaRPr lang="en-GB" dirty="0"/>
          </a:p>
          <a:p>
            <a:pPr marL="171436" indent="-171436">
              <a:buFont typeface="Arial" panose="020B0604020202020204" pitchFamily="34" charset="0"/>
              <a:buChar char="•"/>
            </a:pPr>
            <a:r>
              <a:rPr lang="en-GB" dirty="0"/>
              <a:t>1810 patients were randomised to receive either FF/UMEC/VI (n=911) or BUD/FOR (n=899).</a:t>
            </a:r>
          </a:p>
          <a:p>
            <a:pPr marL="628599" lvl="1" indent="-171436">
              <a:buFont typeface="Arial" panose="020B0604020202020204" pitchFamily="34" charset="0"/>
              <a:buChar char="•"/>
            </a:pPr>
            <a:r>
              <a:rPr lang="en-GB" dirty="0"/>
              <a:t>The extension population included 430 of these patients.</a:t>
            </a:r>
          </a:p>
          <a:p>
            <a:pPr marL="171436" indent="-171436">
              <a:buFont typeface="Arial" panose="020B0604020202020204" pitchFamily="34" charset="0"/>
              <a:buChar char="•"/>
            </a:pPr>
            <a:r>
              <a:rPr lang="en-GB" dirty="0"/>
              <a:t>Of the 1810 patients, 90% (1622) completed the study and the study treatment. The most common reasons for discontinuation of study treatment were patient decision (4%), adverse event or lack of efficacy (both 3%).</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42111817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defTabSz="882213">
              <a:defRPr/>
            </a:pPr>
            <a:endParaRPr lang="en-GB" dirty="0"/>
          </a:p>
          <a:p>
            <a:pPr defTabSz="882213">
              <a:defRPr/>
            </a:pPr>
            <a:r>
              <a:rPr lang="en-US" dirty="0"/>
              <a:t>Similar findings regarding change from baseline in trough FEV1 were observed in the EXT population at Week 52</a:t>
            </a:r>
            <a:r>
              <a:rPr lang="en-GB" dirty="0"/>
              <a:t>. </a:t>
            </a:r>
          </a:p>
          <a:p>
            <a:pPr defTabSz="882213">
              <a:defRPr/>
            </a:pPr>
            <a:r>
              <a:rPr lang="en-US" dirty="0"/>
              <a:t>The mean changes from baseline in trough FEV1 were 126 ml (95% CI, 92 to 159) for FF/UMEC/VI and 253 ml (95% CI, 287 to 220) for BUD/FOR. T</a:t>
            </a:r>
          </a:p>
          <a:p>
            <a:pPr lvl="0"/>
            <a:endParaRPr lang="en-GB" dirty="0"/>
          </a:p>
          <a:p>
            <a:pPr lvl="0"/>
            <a:endParaRPr lang="en-GB" dirty="0"/>
          </a:p>
          <a:p>
            <a:pPr lvl="0"/>
            <a:r>
              <a:rPr lang="en-GB" dirty="0"/>
              <a:t>FULFIL, </a:t>
            </a:r>
            <a:r>
              <a:rPr lang="en-US" dirty="0"/>
              <a:t>lung FUnction and quality of LiFe assessment in COPD with single</a:t>
            </a:r>
            <a:r>
              <a:rPr lang="en-US" baseline="0" dirty="0"/>
              <a:t> inhaler</a:t>
            </a:r>
            <a:r>
              <a:rPr lang="en-US" dirty="0"/>
              <a:t> trIpLe therapy</a:t>
            </a:r>
          </a:p>
          <a:p>
            <a:endParaRPr lang="en-GB" dirty="0"/>
          </a:p>
          <a:p>
            <a:pPr marL="171436" indent="-171436">
              <a:buFont typeface="Arial" panose="020B0604020202020204" pitchFamily="34" charset="0"/>
              <a:buChar char="•"/>
            </a:pPr>
            <a:r>
              <a:rPr lang="en-GB" dirty="0"/>
              <a:t>At week 24, there was a significant (</a:t>
            </a:r>
            <a:r>
              <a:rPr lang="en-GB" i="1" dirty="0"/>
              <a:t>P</a:t>
            </a:r>
            <a:r>
              <a:rPr lang="en-GB" dirty="0"/>
              <a:t>&lt;0.001) improvement in lung function (characterised by change from baseline trough FEV</a:t>
            </a:r>
            <a:r>
              <a:rPr lang="en-GB" baseline="-25000" dirty="0"/>
              <a:t>1</a:t>
            </a:r>
            <a:r>
              <a:rPr lang="en-GB" dirty="0"/>
              <a:t>) for patients receiving FF/UMEC/VI compared with those receiving BUD/FOR. </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524524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GB" sz="1200" dirty="0">
                <a:solidFill>
                  <a:schemeClr val="tx1"/>
                </a:solidFill>
              </a:rPr>
              <a:t>COPD Concomitant Medication Combinations Taken at Screening – ITT Population</a:t>
            </a:r>
            <a:br>
              <a:rPr lang="en-GB" sz="1200" dirty="0">
                <a:solidFill>
                  <a:schemeClr val="tx1"/>
                </a:solidFill>
              </a:rPr>
            </a:br>
            <a:r>
              <a:rPr lang="en-GB" sz="1200" dirty="0">
                <a:solidFill>
                  <a:schemeClr val="tx1"/>
                </a:solidFill>
              </a:rPr>
              <a:t>40% of patients under </a:t>
            </a:r>
            <a:r>
              <a:rPr lang="en-GB" sz="1200" dirty="0" err="1">
                <a:solidFill>
                  <a:schemeClr val="tx1"/>
                </a:solidFill>
              </a:rPr>
              <a:t>bitherapy</a:t>
            </a:r>
            <a:r>
              <a:rPr lang="en-GB" sz="1200" dirty="0">
                <a:solidFill>
                  <a:schemeClr val="tx1"/>
                </a:solidFill>
              </a:rPr>
              <a:t> (aligned with SPLF guidelines), 30% already on triple</a:t>
            </a:r>
            <a:endParaRPr lang="fr-FR" dirty="0"/>
          </a:p>
        </p:txBody>
      </p:sp>
      <p:sp>
        <p:nvSpPr>
          <p:cNvPr id="4" name="Espace réservé du numéro de diapositive 3"/>
          <p:cNvSpPr>
            <a:spLocks noGrp="1"/>
          </p:cNvSpPr>
          <p:nvPr>
            <p:ph type="sldNum" sz="quarter" idx="10"/>
          </p:nvPr>
        </p:nvSpPr>
        <p:spPr/>
        <p:txBody>
          <a:bodyPr/>
          <a:lstStyle/>
          <a:p>
            <a:fld id="{026B53C8-14E4-49A7-A1A5-3BF810B81EBE}" type="slidenum">
              <a:rPr lang="en-GB" smtClean="0"/>
              <a:pPr/>
              <a:t>8</a:t>
            </a:fld>
            <a:endParaRPr lang="en-GB"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defTabSz="882213">
              <a:defRPr/>
            </a:pPr>
            <a:endParaRPr lang="en-GB" dirty="0"/>
          </a:p>
          <a:p>
            <a:pPr defTabSz="882213">
              <a:defRPr/>
            </a:pPr>
            <a:r>
              <a:rPr lang="en-US" dirty="0"/>
              <a:t>Similar findings regarding change from baseline in trough FEV1 were observed in the EXT population at Week 52</a:t>
            </a:r>
            <a:r>
              <a:rPr lang="en-GB" dirty="0"/>
              <a:t>. </a:t>
            </a:r>
          </a:p>
          <a:p>
            <a:pPr defTabSz="882213">
              <a:defRPr/>
            </a:pPr>
            <a:r>
              <a:rPr lang="en-US" dirty="0"/>
              <a:t>The mean changes from baseline in trough FEV1 were 126 ml (95% CI, 92 to 159) for FF/UMEC/VI and 253 ml (95% CI, 287 to 220) for BUD/FOR. T</a:t>
            </a:r>
          </a:p>
          <a:p>
            <a:pPr lvl="0"/>
            <a:endParaRPr lang="en-GB" dirty="0"/>
          </a:p>
          <a:p>
            <a:pPr lvl="0"/>
            <a:endParaRPr lang="en-GB" dirty="0"/>
          </a:p>
          <a:p>
            <a:pPr lvl="0"/>
            <a:r>
              <a:rPr lang="en-GB" dirty="0"/>
              <a:t>FULFIL, </a:t>
            </a:r>
            <a:r>
              <a:rPr lang="en-US" dirty="0"/>
              <a:t>lung FUnction and quality of LiFe assessment in COPD with single</a:t>
            </a:r>
            <a:r>
              <a:rPr lang="en-US" baseline="0" dirty="0"/>
              <a:t> inhaler</a:t>
            </a:r>
            <a:r>
              <a:rPr lang="en-US" dirty="0"/>
              <a:t> trIpLe therapy</a:t>
            </a:r>
          </a:p>
          <a:p>
            <a:endParaRPr lang="en-GB" dirty="0"/>
          </a:p>
          <a:p>
            <a:pPr marL="171436" indent="-171436">
              <a:buFont typeface="Arial" panose="020B0604020202020204" pitchFamily="34" charset="0"/>
              <a:buChar char="•"/>
            </a:pPr>
            <a:r>
              <a:rPr lang="en-GB" dirty="0"/>
              <a:t>At week 24, there was a significant (</a:t>
            </a:r>
            <a:r>
              <a:rPr lang="en-GB" i="1" dirty="0"/>
              <a:t>P</a:t>
            </a:r>
            <a:r>
              <a:rPr lang="en-GB" dirty="0"/>
              <a:t>&lt;0.001) improvement in lung function (characterised by change from baseline trough FEV</a:t>
            </a:r>
            <a:r>
              <a:rPr lang="en-GB" baseline="-25000" dirty="0"/>
              <a:t>1</a:t>
            </a:r>
            <a:r>
              <a:rPr lang="en-GB" dirty="0"/>
              <a:t>) for patients receiving FF/UMEC/VI compared with those receiving BUD/FOR. </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970026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defTabSz="882213">
              <a:defRPr/>
            </a:pPr>
            <a:endParaRPr lang="en-GB" dirty="0"/>
          </a:p>
          <a:p>
            <a:pPr defTabSz="882213">
              <a:defRPr/>
            </a:pPr>
            <a:r>
              <a:rPr lang="en-US" dirty="0"/>
              <a:t>Similar findings regarding change from baseline in trough FEV1 were observed in the EXT population at Week 52</a:t>
            </a:r>
            <a:r>
              <a:rPr lang="en-GB" dirty="0"/>
              <a:t>. </a:t>
            </a:r>
          </a:p>
          <a:p>
            <a:pPr defTabSz="882213">
              <a:defRPr/>
            </a:pPr>
            <a:r>
              <a:rPr lang="en-US" dirty="0"/>
              <a:t>The mean changes from baseline in trough FEV1 were 126 ml (95% CI, 92 to 159) for FF/UMEC/VI and 253 ml (95% CI, 287 to 220) for BUD/FOR. T</a:t>
            </a:r>
          </a:p>
          <a:p>
            <a:pPr lvl="0"/>
            <a:endParaRPr lang="en-GB" dirty="0"/>
          </a:p>
          <a:p>
            <a:pPr lvl="0"/>
            <a:endParaRPr lang="en-GB" dirty="0"/>
          </a:p>
          <a:p>
            <a:pPr lvl="0"/>
            <a:r>
              <a:rPr lang="en-GB" dirty="0"/>
              <a:t>FULFIL, </a:t>
            </a:r>
            <a:r>
              <a:rPr lang="en-US" dirty="0"/>
              <a:t>lung FUnction and quality of LiFe assessment in COPD with single</a:t>
            </a:r>
            <a:r>
              <a:rPr lang="en-US" baseline="0" dirty="0"/>
              <a:t> inhaler</a:t>
            </a:r>
            <a:r>
              <a:rPr lang="en-US" dirty="0"/>
              <a:t> trIpLe therapy</a:t>
            </a:r>
          </a:p>
          <a:p>
            <a:endParaRPr lang="en-GB" dirty="0"/>
          </a:p>
          <a:p>
            <a:pPr marL="171436" indent="-171436">
              <a:buFont typeface="Arial" panose="020B0604020202020204" pitchFamily="34" charset="0"/>
              <a:buChar char="•"/>
            </a:pPr>
            <a:r>
              <a:rPr lang="en-GB" dirty="0"/>
              <a:t>At week 24, there was a significant (</a:t>
            </a:r>
            <a:r>
              <a:rPr lang="en-GB" i="1" dirty="0"/>
              <a:t>P</a:t>
            </a:r>
            <a:r>
              <a:rPr lang="en-GB" dirty="0"/>
              <a:t>&lt;0.001) improvement in lung function (characterised by change from baseline trough FEV</a:t>
            </a:r>
            <a:r>
              <a:rPr lang="en-GB" baseline="-25000" dirty="0"/>
              <a:t>1</a:t>
            </a:r>
            <a:r>
              <a:rPr lang="en-GB" dirty="0"/>
              <a:t>) for patients receiving FF/UMEC/VI compared with those receiving BUD/FOR. </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3968802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defTabSz="882213">
              <a:defRPr/>
            </a:pPr>
            <a:endParaRPr lang="en-GB" dirty="0"/>
          </a:p>
          <a:p>
            <a:pPr defTabSz="882213">
              <a:defRPr/>
            </a:pPr>
            <a:r>
              <a:rPr lang="en-US" dirty="0"/>
              <a:t>Similar findings regarding change from baseline in trough FEV1 were observed in the EXT population at Week 52</a:t>
            </a:r>
            <a:r>
              <a:rPr lang="en-GB" dirty="0"/>
              <a:t>. </a:t>
            </a:r>
          </a:p>
          <a:p>
            <a:pPr defTabSz="882213">
              <a:defRPr/>
            </a:pPr>
            <a:r>
              <a:rPr lang="en-US" dirty="0"/>
              <a:t>The mean changes from baseline in trough FEV1 were 126 ml (95% CI, 92 to 159) for FF/UMEC/VI and 253 ml (95% CI, 287 to 220) for BUD/FOR. T</a:t>
            </a:r>
          </a:p>
          <a:p>
            <a:pPr lvl="0"/>
            <a:endParaRPr lang="en-GB" dirty="0"/>
          </a:p>
          <a:p>
            <a:pPr lvl="0"/>
            <a:endParaRPr lang="en-GB" dirty="0"/>
          </a:p>
          <a:p>
            <a:pPr lvl="0"/>
            <a:r>
              <a:rPr lang="en-GB" dirty="0"/>
              <a:t>FULFIL, </a:t>
            </a:r>
            <a:r>
              <a:rPr lang="en-US" dirty="0"/>
              <a:t>lung FUnction and quality of LiFe assessment in COPD with single</a:t>
            </a:r>
            <a:r>
              <a:rPr lang="en-US" baseline="0" dirty="0"/>
              <a:t> inhaler</a:t>
            </a:r>
            <a:r>
              <a:rPr lang="en-US" dirty="0"/>
              <a:t> trIpLe therapy</a:t>
            </a:r>
          </a:p>
          <a:p>
            <a:endParaRPr lang="en-GB" dirty="0"/>
          </a:p>
          <a:p>
            <a:pPr marL="171436" indent="-171436">
              <a:buFont typeface="Arial" panose="020B0604020202020204" pitchFamily="34" charset="0"/>
              <a:buChar char="•"/>
            </a:pPr>
            <a:r>
              <a:rPr lang="en-GB" dirty="0"/>
              <a:t>At week 24, there was a significant (</a:t>
            </a:r>
            <a:r>
              <a:rPr lang="en-GB" i="1" dirty="0"/>
              <a:t>P</a:t>
            </a:r>
            <a:r>
              <a:rPr lang="en-GB" dirty="0"/>
              <a:t>&lt;0.001) improvement in lung function (characterised by change from baseline trough FEV</a:t>
            </a:r>
            <a:r>
              <a:rPr lang="en-GB" baseline="-25000" dirty="0"/>
              <a:t>1</a:t>
            </a:r>
            <a:r>
              <a:rPr lang="en-GB" dirty="0"/>
              <a:t>) for patients receiving FF/UMEC/VI compared with those receiving BUD/FOR. </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5053201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defTabSz="882213">
              <a:defRPr/>
            </a:pPr>
            <a:r>
              <a:rPr lang="en-GB" dirty="0"/>
              <a:t>BUD, budesonide; </a:t>
            </a:r>
            <a:r>
              <a:rPr lang="en-US" dirty="0"/>
              <a:t>CI, confidence interval; </a:t>
            </a:r>
            <a:r>
              <a:rPr lang="en-GB" dirty="0"/>
              <a:t>FF, fluticasone furoate; FOR, formoterol</a:t>
            </a:r>
            <a:r>
              <a:rPr lang="en-US" dirty="0"/>
              <a:t>; ICS, inhaled corticosteroids; LABA, long-acting </a:t>
            </a:r>
            <a:r>
              <a:rPr lang="el-GR" dirty="0"/>
              <a:t>β </a:t>
            </a:r>
            <a:r>
              <a:rPr lang="en-US" dirty="0"/>
              <a:t>adrenoceptor agonists; LS, least squares; </a:t>
            </a:r>
            <a:r>
              <a:rPr lang="en-GB" dirty="0"/>
              <a:t>QoL, quality of life; SGRQ, St. George’s Respiratory Questionnaire</a:t>
            </a:r>
            <a:r>
              <a:rPr lang="en-US" dirty="0"/>
              <a:t>; </a:t>
            </a:r>
            <a:r>
              <a:rPr lang="en-GB" dirty="0"/>
              <a:t>UMEC, umeclidinium; VI, vilanterol</a:t>
            </a:r>
            <a:endParaRPr lang="en-US" dirty="0"/>
          </a:p>
          <a:p>
            <a:pPr lvl="0"/>
            <a:endParaRPr lang="en-GB" dirty="0"/>
          </a:p>
          <a:p>
            <a:pPr lvl="0"/>
            <a:r>
              <a:rPr lang="en-GB" dirty="0"/>
              <a:t>FULFIL, </a:t>
            </a:r>
            <a:r>
              <a:rPr lang="en-US" dirty="0"/>
              <a:t>lung FUnction and quality of LiFe assessment in COPD with single</a:t>
            </a:r>
            <a:r>
              <a:rPr lang="en-US" baseline="0" dirty="0"/>
              <a:t> inhaler</a:t>
            </a:r>
            <a:r>
              <a:rPr lang="en-US" dirty="0"/>
              <a:t> trIpLe therapy</a:t>
            </a:r>
          </a:p>
          <a:p>
            <a:endParaRPr lang="en-GB" dirty="0"/>
          </a:p>
          <a:p>
            <a:pPr marL="171436" indent="-171436">
              <a:buFont typeface="Arial" panose="020B0604020202020204" pitchFamily="34" charset="0"/>
              <a:buChar char="•"/>
            </a:pPr>
            <a:r>
              <a:rPr lang="en-GB" dirty="0"/>
              <a:t>At week 24, patients receiving FF/UMEC/VI reported a significantly improved (</a:t>
            </a:r>
            <a:r>
              <a:rPr lang="en-GB" i="1" dirty="0"/>
              <a:t>P</a:t>
            </a:r>
            <a:r>
              <a:rPr lang="en-GB" dirty="0"/>
              <a:t>&lt;0.001) QoL than those receiving BUD/FOR.</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3813223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endParaRPr lang="en-GB" dirty="0"/>
          </a:p>
          <a:p>
            <a:pPr marL="171436" indent="-171436">
              <a:buFont typeface="Arial" panose="020B0604020202020204" pitchFamily="34" charset="0"/>
              <a:buChar char="•"/>
            </a:pPr>
            <a:r>
              <a:rPr lang="en-GB" dirty="0"/>
              <a:t>The proportion of responders assessed by SGRQ total score up to week 24 was significantly higher with FF/UMEC/VI (50%) than with BUD/FOR (41%; OR 1.41; </a:t>
            </a:r>
            <a:r>
              <a:rPr lang="en-GB" i="1" dirty="0"/>
              <a:t>P</a:t>
            </a:r>
            <a:r>
              <a:rPr lang="en-GB" dirty="0"/>
              <a:t>&lt;0.001).</a:t>
            </a:r>
          </a:p>
          <a:p>
            <a:pPr marL="171436" indent="-171436">
              <a:buFont typeface="Arial" panose="020B0604020202020204" pitchFamily="34" charset="0"/>
              <a:buChar char="•"/>
            </a:pPr>
            <a:r>
              <a:rPr lang="en-GB" dirty="0"/>
              <a:t>A similar trend was also observed at week 52, where more patients receiving single-inhaler triple therapy FF/UMEC/VI were assessed by SGRQ compared with those receiving BUD/FOR (44% vs 33%, respectively). </a:t>
            </a:r>
          </a:p>
          <a:p>
            <a:pPr marL="171436" indent="-171436">
              <a:buFont typeface="Arial" panose="020B0604020202020204" pitchFamily="34" charset="0"/>
              <a:buChar char="•"/>
            </a:pPr>
            <a:r>
              <a:rPr lang="en-GB" dirty="0"/>
              <a:t>As previously mentioned, the LS mean change from baseline total SGRQ score was significantly greater in patients receiving FF/UMEC/VI (–6.6) versus those receiving BUD/FOR (–4.3) (</a:t>
            </a:r>
            <a:r>
              <a:rPr lang="en-GB" i="1" dirty="0"/>
              <a:t>P</a:t>
            </a:r>
            <a:r>
              <a:rPr lang="en-GB" dirty="0"/>
              <a:t>&lt;0.001).</a:t>
            </a:r>
          </a:p>
          <a:p>
            <a:pPr marL="171436" indent="-171436">
              <a:buFont typeface="Arial" panose="020B0604020202020204" pitchFamily="34" charset="0"/>
              <a:buChar char="•"/>
            </a:pPr>
            <a:r>
              <a:rPr lang="en-GB" dirty="0"/>
              <a:t>A numerically greater change in SGRQ total score was also observed at week 52 in patients receiving treatment with FF/UMEC/VI (–4.6) compared with those receiving BUD/FOR (–1.9).</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32490349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endParaRPr lang="en-GB" dirty="0"/>
          </a:p>
          <a:p>
            <a:pPr marL="171436" indent="-171436">
              <a:buFont typeface="Arial" panose="020B0604020202020204" pitchFamily="34" charset="0"/>
              <a:buChar char="•"/>
            </a:pPr>
            <a:r>
              <a:rPr lang="en-GB" dirty="0"/>
              <a:t>The proportion of responders assessed by SGRQ total score up to week 24 was significantly higher with FF/UMEC/VI (50%) than with BUD/FOR (41%; OR 1.41; </a:t>
            </a:r>
            <a:r>
              <a:rPr lang="en-GB" i="1" dirty="0"/>
              <a:t>P</a:t>
            </a:r>
            <a:r>
              <a:rPr lang="en-GB" dirty="0"/>
              <a:t>&lt;0.001).</a:t>
            </a:r>
          </a:p>
          <a:p>
            <a:pPr marL="171436" indent="-171436">
              <a:buFont typeface="Arial" panose="020B0604020202020204" pitchFamily="34" charset="0"/>
              <a:buChar char="•"/>
            </a:pPr>
            <a:r>
              <a:rPr lang="en-GB" dirty="0"/>
              <a:t>A similar trend was also observed at week 52, where more patients receiving single-inhaler triple therapy FF/UMEC/VI were assessed by SGRQ compared with those receiving BUD/FOR (44% vs 33%, respectively). </a:t>
            </a:r>
          </a:p>
          <a:p>
            <a:pPr marL="171436" indent="-171436">
              <a:buFont typeface="Arial" panose="020B0604020202020204" pitchFamily="34" charset="0"/>
              <a:buChar char="•"/>
            </a:pPr>
            <a:r>
              <a:rPr lang="en-GB" dirty="0"/>
              <a:t>As previously mentioned, the LS mean change from baseline total SGRQ score was significantly greater in patients receiving FF/UMEC/VI (–6.6) versus those receiving BUD/FOR (–4.3) (</a:t>
            </a:r>
            <a:r>
              <a:rPr lang="en-GB" i="1" dirty="0"/>
              <a:t>P</a:t>
            </a:r>
            <a:r>
              <a:rPr lang="en-GB" dirty="0"/>
              <a:t>&lt;0.001).</a:t>
            </a:r>
          </a:p>
          <a:p>
            <a:pPr marL="171436" indent="-171436">
              <a:buFont typeface="Arial" panose="020B0604020202020204" pitchFamily="34" charset="0"/>
              <a:buChar char="•"/>
            </a:pPr>
            <a:r>
              <a:rPr lang="en-GB" dirty="0"/>
              <a:t>A numerically greater change in SGRQ total score was also observed at week 52 in patients receiving treatment with FF/UMEC/VI (–4.6) compared with those receiving BUD/FOR (–1.9).</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4885701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dirty="0"/>
          </a:p>
          <a:p>
            <a:pPr marL="171436" indent="-171436">
              <a:buFont typeface="Arial" panose="020B0604020202020204" pitchFamily="34" charset="0"/>
              <a:buChar char="•"/>
            </a:pPr>
            <a:r>
              <a:rPr lang="en-GB" dirty="0"/>
              <a:t>Annual rates of moderate/severe exacerbations were significantly reduced in patients receiving treatment with FF/UMEC/VI versus BUD/FOR at weeks 24 (35% reduction, </a:t>
            </a:r>
            <a:r>
              <a:rPr lang="en-GB" i="1" dirty="0"/>
              <a:t>P</a:t>
            </a:r>
            <a:r>
              <a:rPr lang="en-GB" dirty="0"/>
              <a:t>=0.002) and 52 (44% reduction, </a:t>
            </a:r>
            <a:r>
              <a:rPr lang="en-GB" i="1" dirty="0"/>
              <a:t>P</a:t>
            </a:r>
            <a:r>
              <a:rPr lang="en-GB" dirty="0"/>
              <a:t>=0.006).</a:t>
            </a:r>
          </a:p>
          <a:p>
            <a:pPr marL="171436" indent="-171436">
              <a:buFont typeface="Arial" panose="020B0604020202020204" pitchFamily="34" charset="0"/>
              <a:buChar char="•"/>
            </a:pPr>
            <a:r>
              <a:rPr lang="en-GB" dirty="0"/>
              <a:t>Annual rates of mild/moderate/severe exacerbations were also significantly reduced in patients receiving FF/UMEC/VI, compared with BUD/FOR at weeks 24 (35% reduction, </a:t>
            </a:r>
            <a:r>
              <a:rPr lang="en-GB" i="1" dirty="0"/>
              <a:t>P</a:t>
            </a:r>
            <a:r>
              <a:rPr lang="en-GB" dirty="0"/>
              <a:t>&lt;0.001) and 52 (45% reduction, p=0.003).</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6955339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defTabSz="882213">
              <a:defRPr/>
            </a:pPr>
            <a:r>
              <a:rPr lang="en-GB" dirty="0"/>
              <a:t>BUD, budesonide; COPD, chronic obstructive pulmonary disease; FF, fluticasone furoate; FOR, formoterol; SAE, serious adverse event; UMEC, umeclidinium; </a:t>
            </a:r>
            <a:r>
              <a:rPr lang="en-US" dirty="0"/>
              <a:t>URTI, upper respiratory tract infection; </a:t>
            </a:r>
            <a:r>
              <a:rPr lang="en-GB" dirty="0"/>
              <a:t>VI, vilanterol</a:t>
            </a:r>
            <a:endParaRPr lang="en-US" dirty="0"/>
          </a:p>
          <a:p>
            <a:pPr lvl="0"/>
            <a:r>
              <a:rPr lang="en-GB" dirty="0"/>
              <a:t>FULFIL, </a:t>
            </a:r>
            <a:r>
              <a:rPr lang="en-US" dirty="0"/>
              <a:t>lung FUnction and quality of LiFe assessment in COPD with single</a:t>
            </a:r>
            <a:r>
              <a:rPr lang="en-US" baseline="0" dirty="0"/>
              <a:t> inhaler</a:t>
            </a:r>
            <a:r>
              <a:rPr lang="en-US" dirty="0"/>
              <a:t> trIpLe therapy</a:t>
            </a:r>
          </a:p>
          <a:p>
            <a:endParaRPr lang="en-GB" dirty="0"/>
          </a:p>
          <a:p>
            <a:pPr marL="171436" indent="-171436">
              <a:buFont typeface="Arial" panose="020B0604020202020204" pitchFamily="34" charset="0"/>
              <a:buChar char="•"/>
            </a:pPr>
            <a:r>
              <a:rPr lang="en-GB" dirty="0"/>
              <a:t>The adverse event profile of FF/UMEC/VI reflects the safety findings from the FF/VI and UMEC/VI dual therapy and UMEC monotherapy development programmes in COPD.</a:t>
            </a:r>
          </a:p>
          <a:p>
            <a:pPr marL="171436" indent="-171436">
              <a:buFont typeface="Arial" panose="020B0604020202020204" pitchFamily="34" charset="0"/>
              <a:buChar char="•"/>
            </a:pPr>
            <a:r>
              <a:rPr lang="en-GB" dirty="0"/>
              <a:t>The most common adverse events in both treatment arms were nasopharyngitis, headache and COPD, at weeks 24 and 52.</a:t>
            </a:r>
          </a:p>
          <a:p>
            <a:pPr marL="171436" indent="-171436">
              <a:buFont typeface="Arial" panose="020B0604020202020204" pitchFamily="34" charset="0"/>
              <a:buChar char="•"/>
            </a:pPr>
            <a:r>
              <a:rPr lang="en-GB" dirty="0"/>
              <a:t>At Week 24, the incidences of SAEs for FF/UMEC/VI and BUD/FOR were 5.4% and 5.7%, respectively. At 52 weeks, these incidences were 10% and 12.7%, respectively.</a:t>
            </a:r>
          </a:p>
          <a:p>
            <a:pPr marL="171436" indent="-171436">
              <a:buFont typeface="Arial" panose="020B0604020202020204" pitchFamily="34" charset="0"/>
              <a:buChar char="•"/>
            </a:pPr>
            <a:r>
              <a:rPr lang="en-GB" dirty="0"/>
              <a:t>Less than 1% of the SAEs were drug-related and there were no drug-related deaths.</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139478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GB" dirty="0"/>
              <a:t>BUD, budesonide; COPD, chronic obstructive pulmonary disease; FF, fluticasone furoate; FOR, formoterol; </a:t>
            </a:r>
            <a:br>
              <a:rPr lang="en-GB" dirty="0"/>
            </a:br>
            <a:r>
              <a:rPr lang="en-US" dirty="0"/>
              <a:t>LRTI, lower respiratory tract infection;</a:t>
            </a:r>
            <a:r>
              <a:rPr lang="en-GB" dirty="0"/>
              <a:t> UMEC, umeclidinium; VI, vilanterol; FULFIL, </a:t>
            </a:r>
            <a:r>
              <a:rPr lang="en-US" dirty="0"/>
              <a:t>lung FUnction and quality of LiFe assessment in COPD with single</a:t>
            </a:r>
            <a:r>
              <a:rPr lang="en-US" baseline="0" dirty="0"/>
              <a:t> inhaler</a:t>
            </a:r>
            <a:r>
              <a:rPr lang="en-US" dirty="0"/>
              <a:t> trIpLe therapy</a:t>
            </a:r>
          </a:p>
          <a:p>
            <a:endParaRPr lang="en-GB" dirty="0"/>
          </a:p>
          <a:p>
            <a:pPr marL="171436" indent="-171436">
              <a:buFont typeface="Arial" panose="020B0604020202020204" pitchFamily="34" charset="0"/>
              <a:buChar char="•"/>
            </a:pPr>
            <a:r>
              <a:rPr lang="en-GB" dirty="0"/>
              <a:t>The incidence of pneumonia events was higher in the FF/UMEC/VI arm than in the BUD/FOR arm at 24 weeks; there was no difference in incidence of pneumonia between the two arms at 52 weeks. </a:t>
            </a:r>
          </a:p>
          <a:p>
            <a:pPr marL="171436" indent="-171436">
              <a:buFont typeface="Arial" panose="020B0604020202020204" pitchFamily="34" charset="0"/>
              <a:buChar char="•"/>
            </a:pPr>
            <a:r>
              <a:rPr lang="en-GB" dirty="0"/>
              <a:t>At 24 weeks, the incidence of adjudicated serious, non-fatal COPD exacerbations was 1.5% for FF/UMEC/VI and 2.4% for BUD/FOR.</a:t>
            </a:r>
          </a:p>
          <a:p>
            <a:pPr marL="628599" lvl="1" indent="-171436">
              <a:buFont typeface="Arial" panose="020B0604020202020204" pitchFamily="34" charset="0"/>
              <a:buChar char="•"/>
            </a:pPr>
            <a:r>
              <a:rPr lang="en-GB" dirty="0"/>
              <a:t>Of these, 0.4% and 0.3%, respectively, occurred with evidence of pneumonia.</a:t>
            </a:r>
          </a:p>
          <a:p>
            <a:pPr marL="171436" indent="-171436">
              <a:buFont typeface="Arial" panose="020B0604020202020204" pitchFamily="34" charset="0"/>
              <a:buChar char="•"/>
            </a:pPr>
            <a:r>
              <a:rPr lang="en-GB" dirty="0"/>
              <a:t>At 24 weeks, the incidence of adjudicated serious, non-fatal pneumonia without COPD exacerbation was 0.9% for FF/UMEC/VI and 0.3% for BUD/FOR.</a:t>
            </a:r>
          </a:p>
          <a:p>
            <a:endParaRPr lang="en-GB"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3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300" b="0" i="0" u="none" strike="noStrike" kern="1200" cap="none" spc="0" normalizeH="0" baseline="0" noProof="0" dirty="0">
              <a:ln>
                <a:noFill/>
              </a:ln>
              <a:solidFill>
                <a:prstClr val="black"/>
              </a:solidFill>
              <a:effectLst/>
              <a:uLnTx/>
              <a:uFillTx/>
              <a:latin typeface="Calibri"/>
              <a:ea typeface="+mn-ea"/>
              <a:cs typeface="+mn-cs"/>
            </a:endParaRPr>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35808274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171436" indent="-171436">
              <a:buFont typeface="Arial" panose="020B0604020202020204" pitchFamily="34" charset="0"/>
              <a:buChar char="•"/>
            </a:pPr>
            <a:endParaRPr lang="en-US" dirty="0"/>
          </a:p>
        </p:txBody>
      </p:sp>
      <p:sp>
        <p:nvSpPr>
          <p:cNvPr id="5" name="Slide Image Placeholder 4"/>
          <p:cNvSpPr>
            <a:spLocks noGrp="1" noRot="1" noChangeAspect="1"/>
          </p:cNvSpPr>
          <p:nvPr>
            <p:ph type="sldImg"/>
          </p:nvPr>
        </p:nvSpPr>
        <p:spPr/>
      </p:sp>
    </p:spTree>
    <p:extLst>
      <p:ext uri="{BB962C8B-B14F-4D97-AF65-F5344CB8AC3E}">
        <p14:creationId xmlns:p14="http://schemas.microsoft.com/office/powerpoint/2010/main" val="25777981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10"/>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026B53C8-14E4-49A7-A1A5-3BF810B81EBE}" type="slidenum">
              <a:rPr kumimoji="0" lang="en-GB"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srgbClr val="000000"/>
              </a:solidFill>
              <a:effectLst/>
              <a:uLnTx/>
              <a:uFillTx/>
              <a:latin typeface="Arial" panose="020B0604020202020204" pitchFamily="34" charset="0"/>
              <a:ea typeface="+mn-ea"/>
              <a:cs typeface="Noto Sans"/>
            </a:endParaRPr>
          </a:p>
        </p:txBody>
      </p:sp>
    </p:spTree>
    <p:extLst>
      <p:ext uri="{BB962C8B-B14F-4D97-AF65-F5344CB8AC3E}">
        <p14:creationId xmlns:p14="http://schemas.microsoft.com/office/powerpoint/2010/main" val="3243590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DA9FCD-D547-4516-828C-98A63C4A9D7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067890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9.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3.png"/><Relationship Id="rId7" Type="http://schemas.openxmlformats.org/officeDocument/2006/relationships/image" Target="../media/image5.svg"/><Relationship Id="rId2" Type="http://schemas.openxmlformats.org/officeDocument/2006/relationships/slideMaster" Target="../slideMasters/slideMaster2.xml"/><Relationship Id="rId1" Type="http://schemas.openxmlformats.org/officeDocument/2006/relationships/tags" Target="../tags/tag11.xml"/><Relationship Id="rId6" Type="http://schemas.openxmlformats.org/officeDocument/2006/relationships/image" Target="../media/image4.png"/><Relationship Id="rId5" Type="http://schemas.openxmlformats.org/officeDocument/2006/relationships/image" Target="../media/image13.emf"/><Relationship Id="rId4" Type="http://schemas.openxmlformats.org/officeDocument/2006/relationships/oleObject" Target="../embeddings/oleObject2.bin"/></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15.svg"/><Relationship Id="rId2" Type="http://schemas.openxmlformats.org/officeDocument/2006/relationships/slideMaster" Target="../slideMasters/slideMaster2.xml"/><Relationship Id="rId1" Type="http://schemas.openxmlformats.org/officeDocument/2006/relationships/tags" Target="../tags/tag12.xml"/><Relationship Id="rId6" Type="http://schemas.openxmlformats.org/officeDocument/2006/relationships/image" Target="../media/image6.png"/><Relationship Id="rId5" Type="http://schemas.openxmlformats.org/officeDocument/2006/relationships/image" Target="../media/image14.png"/><Relationship Id="rId4" Type="http://schemas.openxmlformats.org/officeDocument/2006/relationships/image" Target="../media/image13.emf"/></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2.xml"/><Relationship Id="rId1" Type="http://schemas.openxmlformats.org/officeDocument/2006/relationships/tags" Target="../tags/tag13.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xml"/></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6.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7.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8.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13.emf"/></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2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3.emf"/></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jpg"/><Relationship Id="rId7" Type="http://schemas.openxmlformats.org/officeDocument/2006/relationships/image" Target="../media/image2.svg"/><Relationship Id="rId2" Type="http://schemas.openxmlformats.org/officeDocument/2006/relationships/slideMaster" Target="../slideMasters/slideMaster2.xml"/><Relationship Id="rId1" Type="http://schemas.openxmlformats.org/officeDocument/2006/relationships/tags" Target="../tags/tag22.xml"/><Relationship Id="rId6" Type="http://schemas.openxmlformats.org/officeDocument/2006/relationships/image" Target="../media/image1.png"/><Relationship Id="rId5" Type="http://schemas.openxmlformats.org/officeDocument/2006/relationships/image" Target="../media/image13.emf"/><Relationship Id="rId4" Type="http://schemas.openxmlformats.org/officeDocument/2006/relationships/oleObject" Target="../embeddings/oleObject5.bin"/></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1.jpg"/><Relationship Id="rId7" Type="http://schemas.openxmlformats.org/officeDocument/2006/relationships/image" Target="../media/image9.svg"/><Relationship Id="rId2" Type="http://schemas.openxmlformats.org/officeDocument/2006/relationships/slideMaster" Target="../slideMasters/slideMaster2.xml"/><Relationship Id="rId1" Type="http://schemas.openxmlformats.org/officeDocument/2006/relationships/tags" Target="../tags/tag23.xml"/><Relationship Id="rId6" Type="http://schemas.openxmlformats.org/officeDocument/2006/relationships/image" Target="../media/image8.png"/><Relationship Id="rId5" Type="http://schemas.openxmlformats.org/officeDocument/2006/relationships/image" Target="../media/image13.emf"/><Relationship Id="rId4" Type="http://schemas.openxmlformats.org/officeDocument/2006/relationships/oleObject" Target="../embeddings/oleObject6.bin"/></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Master" Target="../slideMasters/slideMaster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9.sv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3D179B60-1587-941E-A723-1C3CC5C0E0E2}"/>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7" name="Title 1"/>
          <p:cNvSpPr>
            <a:spLocks noGrp="1"/>
          </p:cNvSpPr>
          <p:nvPr>
            <p:ph type="ctrTitle" hasCustomPrompt="1"/>
          </p:nvPr>
        </p:nvSpPr>
        <p:spPr>
          <a:xfrm>
            <a:off x="520700" y="5010784"/>
            <a:ext cx="11150600" cy="548009"/>
          </a:xfrm>
          <a:prstGeom prst="rect">
            <a:avLst/>
          </a:prstGeom>
        </p:spPr>
        <p:txBody>
          <a:bodyPr anchor="b" anchorCtr="0">
            <a:normAutofit/>
          </a:bodyPr>
          <a:lstStyle>
            <a:lvl1pPr>
              <a:lnSpc>
                <a:spcPct val="100000"/>
              </a:lnSpc>
              <a:defRPr sz="3600">
                <a:solidFill>
                  <a:schemeClr val="bg1"/>
                </a:solidFill>
              </a:defRPr>
            </a:lvl1pPr>
          </a:lstStyle>
          <a:p>
            <a:r>
              <a:rPr lang="en-GB" dirty="0"/>
              <a:t>Click to enter presentation title</a:t>
            </a:r>
          </a:p>
        </p:txBody>
      </p:sp>
      <p:sp>
        <p:nvSpPr>
          <p:cNvPr id="20" name="Subtitle 2"/>
          <p:cNvSpPr>
            <a:spLocks noGrp="1"/>
          </p:cNvSpPr>
          <p:nvPr>
            <p:ph type="subTitle" idx="1" hasCustomPrompt="1"/>
          </p:nvPr>
        </p:nvSpPr>
        <p:spPr>
          <a:xfrm>
            <a:off x="520700" y="5558794"/>
            <a:ext cx="11150600" cy="475200"/>
          </a:xfrm>
          <a:prstGeom prst="rect">
            <a:avLst/>
          </a:prstGeom>
        </p:spPr>
        <p:txBody>
          <a:bodyPr wrap="square" lIns="0" tIns="0" rIns="0" bIns="0" anchor="t" anchorCtr="0">
            <a:norm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094470" y="243283"/>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bg1"/>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11" name="Graphic 10">
            <a:extLst>
              <a:ext uri="{FF2B5EF4-FFF2-40B4-BE49-F238E27FC236}">
                <a16:creationId xmlns:a16="http://schemas.microsoft.com/office/drawing/2014/main" id="{6CD1A09A-E74F-DDD9-A7A4-4FD32035ACFA}"/>
              </a:ext>
            </a:extLst>
          </p:cNvPr>
          <p:cNvPicPr>
            <a:picLocks noChangeAspect="1"/>
          </p:cNvPicPr>
          <p:nvPr userDrawn="1"/>
        </p:nvPicPr>
        <p:blipFill>
          <a:blip r:embed="rId5" cstate="print">
            <a:lum bright="100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44399" y="2100263"/>
            <a:ext cx="5303202" cy="1598612"/>
          </a:xfrm>
          <a:prstGeom prst="rect">
            <a:avLst/>
          </a:prstGeom>
        </p:spPr>
      </p:pic>
    </p:spTree>
    <p:extLst>
      <p:ext uri="{BB962C8B-B14F-4D97-AF65-F5344CB8AC3E}">
        <p14:creationId xmlns:p14="http://schemas.microsoft.com/office/powerpoint/2010/main" val="3665715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DC8841-B149-2334-AF59-5558F485A757}"/>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chemeClr val="tx2"/>
                </a:solidFill>
                <a:latin typeface="+mn-lt"/>
              </a:rPr>
              <a:t>gsk.com</a:t>
            </a:r>
          </a:p>
        </p:txBody>
      </p:sp>
      <p:pic>
        <p:nvPicPr>
          <p:cNvPr id="3" name="Graphic 2">
            <a:extLst>
              <a:ext uri="{FF2B5EF4-FFF2-40B4-BE49-F238E27FC236}">
                <a16:creationId xmlns:a16="http://schemas.microsoft.com/office/drawing/2014/main" id="{E4C205A4-821A-253A-297E-0360320A4D5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094470" y="243283"/>
            <a:ext cx="159543" cy="159543"/>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sp>
        <p:nvSpPr>
          <p:cNvPr id="12" name="Freeform: Shape 11">
            <a:extLst>
              <a:ext uri="{FF2B5EF4-FFF2-40B4-BE49-F238E27FC236}">
                <a16:creationId xmlns:a16="http://schemas.microsoft.com/office/drawing/2014/main" id="{458F29C9-8F7E-1D4B-3005-616565FA775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anchor="b" anchorCtr="0">
            <a:normAutofit/>
          </a:bodyPr>
          <a:lstStyle>
            <a:lvl1pPr>
              <a:lnSpc>
                <a:spcPct val="100000"/>
              </a:lnSpc>
              <a:defRPr sz="3600">
                <a:solidFill>
                  <a:schemeClr val="tx2"/>
                </a:solidFill>
              </a:defRPr>
            </a:lvl1pPr>
          </a:lstStyle>
          <a:p>
            <a:r>
              <a:rPr lang="en-GB" dirty="0"/>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rm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pic>
        <p:nvPicPr>
          <p:cNvPr id="9" name="Graphic 8">
            <a:extLst>
              <a:ext uri="{FF2B5EF4-FFF2-40B4-BE49-F238E27FC236}">
                <a16:creationId xmlns:a16="http://schemas.microsoft.com/office/drawing/2014/main" id="{9D62EFE5-F00A-570F-E85D-A9685EA9184F}"/>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444399" y="2100263"/>
            <a:ext cx="5303202" cy="1598612"/>
          </a:xfrm>
          <a:prstGeom prst="rect">
            <a:avLst/>
          </a:prstGeom>
        </p:spPr>
      </p:pic>
    </p:spTree>
    <p:extLst>
      <p:ext uri="{BB962C8B-B14F-4D97-AF65-F5344CB8AC3E}">
        <p14:creationId xmlns:p14="http://schemas.microsoft.com/office/powerpoint/2010/main" val="385931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rmAutofit/>
          </a:bodyPr>
          <a:lstStyle>
            <a:lvl1pPr marL="0" indent="0">
              <a:buFont typeface="+mj-lt"/>
              <a:buNone/>
              <a:defRPr sz="1200"/>
            </a:lvl1pPr>
            <a:lvl2pPr marL="357542" indent="0">
              <a:buNone/>
              <a:defRPr/>
            </a:lvl2pPr>
          </a:lstStyle>
          <a:p>
            <a:pPr lvl="0"/>
            <a:r>
              <a:rPr lang="en-US" dirty="0"/>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52" name="Freeform: Shape 51">
            <a:extLst>
              <a:ext uri="{FF2B5EF4-FFF2-40B4-BE49-F238E27FC236}">
                <a16:creationId xmlns:a16="http://schemas.microsoft.com/office/drawing/2014/main" id="{4E683597-5ADE-F2A0-A01C-FD8E476ABB8B}"/>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0" name="Rectangle 19">
            <a:extLst>
              <a:ext uri="{FF2B5EF4-FFF2-40B4-BE49-F238E27FC236}">
                <a16:creationId xmlns:a16="http://schemas.microsoft.com/office/drawing/2014/main" id="{165F316B-6E9C-D66E-FE22-B16477918817}"/>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chemeClr val="tx2"/>
                </a:solidFill>
                <a:latin typeface="+mn-lt"/>
              </a:rPr>
              <a:t>gsk.com</a:t>
            </a:r>
          </a:p>
        </p:txBody>
      </p:sp>
      <p:pic>
        <p:nvPicPr>
          <p:cNvPr id="21" name="Graphic 20">
            <a:extLst>
              <a:ext uri="{FF2B5EF4-FFF2-40B4-BE49-F238E27FC236}">
                <a16:creationId xmlns:a16="http://schemas.microsoft.com/office/drawing/2014/main" id="{7E4B35B0-1B56-815F-BA6C-0E89CBE6AA6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1094470" y="243283"/>
            <a:ext cx="159543" cy="159543"/>
          </a:xfrm>
          <a:prstGeom prst="rect">
            <a:avLst/>
          </a:prstGeom>
        </p:spPr>
      </p:pic>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32" name="Graphic 31">
            <a:extLst>
              <a:ext uri="{FF2B5EF4-FFF2-40B4-BE49-F238E27FC236}">
                <a16:creationId xmlns:a16="http://schemas.microsoft.com/office/drawing/2014/main" id="{8B53D05A-F4B0-150E-FE9F-AB4DED266762}"/>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44399" y="2100263"/>
            <a:ext cx="5303202" cy="1598612"/>
          </a:xfrm>
          <a:prstGeom prst="rect">
            <a:avLst/>
          </a:prstGeom>
        </p:spPr>
      </p:pic>
    </p:spTree>
    <p:custDataLst>
      <p:tags r:id="rId1"/>
    </p:custDataLst>
    <p:extLst>
      <p:ext uri="{BB962C8B-B14F-4D97-AF65-F5344CB8AC3E}">
        <p14:creationId xmlns:p14="http://schemas.microsoft.com/office/powerpoint/2010/main" val="1901832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r>
              <a:rPr lang="en-GB"/>
              <a:t>For Internal Use Only</a:t>
            </a:r>
            <a:endParaRPr lang="en-GB" dirty="0"/>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endParaRPr lang="en-GB" dirty="0"/>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dirty="0"/>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dirty="0"/>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25" name="Rectangle 24">
            <a:extLst>
              <a:ext uri="{FF2B5EF4-FFF2-40B4-BE49-F238E27FC236}">
                <a16:creationId xmlns:a16="http://schemas.microsoft.com/office/drawing/2014/main" id="{1BD6FC89-B057-E6C5-C8EA-1FC8CB31B6CA}"/>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dirty="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userDrawn="1">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Does XXX have further input on the proposals set out or require additional information?</a:t>
            </a:r>
            <a:br>
              <a:rPr lang="en-US" dirty="0"/>
            </a:br>
            <a:r>
              <a:rPr lang="en-US" dirty="0"/>
              <a:t>Is XXX supportive of the recommendation to x, y, z?</a:t>
            </a:r>
            <a:br>
              <a:rPr lang="en-US" dirty="0"/>
            </a:br>
            <a:r>
              <a:rPr lang="en-US" dirty="0"/>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rm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rmAutofit/>
          </a:bodyPr>
          <a:lstStyle>
            <a:lvl1pPr marL="0" indent="0">
              <a:spcBef>
                <a:spcPts val="0"/>
              </a:spcBef>
              <a:spcAft>
                <a:spcPts val="0"/>
              </a:spcAft>
              <a:buSzPct val="100000"/>
              <a:buFont typeface="+mj-lt"/>
              <a:buNone/>
              <a:defRPr sz="1200"/>
            </a:lvl1pPr>
            <a:lvl2pPr marL="357542" indent="0">
              <a:buNone/>
              <a:defRPr/>
            </a:lvl2pPr>
          </a:lstStyle>
          <a:p>
            <a:pPr lvl="0"/>
            <a:r>
              <a:rPr lang="en-US" dirty="0"/>
              <a:t>Single person accountable for this topic / paper</a:t>
            </a:r>
          </a:p>
        </p:txBody>
      </p:sp>
    </p:spTree>
    <p:custDataLst>
      <p:tags r:id="rId1"/>
    </p:custDataLst>
    <p:extLst>
      <p:ext uri="{BB962C8B-B14F-4D97-AF65-F5344CB8AC3E}">
        <p14:creationId xmlns:p14="http://schemas.microsoft.com/office/powerpoint/2010/main" val="3562571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endParaRPr lang="en-GB" dirty="0"/>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r>
              <a:rPr lang="en-GB"/>
              <a:t>For Internal Use Only</a:t>
            </a:r>
            <a:endParaRPr lang="en-GB" dirty="0"/>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1800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dirty="0"/>
              <a:t>Agenda point 1, add text here.</a:t>
            </a:r>
            <a:br>
              <a:rPr lang="en-GB" dirty="0"/>
            </a:br>
            <a:r>
              <a:rPr lang="en-GB" dirty="0"/>
              <a:t>Agenda point 2, add text here.</a:t>
            </a:r>
            <a:br>
              <a:rPr lang="en-GB" dirty="0"/>
            </a:br>
            <a:r>
              <a:rPr lang="en-GB" dirty="0"/>
              <a:t>Agenda point 3, add text here.</a:t>
            </a:r>
            <a:br>
              <a:rPr lang="en-GB" dirty="0"/>
            </a:br>
            <a:r>
              <a:rPr lang="en-GB" dirty="0"/>
              <a:t>Agenda point 4, add text here.</a:t>
            </a:r>
            <a:br>
              <a:rPr lang="en-GB" dirty="0"/>
            </a:br>
            <a:r>
              <a:rPr lang="en-GB" dirty="0"/>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680473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endParaRPr lang="en-GB" dirty="0"/>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r>
              <a:rPr lang="en-GB"/>
              <a:t>For Internal Use Only</a:t>
            </a:r>
            <a:endParaRPr lang="en-GB" dirty="0"/>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314054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endParaRPr lang="en-GB" dirty="0"/>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r>
              <a:rPr lang="en-GB"/>
              <a:t>For Internal Use Only</a:t>
            </a:r>
            <a:endParaRPr lang="en-GB" dirty="0"/>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0" tIns="180000" rIns="0" bIns="180000">
            <a:noAutofit/>
          </a:bodyPr>
          <a:lstStyle>
            <a:lvl1pPr>
              <a:defRPr/>
            </a:lvl1pPr>
          </a:lstStyle>
          <a:p>
            <a:pPr lvl="0"/>
            <a:r>
              <a:rPr lang="en-US" dirty="0"/>
              <a:t>Click to enter TEXT content ONLY. </a:t>
            </a:r>
            <a:br>
              <a:rPr lang="en-US" dirty="0"/>
            </a:br>
            <a:r>
              <a:rPr lang="en-US" dirty="0"/>
              <a:t>If text content appears too large please reduce the size of this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317225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dirty="0"/>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endParaRPr lang="en-GB" dirty="0"/>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r>
              <a:rPr lang="en-GB"/>
              <a:t>For Internal Use Only</a:t>
            </a:r>
            <a:endParaRPr lang="en-GB" dirty="0"/>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dirty="0"/>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dirty="0"/>
              <a:t>Click to edit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512332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585"/>
            </a:avLst>
          </a:prstGeom>
          <a:solidFill>
            <a:schemeClr val="bg1">
              <a:lumMod val="95000"/>
            </a:schemeClr>
          </a:solidFill>
          <a:ln>
            <a:noFill/>
          </a:ln>
        </p:spPr>
        <p:txBody>
          <a:bodyPr wrap="square">
            <a:noAutofit/>
          </a:bodyPr>
          <a:lstStyle>
            <a:lvl1pPr>
              <a:defRPr/>
            </a:lvl1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r>
              <a:rPr lang="en-GB"/>
              <a:t>For Internal Use Only</a:t>
            </a:r>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706052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365125" y="1303338"/>
            <a:ext cx="3652838" cy="4477804"/>
          </a:xfrm>
          <a:prstGeom prst="roundRect">
            <a:avLst>
              <a:gd name="adj" fmla="val 4585"/>
            </a:avLst>
          </a:prstGeom>
          <a:solidFill>
            <a:schemeClr val="tx2"/>
          </a:solidFill>
          <a:ln>
            <a:noFill/>
          </a:ln>
        </p:spPr>
        <p:txBody>
          <a:bodyPr wrap="square">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r>
              <a:rPr lang="en-GB"/>
              <a:t>For Internal Use Only</a:t>
            </a:r>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25200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Freeform: Shape 13">
            <a:extLst>
              <a:ext uri="{FF2B5EF4-FFF2-40B4-BE49-F238E27FC236}">
                <a16:creationId xmlns:a16="http://schemas.microsoft.com/office/drawing/2014/main" id="{17107491-B576-4FBA-DF55-410D54CA7B16}"/>
              </a:ext>
            </a:extLst>
          </p:cNvPr>
          <p:cNvSpPr/>
          <p:nvPr userDrawn="1"/>
        </p:nvSpPr>
        <p:spPr>
          <a:xfrm>
            <a:off x="4017963" y="1820564"/>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238325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253"/>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endParaRPr lang="en-GB" dirty="0"/>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dirty="0"/>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532525" y="1454538"/>
            <a:ext cx="52668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391644" y="1454538"/>
            <a:ext cx="52650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618036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818"/>
            </a:avLst>
          </a:prstGeom>
          <a:solidFill>
            <a:schemeClr val="bg1">
              <a:lumMod val="95000"/>
            </a:schemeClr>
          </a:solidFill>
          <a:ln>
            <a:noFill/>
          </a:ln>
        </p:spPr>
        <p:txBody>
          <a:bodyPr lIns="108000" tIns="1008000">
            <a:normAutofit/>
          </a:bodyPr>
          <a:lstStyle>
            <a:lvl1pPr marL="0" indent="0" algn="ctr">
              <a:buNone/>
              <a:defRPr sz="2200" baseline="0">
                <a:solidFill>
                  <a:schemeClr val="tx1"/>
                </a:solidFill>
              </a:defRPr>
            </a:lvl1pPr>
          </a:lstStyle>
          <a:p>
            <a:r>
              <a:rPr lang="en-GB" dirty="0"/>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endParaRPr lang="en-GB" dirty="0"/>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dirty="0"/>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15" name="Freeform: Shape 14">
            <a:extLst>
              <a:ext uri="{FF2B5EF4-FFF2-40B4-BE49-F238E27FC236}">
                <a16:creationId xmlns:a16="http://schemas.microsoft.com/office/drawing/2014/main" id="{73180677-148E-F381-0168-9327D51EF5C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851349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dirty="0"/>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727"/>
            </a:avLst>
          </a:prstGeom>
          <a:solidFill>
            <a:schemeClr val="bg1">
              <a:lumMod val="95000"/>
            </a:schemeClr>
          </a:solidFill>
          <a:ln>
            <a:noFill/>
          </a:ln>
        </p:spPr>
        <p:txBody>
          <a:bodyPr lIns="108000" tIns="108000" bIns="1224000" anchor="ctr">
            <a:normAutofit/>
          </a:bodyPr>
          <a:lstStyle>
            <a:lvl1pPr marL="0" indent="0" algn="ctr">
              <a:buNone/>
              <a:defRPr sz="2200" i="0" baseline="0">
                <a:solidFill>
                  <a:schemeClr val="tx1"/>
                </a:solidFill>
              </a:defRPr>
            </a:lvl1pPr>
          </a:lstStyle>
          <a:p>
            <a:r>
              <a:rPr lang="en-GB" dirty="0"/>
              <a:t>[Click on the film icon to insert video]</a:t>
            </a:r>
          </a:p>
        </p:txBody>
      </p:sp>
    </p:spTree>
    <p:extLst>
      <p:ext uri="{BB962C8B-B14F-4D97-AF65-F5344CB8AC3E}">
        <p14:creationId xmlns:p14="http://schemas.microsoft.com/office/powerpoint/2010/main" val="259932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4782"/>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r>
              <a:rPr lang="en-GB" dirty="0"/>
              <a:t>[The image can then be scaled within the frame by using the ‘Crop’ feature in the ‘Picture Format’ tab of the ribbon.</a:t>
            </a:r>
            <a:r>
              <a:rPr lang="en-US" dirty="0"/>
              <a:t> Right click on image to add/edit alt text</a:t>
            </a:r>
            <a:r>
              <a:rPr lang="en-GB" dirty="0"/>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For Internal Use Only</a:t>
            </a:r>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90162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and Text 2">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489211"/>
                </a:lnTo>
                <a:lnTo>
                  <a:pt x="26638" y="1402309"/>
                </a:lnTo>
                <a:cubicBezTo>
                  <a:pt x="160159" y="1094053"/>
                  <a:pt x="469438" y="948270"/>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1240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602049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For Internal Use Only</a:t>
            </a:r>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110501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For Internal Use Only</a:t>
            </a:r>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dirty="0"/>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26319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0" tIns="72000" rIns="0" bIns="72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dirty="0"/>
              <a:t>Click to edit subheading text</a:t>
            </a:r>
            <a:endParaRPr lang="en-GB" dirty="0"/>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124558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endParaRPr lang="en-GB" dirty="0"/>
          </a:p>
        </p:txBody>
      </p:sp>
      <p:sp>
        <p:nvSpPr>
          <p:cNvPr id="7" name="Footer Placeholder 6"/>
          <p:cNvSpPr>
            <a:spLocks noGrp="1"/>
          </p:cNvSpPr>
          <p:nvPr>
            <p:ph type="ftr" sz="quarter" idx="31"/>
          </p:nvPr>
        </p:nvSpPr>
        <p:spPr/>
        <p:txBody>
          <a:bodyPr/>
          <a:lstStyle>
            <a:lvl1pPr>
              <a:defRPr/>
            </a:lvl1pPr>
          </a:lstStyle>
          <a:p>
            <a:r>
              <a:rPr lang="en-GB"/>
              <a:t>For Internal Use Only</a:t>
            </a:r>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12721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rm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rm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endParaRPr lang="en-GB" dirty="0"/>
          </a:p>
        </p:txBody>
      </p:sp>
      <p:sp>
        <p:nvSpPr>
          <p:cNvPr id="7" name="Footer Placeholder 6"/>
          <p:cNvSpPr>
            <a:spLocks noGrp="1"/>
          </p:cNvSpPr>
          <p:nvPr>
            <p:ph type="ftr" sz="quarter" idx="31"/>
          </p:nvPr>
        </p:nvSpPr>
        <p:spPr/>
        <p:txBody>
          <a:bodyPr/>
          <a:lstStyle>
            <a:lvl1pPr>
              <a:defRPr/>
            </a:lvl1pPr>
          </a:lstStyle>
          <a:p>
            <a:r>
              <a:rPr lang="en-GB"/>
              <a:t>For Internal Use Only</a:t>
            </a:r>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6607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0" rIns="0">
            <a:noAutofit/>
          </a:bodyPr>
          <a:lstStyle>
            <a:lvl1pPr>
              <a:defRPr/>
            </a:lvl1pPr>
          </a:lstStyle>
          <a:p>
            <a:r>
              <a:rPr lang="en-GB" dirty="0"/>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059827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0" rIns="0">
            <a:noAutofit/>
          </a:bodyPr>
          <a:lstStyle>
            <a:lvl1pPr>
              <a:defRPr/>
            </a:lvl1pPr>
          </a:lstStyle>
          <a:p>
            <a:r>
              <a:rPr lang="en-GB" dirty="0"/>
              <a:t>Click CHART icons to insert chart.</a:t>
            </a:r>
            <a:br>
              <a:rPr lang="en-GB" dirty="0"/>
            </a:br>
            <a:r>
              <a:rPr lang="en-US" dirty="0"/>
              <a:t>Please ensure your chart title, legend, x and y axis titles are minimum 12 </a:t>
            </a:r>
            <a:r>
              <a:rPr lang="en-US" dirty="0" err="1"/>
              <a:t>pt</a:t>
            </a:r>
            <a:r>
              <a:rPr lang="en-US" dirty="0"/>
              <a:t>, Arial black for accessibility. </a:t>
            </a:r>
          </a:p>
          <a:p>
            <a:endParaRPr lang="en-GB" dirty="0"/>
          </a:p>
          <a:p>
            <a:endParaRPr lang="en-GB" dirty="0"/>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987482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r>
              <a:rPr lang="en-GB"/>
              <a:t>For Internal Use Only</a:t>
            </a:r>
            <a:endParaRPr lang="en-GB" dirty="0"/>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endParaRPr lang="en-GB" dirty="0"/>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14041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endParaRPr lang="en-GB" dirty="0"/>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r>
              <a:rPr lang="en-GB"/>
              <a:t>For Internal Use Only</a:t>
            </a:r>
            <a:endParaRPr lang="en-GB" dirty="0"/>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dirty="0"/>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72000" rIns="0" bIns="72000" anchor="b">
            <a:noAutofit/>
          </a:bodyPr>
          <a:lstStyle>
            <a:lvl1pPr marL="0" indent="0">
              <a:buNone/>
              <a:defRPr sz="12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pic>
        <p:nvPicPr>
          <p:cNvPr id="6" name="Graphic 5">
            <a:extLst>
              <a:ext uri="{FF2B5EF4-FFF2-40B4-BE49-F238E27FC236}">
                <a16:creationId xmlns:a16="http://schemas.microsoft.com/office/drawing/2014/main" id="{A8F5241F-6CBA-AE82-8AEE-138E90E20FA2}"/>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219299" y="6191252"/>
            <a:ext cx="1215582" cy="563804"/>
          </a:xfrm>
          <a:prstGeom prst="rect">
            <a:avLst/>
          </a:prstGeom>
        </p:spPr>
      </p:pic>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517228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endParaRPr lang="en-GB" dirty="0"/>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r>
              <a:rPr lang="en-GB"/>
              <a:t>For Internal Use Only</a:t>
            </a:r>
            <a:endParaRPr lang="en-GB" dirty="0"/>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Tree>
    <p:extLst>
      <p:ext uri="{BB962C8B-B14F-4D97-AF65-F5344CB8AC3E}">
        <p14:creationId xmlns:p14="http://schemas.microsoft.com/office/powerpoint/2010/main" val="144822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a:norm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rm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3239966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a:normAutofit/>
          </a:bodyPr>
          <a:lstStyle>
            <a:lvl1pPr>
              <a:defRPr sz="3600">
                <a:solidFill>
                  <a:schemeClr val="bg1"/>
                </a:solidFill>
              </a:defRPr>
            </a:lvl1pPr>
          </a:lstStyle>
          <a:p>
            <a:r>
              <a:rPr lang="en-US" dirty="0"/>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rm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213875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1887936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dirty="0">
                <a:solidFill>
                  <a:schemeClr val="bg1"/>
                </a:solidFill>
              </a:rPr>
              <a:t>Do not use </a:t>
            </a:r>
            <a:br>
              <a:rPr lang="en-GB" sz="9600" kern="0" dirty="0">
                <a:solidFill>
                  <a:schemeClr val="bg1"/>
                </a:solidFill>
              </a:rPr>
            </a:br>
            <a:r>
              <a:rPr lang="en-GB" sz="9600" kern="0" dirty="0">
                <a:solidFill>
                  <a:schemeClr val="bg1"/>
                </a:solidFill>
              </a:rPr>
              <a:t>layouts that appear </a:t>
            </a:r>
            <a:br>
              <a:rPr lang="en-GB" sz="9600" kern="0" dirty="0">
                <a:solidFill>
                  <a:schemeClr val="bg1"/>
                </a:solidFill>
              </a:rPr>
            </a:br>
            <a:r>
              <a:rPr lang="en-GB" sz="9600" kern="0" dirty="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844819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dirty="0"/>
              <a:t>Click to edit Master title style</a:t>
            </a:r>
            <a:endParaRPr lang="en-GB" dirty="0"/>
          </a:p>
        </p:txBody>
      </p:sp>
      <p:sp>
        <p:nvSpPr>
          <p:cNvPr id="16" name="Content Placeholder 15"/>
          <p:cNvSpPr>
            <a:spLocks noGrp="1"/>
          </p:cNvSpPr>
          <p:nvPr>
            <p:ph sz="quarter" idx="12"/>
          </p:nvPr>
        </p:nvSpPr>
        <p:spPr>
          <a:xfrm>
            <a:off x="486833" y="1196152"/>
            <a:ext cx="11231033" cy="4658549"/>
          </a:xfrm>
        </p:spPr>
        <p:txBody>
          <a:bodyPr/>
          <a:lstStyle>
            <a:lvl1pPr>
              <a:defRPr>
                <a:solidFill>
                  <a:srgbClr val="000000"/>
                </a:solidFill>
              </a:defRPr>
            </a:lvl1pPr>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2"/>
          <p:cNvSpPr>
            <a:spLocks noGrp="1"/>
          </p:cNvSpPr>
          <p:nvPr>
            <p:ph type="body" sz="quarter" idx="14" hasCustomPrompt="1"/>
          </p:nvPr>
        </p:nvSpPr>
        <p:spPr>
          <a:xfrm>
            <a:off x="486832" y="692554"/>
            <a:ext cx="10130368" cy="234950"/>
          </a:xfrm>
        </p:spPr>
        <p:txBody>
          <a:bodyPr anchor="t" anchorCtr="0"/>
          <a:lstStyle>
            <a:lvl1pPr marL="0" indent="0">
              <a:spcAft>
                <a:spcPts val="0"/>
              </a:spcAft>
              <a:buNone/>
              <a:defRPr sz="1600" i="1">
                <a:solidFill>
                  <a:schemeClr val="tx1"/>
                </a:solidFill>
                <a:latin typeface="Georgia" panose="02040502050405020303" pitchFamily="18" charset="0"/>
              </a:defRPr>
            </a:lvl1pPr>
            <a:lvl2pPr marL="271463" indent="0">
              <a:buNone/>
              <a:defRPr/>
            </a:lvl2pPr>
            <a:lvl3pPr marL="533400" indent="0">
              <a:buNone/>
              <a:defRPr/>
            </a:lvl3pPr>
            <a:lvl4pPr marL="815975" indent="0">
              <a:buNone/>
              <a:defRPr/>
            </a:lvl4pPr>
            <a:lvl5pPr marL="1104900" indent="0">
              <a:buNone/>
              <a:defRPr/>
            </a:lvl5pPr>
          </a:lstStyle>
          <a:p>
            <a:pPr lvl="0"/>
            <a:r>
              <a:rPr lang="en-US" dirty="0"/>
              <a:t>Subtitle here if required</a:t>
            </a:r>
          </a:p>
        </p:txBody>
      </p:sp>
      <p:sp>
        <p:nvSpPr>
          <p:cNvPr id="6" name="Text Placeholder 5"/>
          <p:cNvSpPr>
            <a:spLocks noGrp="1"/>
          </p:cNvSpPr>
          <p:nvPr>
            <p:ph type="body" sz="quarter" idx="18" hasCustomPrompt="1"/>
          </p:nvPr>
        </p:nvSpPr>
        <p:spPr>
          <a:xfrm>
            <a:off x="492758" y="5759043"/>
            <a:ext cx="11261093" cy="517404"/>
          </a:xfrm>
        </p:spPr>
        <p:txBody>
          <a:bodyPr wrap="square" anchor="b" anchorCtr="0">
            <a:spAutoFit/>
          </a:bodyPr>
          <a:lstStyle>
            <a:lvl1pPr marL="0" indent="0">
              <a:spcAft>
                <a:spcPts val="0"/>
              </a:spcAft>
              <a:buNone/>
              <a:defRPr sz="10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
        <p:nvSpPr>
          <p:cNvPr id="9" name="Text Placeholder 5"/>
          <p:cNvSpPr>
            <a:spLocks noGrp="1"/>
          </p:cNvSpPr>
          <p:nvPr>
            <p:ph type="body" sz="quarter" idx="19" hasCustomPrompt="1"/>
          </p:nvPr>
        </p:nvSpPr>
        <p:spPr>
          <a:xfrm>
            <a:off x="492758" y="6267219"/>
            <a:ext cx="10894909" cy="468160"/>
          </a:xfrm>
        </p:spPr>
        <p:txBody>
          <a:bodyPr wrap="square" anchor="b" anchorCtr="0">
            <a:spAutoFit/>
          </a:bodyPr>
          <a:lstStyle>
            <a:lvl1pPr marL="0" indent="0">
              <a:lnSpc>
                <a:spcPct val="85000"/>
              </a:lnSpc>
              <a:spcAft>
                <a:spcPts val="0"/>
              </a:spcAft>
              <a:buNone/>
              <a:defRPr sz="8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13476264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a:p>
        </p:txBody>
      </p:sp>
      <p:sp>
        <p:nvSpPr>
          <p:cNvPr id="10" name="Text Placeholder 2"/>
          <p:cNvSpPr>
            <a:spLocks noGrp="1"/>
          </p:cNvSpPr>
          <p:nvPr>
            <p:ph type="body" sz="quarter" idx="14" hasCustomPrompt="1"/>
          </p:nvPr>
        </p:nvSpPr>
        <p:spPr>
          <a:xfrm>
            <a:off x="486832" y="692554"/>
            <a:ext cx="10130368" cy="234950"/>
          </a:xfrm>
        </p:spPr>
        <p:txBody>
          <a:bodyPr vert="horz" lIns="0" tIns="0" rIns="0" bIns="0" rtlCol="0" anchor="t" anchorCtr="0">
            <a:noAutofit/>
          </a:bodyPr>
          <a:lstStyle>
            <a:lvl1pPr marL="270000" indent="-270000">
              <a:buNone/>
              <a:defRPr lang="en-US" i="1" dirty="0" smtClean="0">
                <a:latin typeface="Georgia" panose="02040502050405020303" pitchFamily="18" charset="0"/>
              </a:defRPr>
            </a:lvl1pPr>
          </a:lstStyle>
          <a:p>
            <a:pPr marL="0" lvl="0" indent="0">
              <a:spcAft>
                <a:spcPts val="0"/>
              </a:spcAft>
            </a:pPr>
            <a:r>
              <a:rPr lang="en-US" dirty="0"/>
              <a:t>Subtitle here if required</a:t>
            </a:r>
          </a:p>
        </p:txBody>
      </p:sp>
      <p:sp>
        <p:nvSpPr>
          <p:cNvPr id="7" name="Text Placeholder 5"/>
          <p:cNvSpPr>
            <a:spLocks noGrp="1"/>
          </p:cNvSpPr>
          <p:nvPr>
            <p:ph type="body" sz="quarter" idx="19" hasCustomPrompt="1"/>
          </p:nvPr>
        </p:nvSpPr>
        <p:spPr>
          <a:xfrm>
            <a:off x="492758" y="6267219"/>
            <a:ext cx="10894909" cy="468160"/>
          </a:xfrm>
        </p:spPr>
        <p:txBody>
          <a:bodyPr wrap="square" anchor="b" anchorCtr="0">
            <a:spAutoFit/>
          </a:bodyPr>
          <a:lstStyle>
            <a:lvl1pPr marL="0" indent="0">
              <a:lnSpc>
                <a:spcPct val="85000"/>
              </a:lnSpc>
              <a:spcAft>
                <a:spcPts val="0"/>
              </a:spcAft>
              <a:buNone/>
              <a:defRPr sz="8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
        <p:nvSpPr>
          <p:cNvPr id="8" name="Text Placeholder 5"/>
          <p:cNvSpPr>
            <a:spLocks noGrp="1"/>
          </p:cNvSpPr>
          <p:nvPr>
            <p:ph type="body" sz="quarter" idx="18" hasCustomPrompt="1"/>
          </p:nvPr>
        </p:nvSpPr>
        <p:spPr>
          <a:xfrm>
            <a:off x="492758" y="5760084"/>
            <a:ext cx="11261093" cy="517404"/>
          </a:xfrm>
        </p:spPr>
        <p:txBody>
          <a:bodyPr wrap="square" anchor="b" anchorCtr="0">
            <a:spAutoFit/>
          </a:bodyPr>
          <a:lstStyle>
            <a:lvl1pPr marL="0" indent="0">
              <a:spcAft>
                <a:spcPts val="0"/>
              </a:spcAft>
              <a:buNone/>
              <a:defRPr sz="10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30179361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a:p>
        </p:txBody>
      </p:sp>
      <p:sp>
        <p:nvSpPr>
          <p:cNvPr id="10" name="Text Placeholder 2"/>
          <p:cNvSpPr>
            <a:spLocks noGrp="1"/>
          </p:cNvSpPr>
          <p:nvPr>
            <p:ph type="body" sz="quarter" idx="14" hasCustomPrompt="1"/>
          </p:nvPr>
        </p:nvSpPr>
        <p:spPr>
          <a:xfrm>
            <a:off x="486832" y="692554"/>
            <a:ext cx="10130368" cy="234950"/>
          </a:xfrm>
        </p:spPr>
        <p:txBody>
          <a:bodyPr vert="horz" lIns="0" tIns="0" rIns="0" bIns="0" rtlCol="0" anchor="t" anchorCtr="0">
            <a:noAutofit/>
          </a:bodyPr>
          <a:lstStyle>
            <a:lvl1pPr marL="270000" indent="-270000">
              <a:buNone/>
              <a:defRPr lang="en-US" i="1" dirty="0" smtClean="0">
                <a:latin typeface="Georgia" panose="02040502050405020303" pitchFamily="18" charset="0"/>
              </a:defRPr>
            </a:lvl1pPr>
          </a:lstStyle>
          <a:p>
            <a:pPr marL="0" lvl="0" indent="0">
              <a:spcAft>
                <a:spcPts val="0"/>
              </a:spcAft>
            </a:pPr>
            <a:r>
              <a:rPr lang="en-US" dirty="0"/>
              <a:t>Subtitle here if required</a:t>
            </a:r>
          </a:p>
        </p:txBody>
      </p:sp>
      <p:sp>
        <p:nvSpPr>
          <p:cNvPr id="7" name="Text Placeholder 5"/>
          <p:cNvSpPr>
            <a:spLocks noGrp="1"/>
          </p:cNvSpPr>
          <p:nvPr>
            <p:ph type="body" sz="quarter" idx="19" hasCustomPrompt="1"/>
          </p:nvPr>
        </p:nvSpPr>
        <p:spPr>
          <a:xfrm>
            <a:off x="492758" y="6267219"/>
            <a:ext cx="10894909" cy="468160"/>
          </a:xfrm>
        </p:spPr>
        <p:txBody>
          <a:bodyPr wrap="square" anchor="b" anchorCtr="0">
            <a:spAutoFit/>
          </a:bodyPr>
          <a:lstStyle>
            <a:lvl1pPr marL="0" indent="0">
              <a:lnSpc>
                <a:spcPct val="85000"/>
              </a:lnSpc>
              <a:spcAft>
                <a:spcPts val="0"/>
              </a:spcAft>
              <a:buNone/>
              <a:defRPr sz="8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
        <p:nvSpPr>
          <p:cNvPr id="8" name="Text Placeholder 5"/>
          <p:cNvSpPr>
            <a:spLocks noGrp="1"/>
          </p:cNvSpPr>
          <p:nvPr>
            <p:ph type="body" sz="quarter" idx="18" hasCustomPrompt="1"/>
          </p:nvPr>
        </p:nvSpPr>
        <p:spPr>
          <a:xfrm>
            <a:off x="492758" y="5760084"/>
            <a:ext cx="11261093" cy="517404"/>
          </a:xfrm>
        </p:spPr>
        <p:txBody>
          <a:bodyPr wrap="square" anchor="b" anchorCtr="0">
            <a:spAutoFit/>
          </a:bodyPr>
          <a:lstStyle>
            <a:lvl1pPr marL="0" indent="0">
              <a:spcAft>
                <a:spcPts val="0"/>
              </a:spcAft>
              <a:buNone/>
              <a:defRPr sz="10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23313092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dirty="0"/>
          </a:p>
        </p:txBody>
      </p:sp>
      <p:sp>
        <p:nvSpPr>
          <p:cNvPr id="16" name="Content Placeholder 15"/>
          <p:cNvSpPr>
            <a:spLocks noGrp="1"/>
          </p:cNvSpPr>
          <p:nvPr>
            <p:ph sz="quarter" idx="12"/>
          </p:nvPr>
        </p:nvSpPr>
        <p:spPr>
          <a:xfrm>
            <a:off x="486833" y="1196152"/>
            <a:ext cx="11231033" cy="465854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 Placeholder 2"/>
          <p:cNvSpPr>
            <a:spLocks noGrp="1"/>
          </p:cNvSpPr>
          <p:nvPr>
            <p:ph type="body" sz="quarter" idx="14" hasCustomPrompt="1"/>
          </p:nvPr>
        </p:nvSpPr>
        <p:spPr>
          <a:xfrm>
            <a:off x="486832" y="692554"/>
            <a:ext cx="10130368" cy="234950"/>
          </a:xfrm>
        </p:spPr>
        <p:txBody>
          <a:bodyPr anchor="t" anchorCtr="0"/>
          <a:lstStyle>
            <a:lvl1pPr marL="0" indent="0">
              <a:spcAft>
                <a:spcPts val="0"/>
              </a:spcAft>
              <a:buNone/>
              <a:defRPr sz="1800"/>
            </a:lvl1pPr>
            <a:lvl2pPr marL="271463" indent="0">
              <a:buNone/>
              <a:defRPr/>
            </a:lvl2pPr>
            <a:lvl3pPr marL="533400" indent="0">
              <a:buNone/>
              <a:defRPr/>
            </a:lvl3pPr>
            <a:lvl4pPr marL="815975" indent="0">
              <a:buNone/>
              <a:defRPr/>
            </a:lvl4pPr>
            <a:lvl5pPr marL="1104900" indent="0">
              <a:buNone/>
              <a:defRPr/>
            </a:lvl5pPr>
          </a:lstStyle>
          <a:p>
            <a:pPr lvl="0"/>
            <a:r>
              <a:rPr lang="en-US" dirty="0"/>
              <a:t>Subtitle here if required</a:t>
            </a:r>
          </a:p>
        </p:txBody>
      </p:sp>
      <p:sp>
        <p:nvSpPr>
          <p:cNvPr id="2" name="Date Placeholder 1"/>
          <p:cNvSpPr>
            <a:spLocks noGrp="1"/>
          </p:cNvSpPr>
          <p:nvPr>
            <p:ph type="dt" sz="half" idx="15"/>
          </p:nvPr>
        </p:nvSpPr>
        <p:spPr/>
        <p:txBody>
          <a:bodyPr/>
          <a:lstStyle/>
          <a:p>
            <a:pPr algn="ctr"/>
            <a:endParaRPr lang="en-GB" dirty="0">
              <a:solidFill>
                <a:srgbClr val="9A8B7D"/>
              </a:solidFill>
            </a:endParaRPr>
          </a:p>
        </p:txBody>
      </p:sp>
      <p:sp>
        <p:nvSpPr>
          <p:cNvPr id="3" name="Footer Placeholder 2"/>
          <p:cNvSpPr>
            <a:spLocks noGrp="1"/>
          </p:cNvSpPr>
          <p:nvPr>
            <p:ph type="ftr" sz="quarter" idx="16"/>
          </p:nvPr>
        </p:nvSpPr>
        <p:spPr/>
        <p:txBody>
          <a:bodyPr/>
          <a:lstStyle/>
          <a:p>
            <a:r>
              <a:rPr lang="fr-FR">
                <a:solidFill>
                  <a:srgbClr val="9A8B7D"/>
                </a:solidFill>
              </a:rPr>
              <a:t>For Internal Use Only</a:t>
            </a:r>
            <a:endParaRPr lang="en-GB" dirty="0">
              <a:solidFill>
                <a:srgbClr val="9A8B7D"/>
              </a:solidFill>
            </a:endParaRPr>
          </a:p>
        </p:txBody>
      </p:sp>
      <p:sp>
        <p:nvSpPr>
          <p:cNvPr id="9" name="Slide Number Placeholder 8"/>
          <p:cNvSpPr>
            <a:spLocks noGrp="1"/>
          </p:cNvSpPr>
          <p:nvPr>
            <p:ph type="sldNum" sz="quarter" idx="17"/>
          </p:nvPr>
        </p:nvSpPr>
        <p:spPr/>
        <p:txBody>
          <a:bodyPr/>
          <a:lstStyle/>
          <a:p>
            <a:fld id="{9F9F533D-B52E-4A2F-BF72-0ADD2D94BD75}" type="slidenum">
              <a:rPr lang="en-GB" smtClean="0">
                <a:solidFill>
                  <a:srgbClr val="9A8B7D"/>
                </a:solidFill>
              </a:rPr>
              <a:pPr/>
              <a:t>‹#›</a:t>
            </a:fld>
            <a:endParaRPr lang="en-GB" dirty="0">
              <a:solidFill>
                <a:srgbClr val="9A8B7D"/>
              </a:solidFill>
            </a:endParaRPr>
          </a:p>
        </p:txBody>
      </p:sp>
      <p:sp>
        <p:nvSpPr>
          <p:cNvPr id="6" name="Text Placeholder 5"/>
          <p:cNvSpPr>
            <a:spLocks noGrp="1"/>
          </p:cNvSpPr>
          <p:nvPr>
            <p:ph type="body" sz="quarter" idx="18" hasCustomPrompt="1"/>
          </p:nvPr>
        </p:nvSpPr>
        <p:spPr>
          <a:xfrm>
            <a:off x="492758" y="5694572"/>
            <a:ext cx="11261093" cy="486626"/>
          </a:xfrm>
        </p:spPr>
        <p:txBody>
          <a:bodyPr wrap="square" anchor="b" anchorCtr="0">
            <a:spAutoFit/>
          </a:bodyPr>
          <a:lstStyle>
            <a:lvl1pPr marL="0" indent="0">
              <a:buNone/>
              <a:defRPr sz="800" baseline="0"/>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42611581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a:p>
        </p:txBody>
      </p:sp>
      <p:sp>
        <p:nvSpPr>
          <p:cNvPr id="10" name="Text Placeholder 2"/>
          <p:cNvSpPr>
            <a:spLocks noGrp="1"/>
          </p:cNvSpPr>
          <p:nvPr>
            <p:ph type="body" sz="quarter" idx="14" hasCustomPrompt="1"/>
          </p:nvPr>
        </p:nvSpPr>
        <p:spPr>
          <a:xfrm>
            <a:off x="486832" y="692554"/>
            <a:ext cx="10130368" cy="234950"/>
          </a:xfrm>
        </p:spPr>
        <p:txBody>
          <a:bodyPr vert="horz" lIns="0" tIns="0" rIns="0" bIns="0" rtlCol="0" anchor="t" anchorCtr="0">
            <a:noAutofit/>
          </a:bodyPr>
          <a:lstStyle>
            <a:lvl1pPr marL="270000" indent="-270000">
              <a:buNone/>
              <a:defRPr lang="en-US" i="1" dirty="0" smtClean="0">
                <a:latin typeface="Georgia" panose="02040502050405020303" pitchFamily="18" charset="0"/>
              </a:defRPr>
            </a:lvl1pPr>
          </a:lstStyle>
          <a:p>
            <a:pPr marL="0" lvl="0" indent="0">
              <a:spcAft>
                <a:spcPts val="0"/>
              </a:spcAft>
            </a:pPr>
            <a:r>
              <a:rPr lang="en-US" dirty="0"/>
              <a:t>Subtitle here if required</a:t>
            </a:r>
          </a:p>
        </p:txBody>
      </p:sp>
      <p:sp>
        <p:nvSpPr>
          <p:cNvPr id="7" name="Text Placeholder 5"/>
          <p:cNvSpPr>
            <a:spLocks noGrp="1"/>
          </p:cNvSpPr>
          <p:nvPr>
            <p:ph type="body" sz="quarter" idx="19" hasCustomPrompt="1"/>
          </p:nvPr>
        </p:nvSpPr>
        <p:spPr>
          <a:xfrm>
            <a:off x="492758" y="6267219"/>
            <a:ext cx="10894909" cy="468160"/>
          </a:xfrm>
        </p:spPr>
        <p:txBody>
          <a:bodyPr wrap="square" anchor="b" anchorCtr="0">
            <a:spAutoFit/>
          </a:bodyPr>
          <a:lstStyle>
            <a:lvl1pPr marL="0" indent="0">
              <a:lnSpc>
                <a:spcPct val="85000"/>
              </a:lnSpc>
              <a:spcAft>
                <a:spcPts val="0"/>
              </a:spcAft>
              <a:buNone/>
              <a:defRPr sz="8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
        <p:nvSpPr>
          <p:cNvPr id="8" name="Text Placeholder 5"/>
          <p:cNvSpPr>
            <a:spLocks noGrp="1"/>
          </p:cNvSpPr>
          <p:nvPr>
            <p:ph type="body" sz="quarter" idx="18" hasCustomPrompt="1"/>
          </p:nvPr>
        </p:nvSpPr>
        <p:spPr>
          <a:xfrm>
            <a:off x="492758" y="5760084"/>
            <a:ext cx="11261093" cy="517404"/>
          </a:xfrm>
        </p:spPr>
        <p:txBody>
          <a:bodyPr wrap="square" anchor="b" anchorCtr="0">
            <a:spAutoFit/>
          </a:bodyPr>
          <a:lstStyle>
            <a:lvl1pPr marL="0" indent="0">
              <a:spcAft>
                <a:spcPts val="0"/>
              </a:spcAft>
              <a:buNone/>
              <a:defRPr sz="10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3272574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a:p>
        </p:txBody>
      </p:sp>
      <p:sp>
        <p:nvSpPr>
          <p:cNvPr id="10" name="Text Placeholder 2"/>
          <p:cNvSpPr>
            <a:spLocks noGrp="1"/>
          </p:cNvSpPr>
          <p:nvPr>
            <p:ph type="body" sz="quarter" idx="14" hasCustomPrompt="1"/>
          </p:nvPr>
        </p:nvSpPr>
        <p:spPr>
          <a:xfrm>
            <a:off x="486832" y="692554"/>
            <a:ext cx="10130368" cy="234950"/>
          </a:xfrm>
        </p:spPr>
        <p:txBody>
          <a:bodyPr vert="horz" lIns="0" tIns="0" rIns="0" bIns="0" rtlCol="0" anchor="t" anchorCtr="0">
            <a:noAutofit/>
          </a:bodyPr>
          <a:lstStyle>
            <a:lvl1pPr marL="270000" indent="-270000">
              <a:buNone/>
              <a:defRPr lang="en-US" i="1" dirty="0" smtClean="0">
                <a:latin typeface="Georgia" panose="02040502050405020303" pitchFamily="18" charset="0"/>
              </a:defRPr>
            </a:lvl1pPr>
          </a:lstStyle>
          <a:p>
            <a:pPr marL="0" lvl="0" indent="0">
              <a:spcAft>
                <a:spcPts val="0"/>
              </a:spcAft>
            </a:pPr>
            <a:r>
              <a:rPr lang="en-US" dirty="0"/>
              <a:t>Subtitle here if required</a:t>
            </a:r>
          </a:p>
        </p:txBody>
      </p:sp>
      <p:sp>
        <p:nvSpPr>
          <p:cNvPr id="7" name="Text Placeholder 5"/>
          <p:cNvSpPr>
            <a:spLocks noGrp="1"/>
          </p:cNvSpPr>
          <p:nvPr>
            <p:ph type="body" sz="quarter" idx="19" hasCustomPrompt="1"/>
          </p:nvPr>
        </p:nvSpPr>
        <p:spPr>
          <a:xfrm>
            <a:off x="492758" y="6267219"/>
            <a:ext cx="10894909" cy="468160"/>
          </a:xfrm>
        </p:spPr>
        <p:txBody>
          <a:bodyPr wrap="square" anchor="b" anchorCtr="0">
            <a:spAutoFit/>
          </a:bodyPr>
          <a:lstStyle>
            <a:lvl1pPr marL="0" indent="0">
              <a:lnSpc>
                <a:spcPct val="85000"/>
              </a:lnSpc>
              <a:spcAft>
                <a:spcPts val="0"/>
              </a:spcAft>
              <a:buNone/>
              <a:defRPr sz="8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
        <p:nvSpPr>
          <p:cNvPr id="8" name="Text Placeholder 5"/>
          <p:cNvSpPr>
            <a:spLocks noGrp="1"/>
          </p:cNvSpPr>
          <p:nvPr>
            <p:ph type="body" sz="quarter" idx="18" hasCustomPrompt="1"/>
          </p:nvPr>
        </p:nvSpPr>
        <p:spPr>
          <a:xfrm>
            <a:off x="492758" y="5760084"/>
            <a:ext cx="11261093" cy="517404"/>
          </a:xfrm>
        </p:spPr>
        <p:txBody>
          <a:bodyPr wrap="square" anchor="b" anchorCtr="0">
            <a:spAutoFit/>
          </a:bodyPr>
          <a:lstStyle>
            <a:lvl1pPr marL="0" indent="0">
              <a:spcAft>
                <a:spcPts val="0"/>
              </a:spcAft>
              <a:buNone/>
              <a:defRPr sz="10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16330997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a:p>
        </p:txBody>
      </p:sp>
      <p:sp>
        <p:nvSpPr>
          <p:cNvPr id="10" name="Text Placeholder 2"/>
          <p:cNvSpPr>
            <a:spLocks noGrp="1"/>
          </p:cNvSpPr>
          <p:nvPr>
            <p:ph type="body" sz="quarter" idx="14" hasCustomPrompt="1"/>
          </p:nvPr>
        </p:nvSpPr>
        <p:spPr>
          <a:xfrm>
            <a:off x="486832" y="692554"/>
            <a:ext cx="10130368" cy="234950"/>
          </a:xfrm>
        </p:spPr>
        <p:txBody>
          <a:bodyPr vert="horz" lIns="0" tIns="0" rIns="0" bIns="0" rtlCol="0" anchor="t" anchorCtr="0">
            <a:noAutofit/>
          </a:bodyPr>
          <a:lstStyle>
            <a:lvl1pPr marL="270000" indent="-270000">
              <a:buNone/>
              <a:defRPr lang="en-US" i="1" dirty="0" smtClean="0">
                <a:latin typeface="Georgia" panose="02040502050405020303" pitchFamily="18" charset="0"/>
              </a:defRPr>
            </a:lvl1pPr>
          </a:lstStyle>
          <a:p>
            <a:pPr marL="0" lvl="0" indent="0">
              <a:spcAft>
                <a:spcPts val="0"/>
              </a:spcAft>
            </a:pPr>
            <a:r>
              <a:rPr lang="en-US" dirty="0"/>
              <a:t>Subtitle here if required</a:t>
            </a:r>
          </a:p>
        </p:txBody>
      </p:sp>
      <p:sp>
        <p:nvSpPr>
          <p:cNvPr id="7" name="Text Placeholder 5"/>
          <p:cNvSpPr>
            <a:spLocks noGrp="1"/>
          </p:cNvSpPr>
          <p:nvPr>
            <p:ph type="body" sz="quarter" idx="19" hasCustomPrompt="1"/>
          </p:nvPr>
        </p:nvSpPr>
        <p:spPr>
          <a:xfrm>
            <a:off x="492758" y="6267219"/>
            <a:ext cx="10894909" cy="468160"/>
          </a:xfrm>
        </p:spPr>
        <p:txBody>
          <a:bodyPr wrap="square" anchor="b" anchorCtr="0">
            <a:spAutoFit/>
          </a:bodyPr>
          <a:lstStyle>
            <a:lvl1pPr marL="0" indent="0">
              <a:lnSpc>
                <a:spcPct val="85000"/>
              </a:lnSpc>
              <a:spcAft>
                <a:spcPts val="0"/>
              </a:spcAft>
              <a:buNone/>
              <a:defRPr sz="8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
        <p:nvSpPr>
          <p:cNvPr id="8" name="Text Placeholder 5"/>
          <p:cNvSpPr>
            <a:spLocks noGrp="1"/>
          </p:cNvSpPr>
          <p:nvPr>
            <p:ph type="body" sz="quarter" idx="18" hasCustomPrompt="1"/>
          </p:nvPr>
        </p:nvSpPr>
        <p:spPr>
          <a:xfrm>
            <a:off x="492758" y="5760084"/>
            <a:ext cx="11261093" cy="517404"/>
          </a:xfrm>
        </p:spPr>
        <p:txBody>
          <a:bodyPr wrap="square" anchor="b" anchorCtr="0">
            <a:spAutoFit/>
          </a:bodyPr>
          <a:lstStyle>
            <a:lvl1pPr marL="0" indent="0">
              <a:spcAft>
                <a:spcPts val="0"/>
              </a:spcAft>
              <a:buNone/>
              <a:defRPr sz="10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340962885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a:p>
        </p:txBody>
      </p:sp>
      <p:sp>
        <p:nvSpPr>
          <p:cNvPr id="10" name="Text Placeholder 2"/>
          <p:cNvSpPr>
            <a:spLocks noGrp="1"/>
          </p:cNvSpPr>
          <p:nvPr>
            <p:ph type="body" sz="quarter" idx="14" hasCustomPrompt="1"/>
          </p:nvPr>
        </p:nvSpPr>
        <p:spPr>
          <a:xfrm>
            <a:off x="486832" y="692554"/>
            <a:ext cx="10130368" cy="234950"/>
          </a:xfrm>
        </p:spPr>
        <p:txBody>
          <a:bodyPr vert="horz" lIns="0" tIns="0" rIns="0" bIns="0" rtlCol="0" anchor="t" anchorCtr="0">
            <a:noAutofit/>
          </a:bodyPr>
          <a:lstStyle>
            <a:lvl1pPr marL="270000" indent="-270000">
              <a:buNone/>
              <a:defRPr lang="en-US" i="1" dirty="0" smtClean="0">
                <a:latin typeface="Georgia" panose="02040502050405020303" pitchFamily="18" charset="0"/>
              </a:defRPr>
            </a:lvl1pPr>
          </a:lstStyle>
          <a:p>
            <a:pPr marL="0" lvl="0" indent="0">
              <a:spcAft>
                <a:spcPts val="0"/>
              </a:spcAft>
            </a:pPr>
            <a:r>
              <a:rPr lang="en-US" dirty="0"/>
              <a:t>Subtitle here if required</a:t>
            </a:r>
          </a:p>
        </p:txBody>
      </p:sp>
      <p:sp>
        <p:nvSpPr>
          <p:cNvPr id="7" name="Text Placeholder 5"/>
          <p:cNvSpPr>
            <a:spLocks noGrp="1"/>
          </p:cNvSpPr>
          <p:nvPr>
            <p:ph type="body" sz="quarter" idx="19" hasCustomPrompt="1"/>
          </p:nvPr>
        </p:nvSpPr>
        <p:spPr>
          <a:xfrm>
            <a:off x="492758" y="6267219"/>
            <a:ext cx="10894909" cy="468160"/>
          </a:xfrm>
        </p:spPr>
        <p:txBody>
          <a:bodyPr wrap="square" anchor="b" anchorCtr="0">
            <a:spAutoFit/>
          </a:bodyPr>
          <a:lstStyle>
            <a:lvl1pPr marL="0" indent="0">
              <a:lnSpc>
                <a:spcPct val="85000"/>
              </a:lnSpc>
              <a:spcAft>
                <a:spcPts val="0"/>
              </a:spcAft>
              <a:buNone/>
              <a:defRPr sz="8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
        <p:nvSpPr>
          <p:cNvPr id="8" name="Text Placeholder 5"/>
          <p:cNvSpPr>
            <a:spLocks noGrp="1"/>
          </p:cNvSpPr>
          <p:nvPr>
            <p:ph type="body" sz="quarter" idx="18" hasCustomPrompt="1"/>
          </p:nvPr>
        </p:nvSpPr>
        <p:spPr>
          <a:xfrm>
            <a:off x="492758" y="5760084"/>
            <a:ext cx="11261093" cy="517404"/>
          </a:xfrm>
        </p:spPr>
        <p:txBody>
          <a:bodyPr wrap="square" anchor="b" anchorCtr="0">
            <a:spAutoFit/>
          </a:bodyPr>
          <a:lstStyle>
            <a:lvl1pPr marL="0" indent="0">
              <a:spcAft>
                <a:spcPts val="0"/>
              </a:spcAft>
              <a:buNone/>
              <a:defRPr sz="10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41403381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a:p>
        </p:txBody>
      </p:sp>
      <p:sp>
        <p:nvSpPr>
          <p:cNvPr id="10" name="Text Placeholder 2"/>
          <p:cNvSpPr>
            <a:spLocks noGrp="1"/>
          </p:cNvSpPr>
          <p:nvPr>
            <p:ph type="body" sz="quarter" idx="14" hasCustomPrompt="1"/>
          </p:nvPr>
        </p:nvSpPr>
        <p:spPr>
          <a:xfrm>
            <a:off x="486832" y="692554"/>
            <a:ext cx="10130368" cy="234950"/>
          </a:xfrm>
        </p:spPr>
        <p:txBody>
          <a:bodyPr vert="horz" lIns="0" tIns="0" rIns="0" bIns="0" rtlCol="0" anchor="t" anchorCtr="0">
            <a:noAutofit/>
          </a:bodyPr>
          <a:lstStyle>
            <a:lvl1pPr marL="270000" indent="-270000">
              <a:buNone/>
              <a:defRPr lang="en-US" i="1" dirty="0" smtClean="0">
                <a:latin typeface="Georgia" panose="02040502050405020303" pitchFamily="18" charset="0"/>
              </a:defRPr>
            </a:lvl1pPr>
          </a:lstStyle>
          <a:p>
            <a:pPr marL="0" lvl="0" indent="0">
              <a:spcAft>
                <a:spcPts val="0"/>
              </a:spcAft>
            </a:pPr>
            <a:r>
              <a:rPr lang="en-US" dirty="0"/>
              <a:t>Subtitle here if required</a:t>
            </a:r>
          </a:p>
        </p:txBody>
      </p:sp>
      <p:sp>
        <p:nvSpPr>
          <p:cNvPr id="7" name="Text Placeholder 5"/>
          <p:cNvSpPr>
            <a:spLocks noGrp="1"/>
          </p:cNvSpPr>
          <p:nvPr>
            <p:ph type="body" sz="quarter" idx="19" hasCustomPrompt="1"/>
          </p:nvPr>
        </p:nvSpPr>
        <p:spPr>
          <a:xfrm>
            <a:off x="492758" y="6267219"/>
            <a:ext cx="10894909" cy="468160"/>
          </a:xfrm>
        </p:spPr>
        <p:txBody>
          <a:bodyPr wrap="square" anchor="b" anchorCtr="0">
            <a:spAutoFit/>
          </a:bodyPr>
          <a:lstStyle>
            <a:lvl1pPr marL="0" indent="0">
              <a:lnSpc>
                <a:spcPct val="85000"/>
              </a:lnSpc>
              <a:spcAft>
                <a:spcPts val="0"/>
              </a:spcAft>
              <a:buNone/>
              <a:defRPr sz="8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
        <p:nvSpPr>
          <p:cNvPr id="8" name="Text Placeholder 5"/>
          <p:cNvSpPr>
            <a:spLocks noGrp="1"/>
          </p:cNvSpPr>
          <p:nvPr>
            <p:ph type="body" sz="quarter" idx="18" hasCustomPrompt="1"/>
          </p:nvPr>
        </p:nvSpPr>
        <p:spPr>
          <a:xfrm>
            <a:off x="492758" y="5760084"/>
            <a:ext cx="11261093" cy="517404"/>
          </a:xfrm>
        </p:spPr>
        <p:txBody>
          <a:bodyPr wrap="square" anchor="b" anchorCtr="0">
            <a:spAutoFit/>
          </a:bodyPr>
          <a:lstStyle>
            <a:lvl1pPr marL="0" indent="0">
              <a:spcAft>
                <a:spcPts val="0"/>
              </a:spcAft>
              <a:buNone/>
              <a:defRPr sz="10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21970250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1_Title Only">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a:p>
        </p:txBody>
      </p:sp>
      <p:sp>
        <p:nvSpPr>
          <p:cNvPr id="10" name="Text Placeholder 2"/>
          <p:cNvSpPr>
            <a:spLocks noGrp="1"/>
          </p:cNvSpPr>
          <p:nvPr>
            <p:ph type="body" sz="quarter" idx="14" hasCustomPrompt="1"/>
          </p:nvPr>
        </p:nvSpPr>
        <p:spPr>
          <a:xfrm>
            <a:off x="486832" y="692554"/>
            <a:ext cx="10130368" cy="234950"/>
          </a:xfrm>
        </p:spPr>
        <p:txBody>
          <a:bodyPr vert="horz" lIns="0" tIns="0" rIns="0" bIns="0" rtlCol="0" anchor="t" anchorCtr="0">
            <a:noAutofit/>
          </a:bodyPr>
          <a:lstStyle>
            <a:lvl1pPr marL="270000" indent="-270000">
              <a:buNone/>
              <a:defRPr lang="en-US" i="1" dirty="0" smtClean="0">
                <a:latin typeface="Georgia" panose="02040502050405020303" pitchFamily="18" charset="0"/>
              </a:defRPr>
            </a:lvl1pPr>
          </a:lstStyle>
          <a:p>
            <a:pPr marL="0" lvl="0" indent="0">
              <a:spcAft>
                <a:spcPts val="0"/>
              </a:spcAft>
            </a:pPr>
            <a:r>
              <a:rPr lang="en-US" dirty="0"/>
              <a:t>Subtitle here if required</a:t>
            </a:r>
          </a:p>
        </p:txBody>
      </p:sp>
      <p:sp>
        <p:nvSpPr>
          <p:cNvPr id="7" name="Text Placeholder 5"/>
          <p:cNvSpPr>
            <a:spLocks noGrp="1"/>
          </p:cNvSpPr>
          <p:nvPr>
            <p:ph type="body" sz="quarter" idx="19" hasCustomPrompt="1"/>
          </p:nvPr>
        </p:nvSpPr>
        <p:spPr>
          <a:xfrm>
            <a:off x="492758" y="6267219"/>
            <a:ext cx="10894909" cy="468160"/>
          </a:xfrm>
        </p:spPr>
        <p:txBody>
          <a:bodyPr wrap="square" anchor="b" anchorCtr="0">
            <a:spAutoFit/>
          </a:bodyPr>
          <a:lstStyle>
            <a:lvl1pPr marL="0" indent="0">
              <a:lnSpc>
                <a:spcPct val="85000"/>
              </a:lnSpc>
              <a:spcAft>
                <a:spcPts val="0"/>
              </a:spcAft>
              <a:buNone/>
              <a:defRPr sz="8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
        <p:nvSpPr>
          <p:cNvPr id="8" name="Text Placeholder 5"/>
          <p:cNvSpPr>
            <a:spLocks noGrp="1"/>
          </p:cNvSpPr>
          <p:nvPr>
            <p:ph type="body" sz="quarter" idx="18" hasCustomPrompt="1"/>
          </p:nvPr>
        </p:nvSpPr>
        <p:spPr>
          <a:xfrm>
            <a:off x="492758" y="5760084"/>
            <a:ext cx="11261093" cy="517404"/>
          </a:xfrm>
        </p:spPr>
        <p:txBody>
          <a:bodyPr wrap="square" anchor="b" anchorCtr="0">
            <a:spAutoFit/>
          </a:bodyPr>
          <a:lstStyle>
            <a:lvl1pPr marL="0" indent="0">
              <a:spcAft>
                <a:spcPts val="0"/>
              </a:spcAft>
              <a:buNone/>
              <a:defRPr sz="10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260382975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2_Title Only">
    <p:spTree>
      <p:nvGrpSpPr>
        <p:cNvPr id="1" name=""/>
        <p:cNvGrpSpPr/>
        <p:nvPr/>
      </p:nvGrpSpPr>
      <p:grpSpPr>
        <a:xfrm>
          <a:off x="0" y="0"/>
          <a:ext cx="0" cy="0"/>
          <a:chOff x="0" y="0"/>
          <a:chExt cx="0" cy="0"/>
        </a:xfrm>
      </p:grpSpPr>
      <p:sp>
        <p:nvSpPr>
          <p:cNvPr id="5" name="Title 4"/>
          <p:cNvSpPr>
            <a:spLocks noGrp="1"/>
          </p:cNvSpPr>
          <p:nvPr>
            <p:ph type="title"/>
          </p:nvPr>
        </p:nvSpPr>
        <p:spPr>
          <a:xfrm>
            <a:off x="486833" y="294810"/>
            <a:ext cx="10102852" cy="338554"/>
          </a:xfrm>
        </p:spPr>
        <p:txBody>
          <a:bodyPr/>
          <a:lstStyle/>
          <a:p>
            <a:r>
              <a:rPr lang="en-US"/>
              <a:t>Click to edit Master title style</a:t>
            </a:r>
            <a:endParaRPr lang="en-GB"/>
          </a:p>
        </p:txBody>
      </p:sp>
      <p:sp>
        <p:nvSpPr>
          <p:cNvPr id="10" name="Text Placeholder 2"/>
          <p:cNvSpPr>
            <a:spLocks noGrp="1"/>
          </p:cNvSpPr>
          <p:nvPr>
            <p:ph type="body" sz="quarter" idx="14" hasCustomPrompt="1"/>
          </p:nvPr>
        </p:nvSpPr>
        <p:spPr>
          <a:xfrm>
            <a:off x="486832" y="692554"/>
            <a:ext cx="10130368" cy="234950"/>
          </a:xfrm>
        </p:spPr>
        <p:txBody>
          <a:bodyPr vert="horz" lIns="0" tIns="0" rIns="0" bIns="0" rtlCol="0" anchor="t" anchorCtr="0">
            <a:noAutofit/>
          </a:bodyPr>
          <a:lstStyle>
            <a:lvl1pPr marL="270000" indent="-270000">
              <a:buNone/>
              <a:defRPr lang="en-US" i="1" dirty="0" smtClean="0">
                <a:latin typeface="Georgia" panose="02040502050405020303" pitchFamily="18" charset="0"/>
              </a:defRPr>
            </a:lvl1pPr>
          </a:lstStyle>
          <a:p>
            <a:pPr marL="0" lvl="0" indent="0">
              <a:spcAft>
                <a:spcPts val="0"/>
              </a:spcAft>
            </a:pPr>
            <a:r>
              <a:rPr lang="en-US" dirty="0"/>
              <a:t>Subtitle here if required</a:t>
            </a:r>
          </a:p>
        </p:txBody>
      </p:sp>
      <p:sp>
        <p:nvSpPr>
          <p:cNvPr id="7" name="Text Placeholder 5"/>
          <p:cNvSpPr>
            <a:spLocks noGrp="1"/>
          </p:cNvSpPr>
          <p:nvPr>
            <p:ph type="body" sz="quarter" idx="19" hasCustomPrompt="1"/>
          </p:nvPr>
        </p:nvSpPr>
        <p:spPr>
          <a:xfrm>
            <a:off x="492758" y="6267219"/>
            <a:ext cx="10894909" cy="468160"/>
          </a:xfrm>
        </p:spPr>
        <p:txBody>
          <a:bodyPr wrap="square" anchor="b" anchorCtr="0">
            <a:spAutoFit/>
          </a:bodyPr>
          <a:lstStyle>
            <a:lvl1pPr marL="0" indent="0">
              <a:lnSpc>
                <a:spcPct val="85000"/>
              </a:lnSpc>
              <a:spcAft>
                <a:spcPts val="0"/>
              </a:spcAft>
              <a:buNone/>
              <a:defRPr sz="8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
        <p:nvSpPr>
          <p:cNvPr id="8" name="Text Placeholder 5"/>
          <p:cNvSpPr>
            <a:spLocks noGrp="1"/>
          </p:cNvSpPr>
          <p:nvPr>
            <p:ph type="body" sz="quarter" idx="18" hasCustomPrompt="1"/>
          </p:nvPr>
        </p:nvSpPr>
        <p:spPr>
          <a:xfrm>
            <a:off x="492758" y="5760084"/>
            <a:ext cx="11261093" cy="517404"/>
          </a:xfrm>
        </p:spPr>
        <p:txBody>
          <a:bodyPr wrap="square" anchor="b" anchorCtr="0">
            <a:spAutoFit/>
          </a:bodyPr>
          <a:lstStyle>
            <a:lvl1pPr marL="0" indent="0">
              <a:spcAft>
                <a:spcPts val="0"/>
              </a:spcAft>
              <a:buNone/>
              <a:defRPr sz="1000" baseline="0">
                <a:solidFill>
                  <a:schemeClr val="tx1"/>
                </a:solidFill>
              </a:defRPr>
            </a:lvl1pPr>
            <a:lvl2pPr marL="268163" indent="0">
              <a:buNone/>
              <a:defRPr sz="800"/>
            </a:lvl2pPr>
            <a:lvl3pPr marL="540000" indent="0">
              <a:buNone/>
              <a:defRPr sz="800"/>
            </a:lvl3pPr>
            <a:lvl4pPr marL="811088" indent="0">
              <a:buNone/>
              <a:defRPr sz="800"/>
            </a:lvl4pPr>
            <a:lvl5pPr marL="1080000" indent="0">
              <a:buNone/>
              <a:defRPr sz="800"/>
            </a:lvl5pPr>
          </a:lstStyle>
          <a:p>
            <a:pPr lvl="0"/>
            <a:r>
              <a:rPr lang="en-US" dirty="0"/>
              <a:t>Insert Source text here</a:t>
            </a:r>
          </a:p>
        </p:txBody>
      </p:sp>
    </p:spTree>
    <p:extLst>
      <p:ext uri="{BB962C8B-B14F-4D97-AF65-F5344CB8AC3E}">
        <p14:creationId xmlns:p14="http://schemas.microsoft.com/office/powerpoint/2010/main" val="44915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endParaRPr lang="en-GB" dirty="0"/>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r>
              <a:rPr lang="en-GB"/>
              <a:t>For Internal Use Only</a:t>
            </a:r>
            <a:endParaRPr lang="en-GB" dirty="0"/>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2272622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5" name="Title 4"/>
          <p:cNvSpPr>
            <a:spLocks noGrp="1"/>
          </p:cNvSpPr>
          <p:nvPr>
            <p:ph type="title"/>
          </p:nvPr>
        </p:nvSpPr>
        <p:spPr>
          <a:xfrm>
            <a:off x="486834" y="294810"/>
            <a:ext cx="10102852" cy="338554"/>
          </a:xfrm>
        </p:spPr>
        <p:txBody>
          <a:bodyPr/>
          <a:lstStyle/>
          <a:p>
            <a:r>
              <a:rPr lang="en-US" dirty="0"/>
              <a:t>Click to edit Master title style</a:t>
            </a:r>
            <a:endParaRPr lang="en-GB" dirty="0"/>
          </a:p>
        </p:txBody>
      </p:sp>
      <p:sp>
        <p:nvSpPr>
          <p:cNvPr id="16" name="Content Placeholder 15"/>
          <p:cNvSpPr>
            <a:spLocks noGrp="1"/>
          </p:cNvSpPr>
          <p:nvPr>
            <p:ph sz="quarter" idx="12"/>
          </p:nvPr>
        </p:nvSpPr>
        <p:spPr>
          <a:xfrm>
            <a:off x="486834" y="1196154"/>
            <a:ext cx="11231033" cy="4658549"/>
          </a:xfrm>
        </p:spPr>
        <p:txBody>
          <a:bodyPr/>
          <a:lstStyle>
            <a:lvl1pPr algn="l" rtl="0">
              <a:defRPr sz="1500">
                <a:solidFill>
                  <a:schemeClr val="tx1"/>
                </a:solidFill>
                <a:latin typeface="Calibri" panose="020F0502020204030204" pitchFamily="34" charset="0"/>
              </a:defRPr>
            </a:lvl1pPr>
            <a:lvl2pPr algn="l" rtl="0">
              <a:defRPr sz="1500">
                <a:solidFill>
                  <a:schemeClr val="tx1"/>
                </a:solidFill>
                <a:latin typeface="Calibri" panose="020F0502020204030204" pitchFamily="34" charset="0"/>
              </a:defRPr>
            </a:lvl2pPr>
            <a:lvl3pPr algn="l" rtl="0">
              <a:defRPr sz="1500">
                <a:solidFill>
                  <a:schemeClr val="tx1"/>
                </a:solidFill>
                <a:latin typeface="Calibri" panose="020F0502020204030204" pitchFamily="34" charset="0"/>
              </a:defRPr>
            </a:lvl3pPr>
            <a:lvl4pPr algn="l" rtl="0">
              <a:defRPr sz="1500">
                <a:solidFill>
                  <a:schemeClr val="tx1"/>
                </a:solidFill>
                <a:latin typeface="Calibri" panose="020F0502020204030204" pitchFamily="34" charset="0"/>
              </a:defRPr>
            </a:lvl4pPr>
            <a:lvl5pPr algn="l" rtl="0">
              <a:defRPr sz="1500">
                <a:solidFill>
                  <a:schemeClr val="tx1"/>
                </a:solidFill>
                <a:latin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2"/>
          <p:cNvSpPr>
            <a:spLocks noGrp="1"/>
          </p:cNvSpPr>
          <p:nvPr>
            <p:ph type="body" sz="quarter" idx="14" hasCustomPrompt="1"/>
          </p:nvPr>
        </p:nvSpPr>
        <p:spPr>
          <a:xfrm>
            <a:off x="486832" y="692554"/>
            <a:ext cx="10130368" cy="234950"/>
          </a:xfrm>
        </p:spPr>
        <p:txBody>
          <a:bodyPr anchor="t" anchorCtr="0"/>
          <a:lstStyle>
            <a:lvl1pPr marL="0" indent="0">
              <a:spcAft>
                <a:spcPts val="0"/>
              </a:spcAft>
              <a:buNone/>
              <a:defRPr sz="1350"/>
            </a:lvl1pPr>
            <a:lvl2pPr marL="203597" indent="0">
              <a:buNone/>
              <a:defRPr/>
            </a:lvl2pPr>
            <a:lvl3pPr marL="400050" indent="0">
              <a:buNone/>
              <a:defRPr/>
            </a:lvl3pPr>
            <a:lvl4pPr marL="611981" indent="0">
              <a:buNone/>
              <a:defRPr/>
            </a:lvl4pPr>
            <a:lvl5pPr marL="828675" indent="0">
              <a:buNone/>
              <a:defRPr/>
            </a:lvl5pPr>
          </a:lstStyle>
          <a:p>
            <a:pPr lvl="0"/>
            <a:r>
              <a:rPr lang="en-US" dirty="0"/>
              <a:t>Subtitle here if required</a:t>
            </a:r>
          </a:p>
        </p:txBody>
      </p:sp>
      <p:sp>
        <p:nvSpPr>
          <p:cNvPr id="9" name="Slide Number Placeholder 8"/>
          <p:cNvSpPr>
            <a:spLocks noGrp="1"/>
          </p:cNvSpPr>
          <p:nvPr>
            <p:ph type="sldNum" sz="quarter" idx="17"/>
          </p:nvPr>
        </p:nvSpPr>
        <p:spPr/>
        <p:txBody>
          <a:bodyPr/>
          <a:lstStyle/>
          <a:p>
            <a:fld id="{9F9F533D-B52E-4A2F-BF72-0ADD2D94BD75}" type="slidenum">
              <a:rPr lang="en-GB" smtClean="0">
                <a:solidFill>
                  <a:srgbClr val="9A8B7D"/>
                </a:solidFill>
              </a:rPr>
              <a:pPr/>
              <a:t>‹#›</a:t>
            </a:fld>
            <a:endParaRPr lang="en-GB" dirty="0">
              <a:solidFill>
                <a:srgbClr val="9A8B7D"/>
              </a:solidFill>
            </a:endParaRPr>
          </a:p>
        </p:txBody>
      </p:sp>
    </p:spTree>
    <p:extLst>
      <p:ext uri="{BB962C8B-B14F-4D97-AF65-F5344CB8AC3E}">
        <p14:creationId xmlns:p14="http://schemas.microsoft.com/office/powerpoint/2010/main" val="37667627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892896-0027-443A-D01E-0CE282B3A5CC}"/>
              </a:ext>
            </a:extLst>
          </p:cNvPr>
          <p:cNvGraphicFramePr>
            <a:graphicFrameLocks noChangeAspect="1"/>
          </p:cNvGraphicFramePr>
          <p:nvPr userDrawn="1">
            <p:custDataLst>
              <p:tags r:id="rId1"/>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2892896-0027-443A-D01E-0CE282B3A5C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9" name="Freeform: Shape 38">
            <a:extLst>
              <a:ext uri="{FF2B5EF4-FFF2-40B4-BE49-F238E27FC236}">
                <a16:creationId xmlns:a16="http://schemas.microsoft.com/office/drawing/2014/main" id="{8ADD59A9-81EE-0DF4-BF97-645E59790906}"/>
              </a:ext>
            </a:extLst>
          </p:cNvPr>
          <p:cNvSpPr>
            <a:spLocks/>
          </p:cNvSpPr>
          <p:nvPr userDrawn="1"/>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dirty="0" err="1">
              <a:solidFill>
                <a:schemeClr val="tx1"/>
              </a:solidFill>
            </a:endParaRPr>
          </a:p>
        </p:txBody>
      </p:sp>
      <p:sp>
        <p:nvSpPr>
          <p:cNvPr id="17" name="Title 1"/>
          <p:cNvSpPr>
            <a:spLocks noGrp="1"/>
          </p:cNvSpPr>
          <p:nvPr>
            <p:ph type="ctrTitle" hasCustomPrompt="1"/>
          </p:nvPr>
        </p:nvSpPr>
        <p:spPr>
          <a:xfrm>
            <a:off x="520700" y="3940216"/>
            <a:ext cx="11150600" cy="548009"/>
          </a:xfrm>
          <a:prstGeom prst="rect">
            <a:avLst/>
          </a:prstGeom>
        </p:spPr>
        <p:txBody>
          <a:bodyPr vert="horz" anchor="b" anchorCtr="0">
            <a:noAutofit/>
          </a:bodyPr>
          <a:lstStyle>
            <a:lvl1pPr algn="ctr">
              <a:lnSpc>
                <a:spcPct val="100000"/>
              </a:lnSpc>
              <a:defRPr sz="3600">
                <a:solidFill>
                  <a:schemeClr val="bg1"/>
                </a:solidFill>
              </a:defRPr>
            </a:lvl1pPr>
          </a:lstStyle>
          <a:p>
            <a:r>
              <a:rPr lang="en-GB" dirty="0"/>
              <a:t>Click to enter presentation title</a:t>
            </a:r>
          </a:p>
        </p:txBody>
      </p:sp>
      <p:sp>
        <p:nvSpPr>
          <p:cNvPr id="20" name="Subtitle 2"/>
          <p:cNvSpPr>
            <a:spLocks noGrp="1"/>
          </p:cNvSpPr>
          <p:nvPr>
            <p:ph type="subTitle" idx="1" hasCustomPrompt="1"/>
          </p:nvPr>
        </p:nvSpPr>
        <p:spPr>
          <a:xfrm>
            <a:off x="520700" y="4502943"/>
            <a:ext cx="11150600" cy="475200"/>
          </a:xfrm>
          <a:prstGeom prst="rect">
            <a:avLst/>
          </a:prstGeom>
        </p:spPr>
        <p:txBody>
          <a:bodyPr wrap="square" lIns="0" tIns="0" rIns="0" bIns="0" anchor="t" anchorCtr="0">
            <a:noAutofit/>
          </a:bodyPr>
          <a:lstStyle>
            <a:lvl1pPr marL="0" indent="0" algn="ctr">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24" name="Picture 23" descr="Icon&#10;&#10;Description automatically generated with medium confidence">
            <a:extLst>
              <a:ext uri="{FF2B5EF4-FFF2-40B4-BE49-F238E27FC236}">
                <a16:creationId xmlns:a16="http://schemas.microsoft.com/office/drawing/2014/main" id="{40DDF016-D509-BED0-161C-B51B4CFCB427}"/>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4" name="TextBox 3">
            <a:extLst>
              <a:ext uri="{FF2B5EF4-FFF2-40B4-BE49-F238E27FC236}">
                <a16:creationId xmlns:a16="http://schemas.microsoft.com/office/drawing/2014/main" id="{27066925-A9FD-D8EA-F55B-638CB196E28C}"/>
              </a:ext>
            </a:extLst>
          </p:cNvPr>
          <p:cNvSpPr txBox="1"/>
          <p:nvPr userDrawn="1"/>
        </p:nvSpPr>
        <p:spPr>
          <a:xfrm>
            <a:off x="3047308" y="6621660"/>
            <a:ext cx="6097384" cy="261610"/>
          </a:xfrm>
          <a:prstGeom prst="rect">
            <a:avLst/>
          </a:prstGeom>
          <a:noFill/>
        </p:spPr>
        <p:txBody>
          <a:bodyPr wrap="square">
            <a:spAutoFit/>
          </a:bodyPr>
          <a:lstStyle/>
          <a:p>
            <a:pPr algn="ctr"/>
            <a:r>
              <a:rPr lang="en-GB" sz="1100" dirty="0"/>
              <a:t>For internal GSK use only</a:t>
            </a:r>
          </a:p>
        </p:txBody>
      </p:sp>
    </p:spTree>
    <p:extLst>
      <p:ext uri="{BB962C8B-B14F-4D97-AF65-F5344CB8AC3E}">
        <p14:creationId xmlns:p14="http://schemas.microsoft.com/office/powerpoint/2010/main" val="2915468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0D3666-6EB4-2815-6D2E-EFE946A218AB}"/>
              </a:ext>
            </a:extLst>
          </p:cNvPr>
          <p:cNvGraphicFramePr>
            <a:graphicFrameLocks noChangeAspect="1"/>
          </p:cNvGraphicFramePr>
          <p:nvPr userDrawn="1">
            <p:custDataLst>
              <p:tags r:id="rId1"/>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5" name="Object 4" hidden="1">
                        <a:extLst>
                          <a:ext uri="{FF2B5EF4-FFF2-40B4-BE49-F238E27FC236}">
                            <a16:creationId xmlns:a16="http://schemas.microsoft.com/office/drawing/2014/main" id="{F30D3666-6EB4-2815-6D2E-EFE946A218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descr="Icon&#10;&#10;Description automatically generated with medium confidence">
            <a:extLst>
              <a:ext uri="{FF2B5EF4-FFF2-40B4-BE49-F238E27FC236}">
                <a16:creationId xmlns:a16="http://schemas.microsoft.com/office/drawing/2014/main" id="{CD0C9FF5-5269-0182-FD37-55478A13B6D1}"/>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sp>
        <p:nvSpPr>
          <p:cNvPr id="12" name="Freeform: Shape 11">
            <a:extLst>
              <a:ext uri="{FF2B5EF4-FFF2-40B4-BE49-F238E27FC236}">
                <a16:creationId xmlns:a16="http://schemas.microsoft.com/office/drawing/2014/main" id="{458F29C9-8F7E-1D4B-3005-616565FA775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vert="horz" anchor="b" anchorCtr="0">
            <a:noAutofit/>
          </a:bodyPr>
          <a:lstStyle>
            <a:lvl1pPr>
              <a:lnSpc>
                <a:spcPct val="100000"/>
              </a:lnSpc>
              <a:defRPr sz="3600">
                <a:solidFill>
                  <a:schemeClr val="tx2"/>
                </a:solidFill>
              </a:defRPr>
            </a:lvl1pPr>
          </a:lstStyle>
          <a:p>
            <a:r>
              <a:rPr lang="en-GB" dirty="0"/>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10" name="Rectangle 9">
            <a:extLst>
              <a:ext uri="{FF2B5EF4-FFF2-40B4-BE49-F238E27FC236}">
                <a16:creationId xmlns:a16="http://schemas.microsoft.com/office/drawing/2014/main" id="{1811AA76-84DB-E6D7-7F67-E7CF37FEEDBC}"/>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chemeClr val="tx2"/>
                </a:solidFill>
                <a:latin typeface="+mn-lt"/>
              </a:rPr>
              <a:t>gsk.com</a:t>
            </a:r>
          </a:p>
        </p:txBody>
      </p:sp>
      <p:pic>
        <p:nvPicPr>
          <p:cNvPr id="14" name="Graphic 13">
            <a:extLst>
              <a:ext uri="{FF2B5EF4-FFF2-40B4-BE49-F238E27FC236}">
                <a16:creationId xmlns:a16="http://schemas.microsoft.com/office/drawing/2014/main" id="{F8155D66-36CA-D9A7-7EDA-E532E62376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Tree>
    <p:extLst>
      <p:ext uri="{BB962C8B-B14F-4D97-AF65-F5344CB8AC3E}">
        <p14:creationId xmlns:p14="http://schemas.microsoft.com/office/powerpoint/2010/main" val="662690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Autofit/>
          </a:bodyPr>
          <a:lstStyle>
            <a:lvl1pPr marL="0" indent="0">
              <a:buFont typeface="+mj-lt"/>
              <a:buNone/>
              <a:defRPr sz="1200"/>
            </a:lvl1pPr>
            <a:lvl2pPr marL="357542" indent="0">
              <a:buNone/>
              <a:defRPr/>
            </a:lvl2pPr>
          </a:lstStyle>
          <a:p>
            <a:pPr lvl="0"/>
            <a:r>
              <a:rPr lang="en-US" dirty="0"/>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52" name="Freeform: Shape 51">
            <a:extLst>
              <a:ext uri="{FF2B5EF4-FFF2-40B4-BE49-F238E27FC236}">
                <a16:creationId xmlns:a16="http://schemas.microsoft.com/office/drawing/2014/main" id="{4E683597-5ADE-F2A0-A01C-FD8E476ABB8B}"/>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3" name="Picture 2" descr="Icon&#10;&#10;Description automatically generated with medium confidence">
            <a:extLst>
              <a:ext uri="{FF2B5EF4-FFF2-40B4-BE49-F238E27FC236}">
                <a16:creationId xmlns:a16="http://schemas.microsoft.com/office/drawing/2014/main" id="{81F87534-B1D7-C46B-9E66-8AC88439308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custDataLst>
      <p:tags r:id="rId1"/>
    </p:custDataLst>
    <p:extLst>
      <p:ext uri="{BB962C8B-B14F-4D97-AF65-F5344CB8AC3E}">
        <p14:creationId xmlns:p14="http://schemas.microsoft.com/office/powerpoint/2010/main" val="4082973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r>
              <a:rPr lang="en-GB"/>
              <a:t>For Internal Use Only</a:t>
            </a:r>
            <a:endParaRPr lang="en-GB" dirty="0"/>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endParaRPr lang="en-GB" dirty="0"/>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dirty="0"/>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dirty="0"/>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25" name="Rectangle 24">
            <a:extLst>
              <a:ext uri="{FF2B5EF4-FFF2-40B4-BE49-F238E27FC236}">
                <a16:creationId xmlns:a16="http://schemas.microsoft.com/office/drawing/2014/main" id="{1BD6FC89-B057-E6C5-C8EA-1FC8CB31B6CA}"/>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dirty="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userDrawn="1">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Does XXX have further input on the proposals set out or require additional information?</a:t>
            </a:r>
            <a:br>
              <a:rPr lang="en-US" dirty="0"/>
            </a:br>
            <a:r>
              <a:rPr lang="en-US" dirty="0"/>
              <a:t>Is XXX supportive of the recommendation to x, y, z?</a:t>
            </a:r>
            <a:br>
              <a:rPr lang="en-US" dirty="0"/>
            </a:br>
            <a:r>
              <a:rPr lang="en-US" dirty="0"/>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Autofit/>
          </a:bodyPr>
          <a:lstStyle>
            <a:lvl1pPr marL="0" indent="0">
              <a:spcBef>
                <a:spcPts val="0"/>
              </a:spcBef>
              <a:spcAft>
                <a:spcPts val="0"/>
              </a:spcAft>
              <a:buSzPct val="100000"/>
              <a:buFont typeface="+mj-lt"/>
              <a:buNone/>
              <a:defRPr sz="1200"/>
            </a:lvl1pPr>
            <a:lvl2pPr marL="357542" indent="0">
              <a:buNone/>
              <a:defRPr/>
            </a:lvl2pPr>
          </a:lstStyle>
          <a:p>
            <a:pPr lvl="0"/>
            <a:r>
              <a:rPr lang="en-US" dirty="0"/>
              <a:t>Single person accountable for this topic / paper</a:t>
            </a:r>
          </a:p>
        </p:txBody>
      </p:sp>
    </p:spTree>
    <p:custDataLst>
      <p:tags r:id="rId1"/>
    </p:custDataLst>
    <p:extLst>
      <p:ext uri="{BB962C8B-B14F-4D97-AF65-F5344CB8AC3E}">
        <p14:creationId xmlns:p14="http://schemas.microsoft.com/office/powerpoint/2010/main" val="3290216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endParaRPr lang="en-GB" dirty="0"/>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r>
              <a:rPr lang="en-GB"/>
              <a:t>For Internal Use Only</a:t>
            </a:r>
            <a:endParaRPr lang="en-GB" dirty="0"/>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1800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dirty="0"/>
              <a:t>Agenda point 1, add text here.</a:t>
            </a:r>
            <a:br>
              <a:rPr lang="en-GB" dirty="0"/>
            </a:br>
            <a:r>
              <a:rPr lang="en-GB" dirty="0"/>
              <a:t>Agenda point 2, add text here.</a:t>
            </a:r>
            <a:br>
              <a:rPr lang="en-GB" dirty="0"/>
            </a:br>
            <a:r>
              <a:rPr lang="en-GB" dirty="0"/>
              <a:t>Agenda point 3, add text here.</a:t>
            </a:r>
            <a:br>
              <a:rPr lang="en-GB" dirty="0"/>
            </a:br>
            <a:r>
              <a:rPr lang="en-GB" dirty="0"/>
              <a:t>Agenda point 4, add text here.</a:t>
            </a:r>
            <a:br>
              <a:rPr lang="en-GB" dirty="0"/>
            </a:br>
            <a:r>
              <a:rPr lang="en-GB" dirty="0"/>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2616590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endParaRPr lang="en-GB" dirty="0"/>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r>
              <a:rPr lang="en-GB"/>
              <a:t>For Internal Use Only</a:t>
            </a:r>
            <a:endParaRPr lang="en-GB" dirty="0"/>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4145838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endParaRPr lang="en-GB" dirty="0"/>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r>
              <a:rPr lang="en-GB"/>
              <a:t>For Internal Use Only</a:t>
            </a:r>
            <a:endParaRPr lang="en-GB" dirty="0"/>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0" tIns="180000" rIns="0" bIns="180000">
            <a:noAutofit/>
          </a:bodyPr>
          <a:lstStyle>
            <a:lvl1pPr>
              <a:defRPr/>
            </a:lvl1pPr>
          </a:lstStyle>
          <a:p>
            <a:pPr lvl="0"/>
            <a:r>
              <a:rPr lang="en-US" dirty="0"/>
              <a:t>Click to enter TEXT content ONLY. </a:t>
            </a:r>
            <a:br>
              <a:rPr lang="en-US" dirty="0"/>
            </a:br>
            <a:r>
              <a:rPr lang="en-US" dirty="0"/>
              <a:t>If text content appears too large please reduce the size of this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510378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dirty="0"/>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endParaRPr lang="en-GB" dirty="0"/>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r>
              <a:rPr lang="en-GB"/>
              <a:t>For Internal Use Only</a:t>
            </a:r>
            <a:endParaRPr lang="en-GB" dirty="0"/>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dirty="0"/>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dirty="0"/>
              <a:t>Click to edit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1805947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585"/>
            </a:avLst>
          </a:prstGeom>
          <a:solidFill>
            <a:schemeClr val="bg1">
              <a:lumMod val="95000"/>
            </a:schemeClr>
          </a:solidFill>
          <a:ln>
            <a:noFill/>
          </a:ln>
        </p:spPr>
        <p:txBody>
          <a:bodyPr wrap="square">
            <a:noAutofit/>
          </a:bodyPr>
          <a:lstStyle>
            <a:lvl1pPr>
              <a:defRPr/>
            </a:lvl1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r>
              <a:rPr lang="en-GB"/>
              <a:t>For Internal Use Only</a:t>
            </a:r>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8001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365125" y="1303338"/>
            <a:ext cx="3652838" cy="4477804"/>
          </a:xfrm>
          <a:prstGeom prst="roundRect">
            <a:avLst>
              <a:gd name="adj" fmla="val 4585"/>
            </a:avLst>
          </a:prstGeom>
          <a:solidFill>
            <a:schemeClr val="tx2"/>
          </a:solidFill>
          <a:ln>
            <a:noFill/>
          </a:ln>
        </p:spPr>
        <p:txBody>
          <a:bodyPr wrap="square">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r>
              <a:rPr lang="en-GB"/>
              <a:t>For Internal Use Only</a:t>
            </a:r>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25200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Freeform: Shape 13">
            <a:extLst>
              <a:ext uri="{FF2B5EF4-FFF2-40B4-BE49-F238E27FC236}">
                <a16:creationId xmlns:a16="http://schemas.microsoft.com/office/drawing/2014/main" id="{17107491-B576-4FBA-DF55-410D54CA7B16}"/>
              </a:ext>
            </a:extLst>
          </p:cNvPr>
          <p:cNvSpPr/>
          <p:nvPr userDrawn="1"/>
        </p:nvSpPr>
        <p:spPr>
          <a:xfrm>
            <a:off x="4017963" y="1820564"/>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946930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253"/>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endParaRPr lang="en-GB" dirty="0"/>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dirty="0"/>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532525" y="1454538"/>
            <a:ext cx="52668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391644" y="1454538"/>
            <a:ext cx="52650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111650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818"/>
            </a:avLst>
          </a:prstGeom>
          <a:solidFill>
            <a:schemeClr val="bg1">
              <a:lumMod val="95000"/>
            </a:schemeClr>
          </a:solidFill>
          <a:ln>
            <a:noFill/>
          </a:ln>
        </p:spPr>
        <p:txBody>
          <a:bodyPr lIns="108000" tIns="1008000">
            <a:noAutofit/>
          </a:bodyPr>
          <a:lstStyle>
            <a:lvl1pPr marL="0" indent="0" algn="ctr">
              <a:buNone/>
              <a:defRPr sz="2200" baseline="0">
                <a:solidFill>
                  <a:schemeClr val="tx1"/>
                </a:solidFill>
              </a:defRPr>
            </a:lvl1pPr>
          </a:lstStyle>
          <a:p>
            <a:r>
              <a:rPr lang="en-GB" dirty="0"/>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endParaRPr lang="en-GB" dirty="0"/>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dirty="0"/>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15" name="Freeform: Shape 14">
            <a:extLst>
              <a:ext uri="{FF2B5EF4-FFF2-40B4-BE49-F238E27FC236}">
                <a16:creationId xmlns:a16="http://schemas.microsoft.com/office/drawing/2014/main" id="{73180677-148E-F381-0168-9327D51EF5C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668693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dirty="0"/>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727"/>
            </a:avLst>
          </a:prstGeom>
          <a:solidFill>
            <a:schemeClr val="bg1">
              <a:lumMod val="95000"/>
            </a:schemeClr>
          </a:solidFill>
          <a:ln>
            <a:noFill/>
          </a:ln>
        </p:spPr>
        <p:txBody>
          <a:bodyPr lIns="108000" tIns="108000" bIns="1224000" anchor="ctr">
            <a:noAutofit/>
          </a:bodyPr>
          <a:lstStyle>
            <a:lvl1pPr marL="0" indent="0" algn="ctr">
              <a:buNone/>
              <a:defRPr sz="2200" i="0" baseline="0">
                <a:solidFill>
                  <a:schemeClr val="tx1"/>
                </a:solidFill>
              </a:defRPr>
            </a:lvl1pPr>
          </a:lstStyle>
          <a:p>
            <a:r>
              <a:rPr lang="en-GB" dirty="0"/>
              <a:t>[Click on the film icon to insert video]</a:t>
            </a:r>
          </a:p>
        </p:txBody>
      </p:sp>
    </p:spTree>
    <p:extLst>
      <p:ext uri="{BB962C8B-B14F-4D97-AF65-F5344CB8AC3E}">
        <p14:creationId xmlns:p14="http://schemas.microsoft.com/office/powerpoint/2010/main" val="229071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4782"/>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r>
              <a:rPr lang="en-GB" dirty="0"/>
              <a:t>[The image can then be scaled within the frame by using the ‘Crop’ feature in the ‘Picture Format’ tab of the ribbon.</a:t>
            </a:r>
            <a:r>
              <a:rPr lang="en-US" dirty="0"/>
              <a:t> Right click on image to add/edit alt text</a:t>
            </a:r>
            <a:r>
              <a:rPr lang="en-GB" dirty="0"/>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For Internal Use Only</a:t>
            </a:r>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01100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 and Text 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0E2EBD-4DBA-A411-89A3-C363C68F935D}"/>
              </a:ext>
            </a:extLst>
          </p:cNvPr>
          <p:cNvGraphicFramePr>
            <a:graphicFrameLocks noChangeAspect="1"/>
          </p:cNvGraphicFramePr>
          <p:nvPr userDrawn="1">
            <p:custDataLst>
              <p:tags r:id="rId1"/>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710E2EBD-4DBA-A411-89A3-C363C68F93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552711"/>
                </a:lnTo>
                <a:cubicBezTo>
                  <a:pt x="8759" y="1063964"/>
                  <a:pt x="590287" y="923198"/>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lnTo>
                  <a:pt x="1697038" y="0"/>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vert="horz"/>
          <a:lstStyle/>
          <a:p>
            <a:r>
              <a:rPr lang="en-US"/>
              <a:t>Click to edit Master title style</a:t>
            </a:r>
            <a:endParaRPr lang="en-US" dirty="0"/>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697363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227381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For Internal Use Only</a:t>
            </a:r>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026702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r>
              <a:rPr lang="en-GB"/>
              <a:t>For Internal Use Only</a:t>
            </a:r>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dirty="0"/>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125089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0" tIns="72000" rIns="0" bIns="72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dirty="0"/>
              <a:t>Click to edit subheading text</a:t>
            </a:r>
            <a:endParaRPr lang="en-GB" dirty="0"/>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53137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endParaRPr lang="en-GB" dirty="0"/>
          </a:p>
        </p:txBody>
      </p:sp>
      <p:sp>
        <p:nvSpPr>
          <p:cNvPr id="7" name="Footer Placeholder 6"/>
          <p:cNvSpPr>
            <a:spLocks noGrp="1"/>
          </p:cNvSpPr>
          <p:nvPr>
            <p:ph type="ftr" sz="quarter" idx="31"/>
          </p:nvPr>
        </p:nvSpPr>
        <p:spPr/>
        <p:txBody>
          <a:bodyPr/>
          <a:lstStyle>
            <a:lvl1pPr>
              <a:defRPr/>
            </a:lvl1pPr>
          </a:lstStyle>
          <a:p>
            <a:r>
              <a:rPr lang="en-GB"/>
              <a:t>For Internal Use Only</a:t>
            </a:r>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266058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endParaRPr lang="en-GB" dirty="0"/>
          </a:p>
        </p:txBody>
      </p:sp>
      <p:sp>
        <p:nvSpPr>
          <p:cNvPr id="7" name="Footer Placeholder 6"/>
          <p:cNvSpPr>
            <a:spLocks noGrp="1"/>
          </p:cNvSpPr>
          <p:nvPr>
            <p:ph type="ftr" sz="quarter" idx="31"/>
          </p:nvPr>
        </p:nvSpPr>
        <p:spPr/>
        <p:txBody>
          <a:bodyPr/>
          <a:lstStyle>
            <a:lvl1pPr>
              <a:defRPr/>
            </a:lvl1pPr>
          </a:lstStyle>
          <a:p>
            <a:r>
              <a:rPr lang="en-GB"/>
              <a:t>For Internal Use Only</a:t>
            </a:r>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140462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0" rIns="0">
            <a:noAutofit/>
          </a:bodyPr>
          <a:lstStyle>
            <a:lvl1pPr>
              <a:defRPr/>
            </a:lvl1pPr>
          </a:lstStyle>
          <a:p>
            <a:r>
              <a:rPr lang="en-GB" dirty="0"/>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227615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r>
              <a:rPr lang="en-GB"/>
              <a:t>For Internal Use Only</a:t>
            </a:r>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0" rIns="0">
            <a:noAutofit/>
          </a:bodyPr>
          <a:lstStyle>
            <a:lvl1pPr>
              <a:defRPr/>
            </a:lvl1pPr>
          </a:lstStyle>
          <a:p>
            <a:r>
              <a:rPr lang="en-GB" dirty="0"/>
              <a:t>Click CHART icons to insert chart.</a:t>
            </a:r>
            <a:br>
              <a:rPr lang="en-GB" dirty="0"/>
            </a:br>
            <a:r>
              <a:rPr lang="en-US" dirty="0"/>
              <a:t>Please ensure your chart title, legend, x and y axis titles are minimum 12 </a:t>
            </a:r>
            <a:r>
              <a:rPr lang="en-US" dirty="0" err="1"/>
              <a:t>pt</a:t>
            </a:r>
            <a:r>
              <a:rPr lang="en-US" dirty="0"/>
              <a:t>, Arial black for accessibility. </a:t>
            </a:r>
          </a:p>
          <a:p>
            <a:endParaRPr lang="en-GB" dirty="0"/>
          </a:p>
          <a:p>
            <a:endParaRPr lang="en-GB" dirty="0"/>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298084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r>
              <a:rPr lang="en-GB"/>
              <a:t>For Internal Use Only</a:t>
            </a:r>
            <a:endParaRPr lang="en-GB" dirty="0"/>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endParaRPr lang="en-GB" dirty="0"/>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690591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endParaRPr lang="en-GB" dirty="0"/>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r>
              <a:rPr lang="en-GB"/>
              <a:t>For Internal Use Only</a:t>
            </a:r>
            <a:endParaRPr lang="en-GB" dirty="0"/>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dirty="0"/>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72000" rIns="0" bIns="72000" anchor="b">
            <a:noAutofit/>
          </a:bodyPr>
          <a:lstStyle>
            <a:lvl1pPr marL="0" indent="0">
              <a:buNone/>
              <a:defRPr sz="12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pic>
        <p:nvPicPr>
          <p:cNvPr id="6" name="Graphic 5">
            <a:extLst>
              <a:ext uri="{FF2B5EF4-FFF2-40B4-BE49-F238E27FC236}">
                <a16:creationId xmlns:a16="http://schemas.microsoft.com/office/drawing/2014/main" id="{A8F5241F-6CBA-AE82-8AEE-138E90E20FA2}"/>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219299" y="6191252"/>
            <a:ext cx="1215582" cy="563804"/>
          </a:xfrm>
          <a:prstGeom prst="rect">
            <a:avLst/>
          </a:prstGeom>
        </p:spPr>
      </p:pic>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775451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endParaRPr lang="en-GB" dirty="0"/>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r>
              <a:rPr lang="en-GB"/>
              <a:t>For Internal Use Only</a:t>
            </a:r>
            <a:endParaRPr lang="en-GB" dirty="0"/>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Tree>
    <p:extLst>
      <p:ext uri="{BB962C8B-B14F-4D97-AF65-F5344CB8AC3E}">
        <p14:creationId xmlns:p14="http://schemas.microsoft.com/office/powerpoint/2010/main" val="492169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34849580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Section Header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700605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8276E86-C9B6-1B20-0470-A93E9FE76804}"/>
              </a:ext>
            </a:extLst>
          </p:cNvPr>
          <p:cNvGraphicFramePr>
            <a:graphicFrameLocks noChangeAspect="1"/>
          </p:cNvGraphicFramePr>
          <p:nvPr userDrawn="1">
            <p:custDataLst>
              <p:tags r:id="rId1"/>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8276E86-C9B6-1B20-0470-A93E9FE768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vert="horz">
            <a:noAutofit/>
          </a:bodyPr>
          <a:lstStyle>
            <a:lvl1pPr>
              <a:defRPr sz="3600">
                <a:solidFill>
                  <a:schemeClr val="bg1"/>
                </a:solidFill>
              </a:defRPr>
            </a:lvl1pPr>
          </a:lstStyle>
          <a:p>
            <a:r>
              <a:rPr lang="en-US" dirty="0"/>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795771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3576364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dirty="0">
                <a:solidFill>
                  <a:schemeClr val="bg1"/>
                </a:solidFill>
              </a:rPr>
              <a:t>Do not use </a:t>
            </a:r>
            <a:br>
              <a:rPr lang="en-GB" sz="9600" kern="0" dirty="0">
                <a:solidFill>
                  <a:schemeClr val="bg1"/>
                </a:solidFill>
              </a:rPr>
            </a:br>
            <a:r>
              <a:rPr lang="en-GB" sz="9600" kern="0" dirty="0">
                <a:solidFill>
                  <a:schemeClr val="bg1"/>
                </a:solidFill>
              </a:rPr>
              <a:t>layouts that appear </a:t>
            </a:r>
            <a:br>
              <a:rPr lang="en-GB" sz="9600" kern="0" dirty="0">
                <a:solidFill>
                  <a:schemeClr val="bg1"/>
                </a:solidFill>
              </a:rPr>
            </a:br>
            <a:r>
              <a:rPr lang="en-GB" sz="9600" kern="0" dirty="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532164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Slide Number Placeholder 4"/>
          <p:cNvSpPr>
            <a:spLocks noGrp="1"/>
          </p:cNvSpPr>
          <p:nvPr>
            <p:ph type="sldNum" sz="quarter" idx="12"/>
          </p:nvPr>
        </p:nvSpPr>
        <p:spPr>
          <a:xfrm>
            <a:off x="11248846" y="6321254"/>
            <a:ext cx="511153" cy="365125"/>
          </a:xfrm>
          <a:prstGeom prst="rect">
            <a:avLst/>
          </a:prstGeom>
        </p:spPr>
        <p:txBody>
          <a:bodyPr rIns="0"/>
          <a:lstStyle>
            <a:lvl1pPr algn="r">
              <a:defRPr sz="1200">
                <a:solidFill>
                  <a:schemeClr val="tx2"/>
                </a:solidFill>
              </a:defRPr>
            </a:lvl1pPr>
          </a:lstStyle>
          <a:p>
            <a:fld id="{2A603147-C618-4EA3-8F82-359C170F62BB}" type="slidenum">
              <a:rPr lang="en-GB" smtClean="0"/>
              <a:pPr/>
              <a:t>‹#›</a:t>
            </a:fld>
            <a:endParaRPr lang="en-GB" dirty="0"/>
          </a:p>
        </p:txBody>
      </p:sp>
      <p:sp>
        <p:nvSpPr>
          <p:cNvPr id="9" name="Text Placeholder 8"/>
          <p:cNvSpPr>
            <a:spLocks noGrp="1"/>
          </p:cNvSpPr>
          <p:nvPr>
            <p:ph type="body" sz="quarter" idx="13" hasCustomPrompt="1"/>
          </p:nvPr>
        </p:nvSpPr>
        <p:spPr>
          <a:xfrm>
            <a:off x="336000" y="771649"/>
            <a:ext cx="9984000" cy="504000"/>
          </a:xfrm>
        </p:spPr>
        <p:txBody>
          <a:bodyPr vert="horz" lIns="91440" tIns="45720" rIns="91440" bIns="45720" rtlCol="0" anchor="ctr">
            <a:noAutofit/>
          </a:bodyPr>
          <a:lstStyle>
            <a:lvl1pPr marL="0" indent="0">
              <a:buFont typeface="Arial" panose="020B0604020202020204" pitchFamily="34" charset="0"/>
              <a:buNone/>
              <a:defRPr lang="en-US" sz="1600" dirty="0"/>
            </a:lvl1pPr>
          </a:lstStyle>
          <a:p>
            <a:pPr marL="228600" lvl="0" indent="-228600">
              <a:spcAft>
                <a:spcPts val="0"/>
              </a:spcAft>
            </a:pPr>
            <a:r>
              <a:rPr lang="en-GB" dirty="0"/>
              <a:t>Supporting heading 16pt</a:t>
            </a:r>
            <a:endParaRPr lang="en-US" dirty="0"/>
          </a:p>
        </p:txBody>
      </p:sp>
      <p:sp>
        <p:nvSpPr>
          <p:cNvPr id="10" name="Text Placeholder 14"/>
          <p:cNvSpPr>
            <a:spLocks noGrp="1"/>
          </p:cNvSpPr>
          <p:nvPr>
            <p:ph type="body" sz="quarter" idx="21" hasCustomPrompt="1"/>
          </p:nvPr>
        </p:nvSpPr>
        <p:spPr>
          <a:xfrm>
            <a:off x="426921" y="6221528"/>
            <a:ext cx="10752000" cy="468000"/>
          </a:xfrm>
        </p:spPr>
        <p:txBody>
          <a:bodyPr lIns="0" tIns="0" rIns="0" bIns="0" anchor="t" anchorCtr="0"/>
          <a:lstStyle>
            <a:lvl1pPr marL="0" indent="0" algn="l">
              <a:lnSpc>
                <a:spcPct val="100000"/>
              </a:lnSpc>
              <a:spcBef>
                <a:spcPts val="0"/>
              </a:spcBef>
              <a:spcAft>
                <a:spcPts val="0"/>
              </a:spcAft>
              <a:buNone/>
              <a:defRPr sz="800"/>
            </a:lvl1pPr>
          </a:lstStyle>
          <a:p>
            <a:pPr lvl="0"/>
            <a:r>
              <a:rPr lang="en-GB" dirty="0"/>
              <a:t>References</a:t>
            </a:r>
          </a:p>
        </p:txBody>
      </p:sp>
      <p:sp>
        <p:nvSpPr>
          <p:cNvPr id="11" name="Text Placeholder 14"/>
          <p:cNvSpPr>
            <a:spLocks noGrp="1"/>
          </p:cNvSpPr>
          <p:nvPr>
            <p:ph type="body" sz="quarter" idx="19" hasCustomPrompt="1"/>
          </p:nvPr>
        </p:nvSpPr>
        <p:spPr>
          <a:xfrm>
            <a:off x="434888" y="5962569"/>
            <a:ext cx="11251200" cy="194733"/>
          </a:xfrm>
        </p:spPr>
        <p:txBody>
          <a:bodyPr lIns="0" tIns="0" rIns="0" bIns="0" anchor="b" anchorCtr="0">
            <a:noAutofit/>
          </a:bodyPr>
          <a:lstStyle>
            <a:lvl1pPr marL="0" indent="0" algn="l">
              <a:lnSpc>
                <a:spcPct val="100000"/>
              </a:lnSpc>
              <a:spcBef>
                <a:spcPts val="0"/>
              </a:spcBef>
              <a:spcAft>
                <a:spcPts val="0"/>
              </a:spcAft>
              <a:buNone/>
              <a:defRPr sz="800"/>
            </a:lvl1pPr>
          </a:lstStyle>
          <a:p>
            <a:pPr lvl="0"/>
            <a:r>
              <a:rPr lang="en-GB" dirty="0"/>
              <a:t>Abbreviations</a:t>
            </a:r>
          </a:p>
        </p:txBody>
      </p:sp>
      <p:sp>
        <p:nvSpPr>
          <p:cNvPr id="4" name="TextBox 3">
            <a:extLst>
              <a:ext uri="{FF2B5EF4-FFF2-40B4-BE49-F238E27FC236}">
                <a16:creationId xmlns:a16="http://schemas.microsoft.com/office/drawing/2014/main" id="{786C628B-DB62-BFD8-85D5-4E3D822BF7EB}"/>
              </a:ext>
            </a:extLst>
          </p:cNvPr>
          <p:cNvSpPr txBox="1"/>
          <p:nvPr userDrawn="1"/>
        </p:nvSpPr>
        <p:spPr>
          <a:xfrm>
            <a:off x="3406140" y="6635001"/>
            <a:ext cx="6097384" cy="261610"/>
          </a:xfrm>
          <a:prstGeom prst="rect">
            <a:avLst/>
          </a:prstGeom>
          <a:noFill/>
        </p:spPr>
        <p:txBody>
          <a:bodyPr wrap="square">
            <a:spAutoFit/>
          </a:bodyPr>
          <a:lstStyle/>
          <a:p>
            <a:pPr algn="ctr"/>
            <a:r>
              <a:rPr lang="en-GB" sz="1050" dirty="0"/>
              <a:t>For internal GSK use only</a:t>
            </a:r>
          </a:p>
        </p:txBody>
      </p:sp>
    </p:spTree>
    <p:extLst>
      <p:ext uri="{BB962C8B-B14F-4D97-AF65-F5344CB8AC3E}">
        <p14:creationId xmlns:p14="http://schemas.microsoft.com/office/powerpoint/2010/main" val="364734315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Title and Content ">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endParaRPr lang="en-US"/>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r>
              <a:rPr lang="en-US"/>
              <a:t>For Internal Use Only</a:t>
            </a:r>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BEE2726F-1D7E-4D71-9048-9F50C83A58CE}" type="slidenum">
              <a:rPr lang="en-US" smtClean="0"/>
              <a:t>‹#›</a:t>
            </a:fld>
            <a:endParaRPr lang="en-US"/>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2709358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2.sv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6.xml"/><Relationship Id="rId18" Type="http://schemas.openxmlformats.org/officeDocument/2006/relationships/slideLayout" Target="../slideLayouts/slideLayout61.xml"/><Relationship Id="rId26" Type="http://schemas.openxmlformats.org/officeDocument/2006/relationships/slideLayout" Target="../slideLayouts/slideLayout69.xml"/><Relationship Id="rId39" Type="http://schemas.openxmlformats.org/officeDocument/2006/relationships/image" Target="../media/image2.svg"/><Relationship Id="rId21" Type="http://schemas.openxmlformats.org/officeDocument/2006/relationships/slideLayout" Target="../slideLayouts/slideLayout64.xml"/><Relationship Id="rId34" Type="http://schemas.openxmlformats.org/officeDocument/2006/relationships/theme" Target="../theme/theme2.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17" Type="http://schemas.openxmlformats.org/officeDocument/2006/relationships/slideLayout" Target="../slideLayouts/slideLayout60.xml"/><Relationship Id="rId25" Type="http://schemas.openxmlformats.org/officeDocument/2006/relationships/slideLayout" Target="../slideLayouts/slideLayout68.xml"/><Relationship Id="rId33" Type="http://schemas.openxmlformats.org/officeDocument/2006/relationships/slideLayout" Target="../slideLayouts/slideLayout76.xml"/><Relationship Id="rId38" Type="http://schemas.openxmlformats.org/officeDocument/2006/relationships/image" Target="../media/image1.png"/><Relationship Id="rId2" Type="http://schemas.openxmlformats.org/officeDocument/2006/relationships/slideLayout" Target="../slideLayouts/slideLayout45.xml"/><Relationship Id="rId16" Type="http://schemas.openxmlformats.org/officeDocument/2006/relationships/slideLayout" Target="../slideLayouts/slideLayout59.xml"/><Relationship Id="rId20" Type="http://schemas.openxmlformats.org/officeDocument/2006/relationships/slideLayout" Target="../slideLayouts/slideLayout63.xml"/><Relationship Id="rId29" Type="http://schemas.openxmlformats.org/officeDocument/2006/relationships/slideLayout" Target="../slideLayouts/slideLayout72.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24" Type="http://schemas.openxmlformats.org/officeDocument/2006/relationships/slideLayout" Target="../slideLayouts/slideLayout67.xml"/><Relationship Id="rId32" Type="http://schemas.openxmlformats.org/officeDocument/2006/relationships/slideLayout" Target="../slideLayouts/slideLayout75.xml"/><Relationship Id="rId37" Type="http://schemas.openxmlformats.org/officeDocument/2006/relationships/image" Target="../media/image13.emf"/><Relationship Id="rId5" Type="http://schemas.openxmlformats.org/officeDocument/2006/relationships/slideLayout" Target="../slideLayouts/slideLayout48.xml"/><Relationship Id="rId15" Type="http://schemas.openxmlformats.org/officeDocument/2006/relationships/slideLayout" Target="../slideLayouts/slideLayout58.xml"/><Relationship Id="rId23" Type="http://schemas.openxmlformats.org/officeDocument/2006/relationships/slideLayout" Target="../slideLayouts/slideLayout66.xml"/><Relationship Id="rId28" Type="http://schemas.openxmlformats.org/officeDocument/2006/relationships/slideLayout" Target="../slideLayouts/slideLayout71.xml"/><Relationship Id="rId36" Type="http://schemas.openxmlformats.org/officeDocument/2006/relationships/oleObject" Target="../embeddings/oleObject1.bin"/><Relationship Id="rId10" Type="http://schemas.openxmlformats.org/officeDocument/2006/relationships/slideLayout" Target="../slideLayouts/slideLayout53.xml"/><Relationship Id="rId19" Type="http://schemas.openxmlformats.org/officeDocument/2006/relationships/slideLayout" Target="../slideLayouts/slideLayout62.xml"/><Relationship Id="rId31" Type="http://schemas.openxmlformats.org/officeDocument/2006/relationships/slideLayout" Target="../slideLayouts/slideLayout74.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slideLayout" Target="../slideLayouts/slideLayout57.xml"/><Relationship Id="rId22" Type="http://schemas.openxmlformats.org/officeDocument/2006/relationships/slideLayout" Target="../slideLayouts/slideLayout65.xml"/><Relationship Id="rId27" Type="http://schemas.openxmlformats.org/officeDocument/2006/relationships/slideLayout" Target="../slideLayouts/slideLayout70.xml"/><Relationship Id="rId30" Type="http://schemas.openxmlformats.org/officeDocument/2006/relationships/slideLayout" Target="../slideLayouts/slideLayout73.xml"/><Relationship Id="rId35" Type="http://schemas.openxmlformats.org/officeDocument/2006/relationships/tags" Target="../tags/tag10.xml"/><Relationship Id="rId8" Type="http://schemas.openxmlformats.org/officeDocument/2006/relationships/slideLayout" Target="../slideLayouts/slideLayout51.xml"/><Relationship Id="rId3"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2319338" y="6343650"/>
            <a:ext cx="5600700" cy="269875"/>
          </a:xfrm>
          <a:prstGeom prst="rect">
            <a:avLst/>
          </a:prstGeom>
        </p:spPr>
        <p:txBody>
          <a:bodyPr vert="horz" lIns="0" tIns="0" rIns="0" bIns="0" rtlCol="0" anchor="b" anchorCtr="0">
            <a:normAutofit/>
          </a:bodyPr>
          <a:lstStyle>
            <a:lvl1pPr algn="l">
              <a:defRPr sz="1200">
                <a:solidFill>
                  <a:schemeClr val="tx1"/>
                </a:solidFill>
              </a:defRPr>
            </a:lvl1pPr>
          </a:lstStyle>
          <a:p>
            <a:r>
              <a:rPr lang="en-GB"/>
              <a:t>For Internal Use Only</a:t>
            </a:r>
            <a:endParaRPr lang="en-GB" dirty="0"/>
          </a:p>
        </p:txBody>
      </p:sp>
      <p:sp>
        <p:nvSpPr>
          <p:cNvPr id="6" name="Slide Number Placeholder 5"/>
          <p:cNvSpPr>
            <a:spLocks noGrp="1"/>
          </p:cNvSpPr>
          <p:nvPr>
            <p:ph type="sldNum" sz="quarter" idx="4"/>
          </p:nvPr>
        </p:nvSpPr>
        <p:spPr>
          <a:xfrm>
            <a:off x="11285288" y="6343650"/>
            <a:ext cx="540000" cy="269875"/>
          </a:xfrm>
          <a:prstGeom prst="rect">
            <a:avLst/>
          </a:prstGeom>
        </p:spPr>
        <p:txBody>
          <a:bodyPr vert="horz" lIns="0" tIns="0" rIns="0" bIns="0" rtlCol="0" anchor="b" anchorCtr="0">
            <a:normAutofit/>
          </a:bodyPr>
          <a:lstStyle>
            <a:lvl1pPr algn="r">
              <a:defRPr sz="1000">
                <a:solidFill>
                  <a:schemeClr val="tx1"/>
                </a:solidFill>
              </a:defRPr>
            </a:lvl1pPr>
          </a:lstStyle>
          <a:p>
            <a:fld id="{9F9F533D-B52E-4A2F-BF72-0ADD2D94BD75}" type="slidenum">
              <a:rPr lang="en-GB" smtClean="0"/>
              <a:pPr/>
              <a:t>‹#›</a:t>
            </a:fld>
            <a:endParaRPr lang="en-GB" dirty="0"/>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rmAutofit/>
          </a:bodyPr>
          <a:lstStyle/>
          <a:p>
            <a:r>
              <a:rPr lang="en-GB" dirty="0"/>
              <a:t>Click to enter slide title</a:t>
            </a:r>
          </a:p>
        </p:txBody>
      </p:sp>
      <p:sp>
        <p:nvSpPr>
          <p:cNvPr id="7" name="Date Placeholder 6"/>
          <p:cNvSpPr>
            <a:spLocks noGrp="1"/>
          </p:cNvSpPr>
          <p:nvPr>
            <p:ph type="dt" sz="half" idx="2"/>
          </p:nvPr>
        </p:nvSpPr>
        <p:spPr>
          <a:xfrm>
            <a:off x="8172450" y="6343650"/>
            <a:ext cx="2776537" cy="269875"/>
          </a:xfrm>
          <a:prstGeom prst="rect">
            <a:avLst/>
          </a:prstGeom>
        </p:spPr>
        <p:txBody>
          <a:bodyPr vert="horz" lIns="0" tIns="0" rIns="0" bIns="0" rtlCol="0" anchor="b" anchorCtr="0">
            <a:normAutofit/>
          </a:bodyPr>
          <a:lstStyle>
            <a:lvl1pPr algn="r">
              <a:defRPr sz="1000">
                <a:solidFill>
                  <a:schemeClr val="tx1"/>
                </a:solidFill>
              </a:defRPr>
            </a:lvl1pPr>
          </a:lstStyle>
          <a:p>
            <a:endParaRPr lang="en-GB" dirty="0"/>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180000" tIns="180000" rIns="180000" bIns="180000" rtlCol="0">
            <a:normAutofit/>
          </a:bodyPr>
          <a:lstStyle/>
          <a:p>
            <a:pPr lvl="0"/>
            <a:r>
              <a:rPr lang="en-GB" dirty="0"/>
              <a:t>Click to enter text content.</a:t>
            </a:r>
            <a:br>
              <a:rPr lang="en-GB" dirty="0"/>
            </a:br>
            <a:r>
              <a:rPr lang="en-GB" dirty="0"/>
              <a:t>To increase bullet level, select your text &gt; press ‘Tab’.</a:t>
            </a:r>
            <a:br>
              <a:rPr lang="en-GB" dirty="0"/>
            </a:br>
            <a:r>
              <a:rPr lang="en-GB" dirty="0"/>
              <a:t>To decrease bullet level, select your text &gt; press ‘Shift’ + ‘Tab’.</a:t>
            </a:r>
            <a:br>
              <a:rPr lang="en-GB" dirty="0"/>
            </a:br>
            <a:r>
              <a:rPr lang="en-GB" dirty="0"/>
              <a:t>To remove bullet levels, select your text &gt; right click &gt; press ‘bullets’.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a:p>
            <a:pPr lvl="4"/>
            <a:endParaRPr lang="en-GB" dirty="0"/>
          </a:p>
        </p:txBody>
      </p:sp>
      <p:pic>
        <p:nvPicPr>
          <p:cNvPr id="26" name="Graphic 25">
            <a:extLst>
              <a:ext uri="{FF2B5EF4-FFF2-40B4-BE49-F238E27FC236}">
                <a16:creationId xmlns:a16="http://schemas.microsoft.com/office/drawing/2014/main" id="{7B7C2D6E-A9EC-414F-8A58-3207DA98D6C5}"/>
              </a:ext>
            </a:extLst>
          </p:cNvPr>
          <p:cNvPicPr>
            <a:picLocks noChangeAspect="1"/>
          </p:cNvPicPr>
          <p:nvPr userDrawn="1"/>
        </p:nvPicPr>
        <p:blipFill>
          <a:blip r:embed="rId45" cstate="print">
            <a:extLst>
              <a:ext uri="{28A0092B-C50C-407E-A947-70E740481C1C}">
                <a14:useLocalDpi xmlns:a14="http://schemas.microsoft.com/office/drawing/2010/main"/>
              </a:ext>
              <a:ext uri="{96DAC541-7B7A-43D3-8B79-37D633B846F1}">
                <asvg:svgBlip xmlns:asvg="http://schemas.microsoft.com/office/drawing/2016/SVG/main" r:embed="rId46"/>
              </a:ext>
            </a:extLst>
          </a:blip>
          <a:stretch>
            <a:fillRect/>
          </a:stretch>
        </p:blipFill>
        <p:spPr>
          <a:xfrm>
            <a:off x="376239" y="6354213"/>
            <a:ext cx="820737" cy="247406"/>
          </a:xfrm>
          <a:prstGeom prst="rect">
            <a:avLst/>
          </a:prstGeom>
        </p:spPr>
      </p:pic>
    </p:spTree>
    <p:extLst>
      <p:ext uri="{BB962C8B-B14F-4D97-AF65-F5344CB8AC3E}">
        <p14:creationId xmlns:p14="http://schemas.microsoft.com/office/powerpoint/2010/main" val="4260756284"/>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82" r:id="rId3"/>
    <p:sldLayoutId id="2147483785" r:id="rId4"/>
    <p:sldLayoutId id="2147483787" r:id="rId5"/>
    <p:sldLayoutId id="2147483663" r:id="rId6"/>
    <p:sldLayoutId id="2147483664" r:id="rId7"/>
    <p:sldLayoutId id="2147483665" r:id="rId8"/>
    <p:sldLayoutId id="2147483668" r:id="rId9"/>
    <p:sldLayoutId id="2147483786" r:id="rId10"/>
    <p:sldLayoutId id="2147483669" r:id="rId11"/>
    <p:sldLayoutId id="2147483670" r:id="rId12"/>
    <p:sldLayoutId id="2147483671" r:id="rId13"/>
    <p:sldLayoutId id="2147483728" r:id="rId14"/>
    <p:sldLayoutId id="2147483730" r:id="rId15"/>
    <p:sldLayoutId id="2147483765" r:id="rId16"/>
    <p:sldLayoutId id="2147483773" r:id="rId17"/>
    <p:sldLayoutId id="2147483774" r:id="rId18"/>
    <p:sldLayoutId id="2147483766" r:id="rId19"/>
    <p:sldLayoutId id="2147483673" r:id="rId20"/>
    <p:sldLayoutId id="2147483771" r:id="rId21"/>
    <p:sldLayoutId id="2147483768" r:id="rId22"/>
    <p:sldLayoutId id="2147483767" r:id="rId23"/>
    <p:sldLayoutId id="2147483776" r:id="rId24"/>
    <p:sldLayoutId id="2147483763" r:id="rId25"/>
    <p:sldLayoutId id="2147483675" r:id="rId26"/>
    <p:sldLayoutId id="2147483777" r:id="rId27"/>
    <p:sldLayoutId id="2147483778" r:id="rId28"/>
    <p:sldLayoutId id="2147483762" r:id="rId29"/>
    <p:sldLayoutId id="2147483764" r:id="rId30"/>
    <p:sldLayoutId id="2147483789" r:id="rId31"/>
    <p:sldLayoutId id="2147483790" r:id="rId32"/>
    <p:sldLayoutId id="2147483791" r:id="rId33"/>
    <p:sldLayoutId id="2147483792" r:id="rId34"/>
    <p:sldLayoutId id="2147483793" r:id="rId35"/>
    <p:sldLayoutId id="2147483795" r:id="rId36"/>
    <p:sldLayoutId id="2147483796" r:id="rId37"/>
    <p:sldLayoutId id="2147483797" r:id="rId38"/>
    <p:sldLayoutId id="2147483800" r:id="rId39"/>
    <p:sldLayoutId id="2147483801" r:id="rId40"/>
    <p:sldLayoutId id="2147483802" r:id="rId41"/>
    <p:sldLayoutId id="2147483837" r:id="rId42"/>
    <p:sldLayoutId id="2147483839" r:id="rId4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A6A6A6"/>
          </p15:clr>
        </p15:guide>
        <p15:guide id="2" pos="7680" userDrawn="1">
          <p15:clr>
            <a:srgbClr val="A6A6A6"/>
          </p15:clr>
        </p15:guide>
        <p15:guide id="3" pos="230" userDrawn="1">
          <p15:clr>
            <a:srgbClr val="A6A6A6"/>
          </p15:clr>
        </p15:guide>
        <p15:guide id="4" pos="1301" userDrawn="1">
          <p15:clr>
            <a:srgbClr val="A6A6A6"/>
          </p15:clr>
        </p15:guide>
        <p15:guide id="5" pos="1461" userDrawn="1">
          <p15:clr>
            <a:srgbClr val="A6A6A6"/>
          </p15:clr>
        </p15:guide>
        <p15:guide id="6" pos="2531" userDrawn="1">
          <p15:clr>
            <a:srgbClr val="A6A6A6"/>
          </p15:clr>
        </p15:guide>
        <p15:guide id="7" pos="2690" userDrawn="1">
          <p15:clr>
            <a:srgbClr val="A6A6A6"/>
          </p15:clr>
        </p15:guide>
        <p15:guide id="8" pos="3759" userDrawn="1">
          <p15:clr>
            <a:srgbClr val="A6A6A6"/>
          </p15:clr>
        </p15:guide>
        <p15:guide id="9" pos="3920" userDrawn="1">
          <p15:clr>
            <a:srgbClr val="A6A6A6"/>
          </p15:clr>
        </p15:guide>
        <p15:guide id="10" pos="4989" userDrawn="1">
          <p15:clr>
            <a:srgbClr val="A6A6A6"/>
          </p15:clr>
        </p15:guide>
        <p15:guide id="11" pos="5148" userDrawn="1">
          <p15:clr>
            <a:srgbClr val="A6A6A6"/>
          </p15:clr>
        </p15:guide>
        <p15:guide id="12" pos="6218" userDrawn="1">
          <p15:clr>
            <a:srgbClr val="A6A6A6"/>
          </p15:clr>
        </p15:guide>
        <p15:guide id="13" pos="6378" userDrawn="1">
          <p15:clr>
            <a:srgbClr val="A6A6A6"/>
          </p15:clr>
        </p15:guide>
        <p15:guide id="14" pos="7449" userDrawn="1">
          <p15:clr>
            <a:srgbClr val="A6A6A6"/>
          </p15:clr>
        </p15:guide>
        <p15:guide id="15" orient="horz" userDrawn="1">
          <p15:clr>
            <a:srgbClr val="A6A6A6"/>
          </p15:clr>
        </p15:guide>
        <p15:guide id="16" orient="horz" pos="4315" userDrawn="1">
          <p15:clr>
            <a:srgbClr val="A6A6A6"/>
          </p15:clr>
        </p15:guide>
        <p15:guide id="17" orient="horz" pos="153" userDrawn="1">
          <p15:clr>
            <a:srgbClr val="A6A6A6"/>
          </p15:clr>
        </p15:guide>
        <p15:guide id="18" orient="horz" pos="686" userDrawn="1">
          <p15:clr>
            <a:srgbClr val="A6A6A6"/>
          </p15:clr>
        </p15:guide>
        <p15:guide id="19" orient="horz" pos="821" userDrawn="1">
          <p15:clr>
            <a:srgbClr val="A6A6A6"/>
          </p15:clr>
        </p15:guide>
        <p15:guide id="20" orient="horz" pos="1323" userDrawn="1">
          <p15:clr>
            <a:srgbClr val="A6A6A6"/>
          </p15:clr>
        </p15:guide>
        <p15:guide id="21" orient="horz" pos="2330" userDrawn="1">
          <p15:clr>
            <a:srgbClr val="A6A6A6"/>
          </p15:clr>
        </p15:guide>
        <p15:guide id="22" orient="horz" pos="3335" userDrawn="1">
          <p15:clr>
            <a:srgbClr val="A6A6A6"/>
          </p15:clr>
        </p15:guide>
        <p15:guide id="23" orient="horz" pos="3837" userDrawn="1">
          <p15:clr>
            <a:srgbClr val="A6A6A6"/>
          </p15:clr>
        </p15:guide>
        <p15:guide id="24" orient="horz" pos="4166" userDrawn="1">
          <p15:clr>
            <a:srgbClr val="A6A6A6"/>
          </p15:clr>
        </p15:guide>
        <p15:guide id="25" orient="horz" pos="1827" userDrawn="1">
          <p15:clr>
            <a:srgbClr val="A4A3A4"/>
          </p15:clr>
        </p15:guide>
        <p15:guide id="26" orient="horz" pos="2832" userDrawn="1">
          <p15:clr>
            <a:srgbClr val="A4A3A4"/>
          </p15:clr>
        </p15:guide>
        <p15:guide id="27" orient="horz" pos="3996"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2280360-3C6D-A798-8CAC-A26D562C3683}"/>
              </a:ext>
            </a:extLst>
          </p:cNvPr>
          <p:cNvGraphicFramePr>
            <a:graphicFrameLocks noChangeAspect="1"/>
          </p:cNvGraphicFramePr>
          <p:nvPr userDrawn="1">
            <p:custDataLst>
              <p:tags r:id="rId35"/>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425" imgH="424" progId="TCLayout.ActiveDocument.1">
                  <p:embed/>
                </p:oleObj>
              </mc:Choice>
              <mc:Fallback>
                <p:oleObj name="think-cell Slide" r:id="rId36" imgW="425" imgH="424" progId="TCLayout.ActiveDocument.1">
                  <p:embed/>
                  <p:pic>
                    <p:nvPicPr>
                      <p:cNvPr id="3" name="Object 2" hidden="1">
                        <a:extLst>
                          <a:ext uri="{FF2B5EF4-FFF2-40B4-BE49-F238E27FC236}">
                            <a16:creationId xmlns:a16="http://schemas.microsoft.com/office/drawing/2014/main" id="{92280360-3C6D-A798-8CAC-A26D562C3683}"/>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a:xfrm>
            <a:off x="2319338" y="6343650"/>
            <a:ext cx="5600700" cy="269875"/>
          </a:xfrm>
          <a:prstGeom prst="rect">
            <a:avLst/>
          </a:prstGeom>
        </p:spPr>
        <p:txBody>
          <a:bodyPr vert="horz" lIns="0" tIns="0" rIns="0" bIns="0" rtlCol="0" anchor="b" anchorCtr="0">
            <a:noAutofit/>
          </a:bodyPr>
          <a:lstStyle>
            <a:lvl1pPr algn="ctr">
              <a:defRPr sz="1200">
                <a:solidFill>
                  <a:schemeClr val="tx1"/>
                </a:solidFill>
              </a:defRPr>
            </a:lvl1pPr>
          </a:lstStyle>
          <a:p>
            <a:r>
              <a:rPr lang="en-GB"/>
              <a:t>For Internal Use Only</a:t>
            </a:r>
            <a:endParaRPr lang="en-GB" dirty="0"/>
          </a:p>
        </p:txBody>
      </p:sp>
      <p:sp>
        <p:nvSpPr>
          <p:cNvPr id="6" name="Slide Number Placeholder 5"/>
          <p:cNvSpPr>
            <a:spLocks noGrp="1"/>
          </p:cNvSpPr>
          <p:nvPr>
            <p:ph type="sldNum" sz="quarter" idx="4"/>
          </p:nvPr>
        </p:nvSpPr>
        <p:spPr>
          <a:xfrm>
            <a:off x="11285288" y="6343650"/>
            <a:ext cx="540000" cy="269875"/>
          </a:xfrm>
          <a:prstGeom prst="rect">
            <a:avLst/>
          </a:prstGeom>
        </p:spPr>
        <p:txBody>
          <a:bodyPr vert="horz" lIns="0" tIns="0" rIns="0" bIns="0" rtlCol="0" anchor="b" anchorCtr="0">
            <a:noAutofit/>
          </a:bodyPr>
          <a:lstStyle>
            <a:lvl1pPr algn="r">
              <a:defRPr sz="1000">
                <a:solidFill>
                  <a:schemeClr val="tx1"/>
                </a:solidFill>
              </a:defRPr>
            </a:lvl1pPr>
          </a:lstStyle>
          <a:p>
            <a:fld id="{9F9F533D-B52E-4A2F-BF72-0ADD2D94BD75}" type="slidenum">
              <a:rPr lang="en-GB" smtClean="0"/>
              <a:pPr/>
              <a:t>‹#›</a:t>
            </a:fld>
            <a:endParaRPr lang="en-GB" dirty="0"/>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Autofit/>
          </a:bodyPr>
          <a:lstStyle/>
          <a:p>
            <a:r>
              <a:rPr lang="en-GB" dirty="0"/>
              <a:t>Click to enter slide title</a:t>
            </a:r>
          </a:p>
        </p:txBody>
      </p:sp>
      <p:sp>
        <p:nvSpPr>
          <p:cNvPr id="7" name="Date Placeholder 6"/>
          <p:cNvSpPr>
            <a:spLocks noGrp="1"/>
          </p:cNvSpPr>
          <p:nvPr>
            <p:ph type="dt" sz="half" idx="2"/>
          </p:nvPr>
        </p:nvSpPr>
        <p:spPr>
          <a:xfrm>
            <a:off x="8172450" y="6343650"/>
            <a:ext cx="2776537" cy="269875"/>
          </a:xfrm>
          <a:prstGeom prst="rect">
            <a:avLst/>
          </a:prstGeom>
        </p:spPr>
        <p:txBody>
          <a:bodyPr vert="horz" lIns="0" tIns="0" rIns="0" bIns="0" rtlCol="0" anchor="b" anchorCtr="0">
            <a:noAutofit/>
          </a:bodyPr>
          <a:lstStyle>
            <a:lvl1pPr algn="r">
              <a:defRPr sz="1000">
                <a:solidFill>
                  <a:schemeClr val="tx1"/>
                </a:solidFill>
              </a:defRPr>
            </a:lvl1pPr>
          </a:lstStyle>
          <a:p>
            <a:endParaRPr lang="en-GB" dirty="0"/>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180000" tIns="180000" rIns="180000" bIns="180000" rtlCol="0">
            <a:noAutofit/>
          </a:bodyPr>
          <a:lstStyle/>
          <a:p>
            <a:pPr lvl="0"/>
            <a:r>
              <a:rPr lang="en-GB" dirty="0"/>
              <a:t>Click to enter text content.</a:t>
            </a:r>
            <a:br>
              <a:rPr lang="en-GB" dirty="0"/>
            </a:br>
            <a:r>
              <a:rPr lang="en-GB" dirty="0"/>
              <a:t>To increase bullet level, select your text &gt; press ‘Tab’.</a:t>
            </a:r>
            <a:br>
              <a:rPr lang="en-GB" dirty="0"/>
            </a:br>
            <a:r>
              <a:rPr lang="en-GB" dirty="0"/>
              <a:t>To decrease bullet level, select your text &gt; press ‘Shift’ + ‘Tab’.</a:t>
            </a:r>
            <a:br>
              <a:rPr lang="en-GB" dirty="0"/>
            </a:br>
            <a:r>
              <a:rPr lang="en-GB" dirty="0"/>
              <a:t>To remove bullet levels, select your text &gt; right click &gt; press ‘bullets’.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a:p>
            <a:pPr lvl="4"/>
            <a:endParaRPr lang="en-GB" dirty="0"/>
          </a:p>
        </p:txBody>
      </p:sp>
      <p:pic>
        <p:nvPicPr>
          <p:cNvPr id="26" name="Graphic 25">
            <a:extLst>
              <a:ext uri="{FF2B5EF4-FFF2-40B4-BE49-F238E27FC236}">
                <a16:creationId xmlns:a16="http://schemas.microsoft.com/office/drawing/2014/main" id="{7B7C2D6E-A9EC-414F-8A58-3207DA98D6C5}"/>
              </a:ext>
            </a:extLst>
          </p:cNvPr>
          <p:cNvPicPr>
            <a:picLocks noChangeAspect="1"/>
          </p:cNvPicPr>
          <p:nvPr userDrawn="1"/>
        </p:nvPicPr>
        <p:blipFill>
          <a:blip r:embed="rId38" cstate="print">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376239" y="6354213"/>
            <a:ext cx="820737" cy="247406"/>
          </a:xfrm>
          <a:prstGeom prst="rect">
            <a:avLst/>
          </a:prstGeom>
        </p:spPr>
      </p:pic>
    </p:spTree>
    <p:extLst>
      <p:ext uri="{BB962C8B-B14F-4D97-AF65-F5344CB8AC3E}">
        <p14:creationId xmlns:p14="http://schemas.microsoft.com/office/powerpoint/2010/main" val="945210091"/>
      </p:ext>
    </p:extLst>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19" r:id="rId16"/>
    <p:sldLayoutId id="2147483820" r:id="rId17"/>
    <p:sldLayoutId id="2147483821" r:id="rId18"/>
    <p:sldLayoutId id="2147483822" r:id="rId19"/>
    <p:sldLayoutId id="2147483823" r:id="rId20"/>
    <p:sldLayoutId id="2147483824" r:id="rId21"/>
    <p:sldLayoutId id="2147483825" r:id="rId22"/>
    <p:sldLayoutId id="2147483826" r:id="rId23"/>
    <p:sldLayoutId id="2147483827" r:id="rId24"/>
    <p:sldLayoutId id="2147483828" r:id="rId25"/>
    <p:sldLayoutId id="2147483829" r:id="rId26"/>
    <p:sldLayoutId id="2147483830" r:id="rId27"/>
    <p:sldLayoutId id="2147483831" r:id="rId28"/>
    <p:sldLayoutId id="2147483832" r:id="rId29"/>
    <p:sldLayoutId id="2147483833" r:id="rId30"/>
    <p:sldLayoutId id="2147483834" r:id="rId31"/>
    <p:sldLayoutId id="2147483835" r:id="rId32"/>
    <p:sldLayoutId id="2147483836" r:id="rId3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dt="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6A6A6"/>
          </p15:clr>
        </p15:guide>
        <p15:guide id="2" pos="7680">
          <p15:clr>
            <a:srgbClr val="A6A6A6"/>
          </p15:clr>
        </p15:guide>
        <p15:guide id="3" pos="230">
          <p15:clr>
            <a:srgbClr val="A6A6A6"/>
          </p15:clr>
        </p15:guide>
        <p15:guide id="4" pos="1301">
          <p15:clr>
            <a:srgbClr val="A6A6A6"/>
          </p15:clr>
        </p15:guide>
        <p15:guide id="5" pos="1461">
          <p15:clr>
            <a:srgbClr val="A6A6A6"/>
          </p15:clr>
        </p15:guide>
        <p15:guide id="6" pos="2531">
          <p15:clr>
            <a:srgbClr val="A6A6A6"/>
          </p15:clr>
        </p15:guide>
        <p15:guide id="7" pos="2690">
          <p15:clr>
            <a:srgbClr val="A6A6A6"/>
          </p15:clr>
        </p15:guide>
        <p15:guide id="8" pos="3759">
          <p15:clr>
            <a:srgbClr val="A6A6A6"/>
          </p15:clr>
        </p15:guide>
        <p15:guide id="9" pos="3920">
          <p15:clr>
            <a:srgbClr val="A6A6A6"/>
          </p15:clr>
        </p15:guide>
        <p15:guide id="10" pos="4989">
          <p15:clr>
            <a:srgbClr val="A6A6A6"/>
          </p15:clr>
        </p15:guide>
        <p15:guide id="11" pos="5148">
          <p15:clr>
            <a:srgbClr val="A6A6A6"/>
          </p15:clr>
        </p15:guide>
        <p15:guide id="12" pos="6218">
          <p15:clr>
            <a:srgbClr val="A6A6A6"/>
          </p15:clr>
        </p15:guide>
        <p15:guide id="13" pos="6378">
          <p15:clr>
            <a:srgbClr val="A6A6A6"/>
          </p15:clr>
        </p15:guide>
        <p15:guide id="14" pos="7449">
          <p15:clr>
            <a:srgbClr val="A6A6A6"/>
          </p15:clr>
        </p15:guide>
        <p15:guide id="15" orient="horz">
          <p15:clr>
            <a:srgbClr val="A6A6A6"/>
          </p15:clr>
        </p15:guide>
        <p15:guide id="16" orient="horz" pos="4315">
          <p15:clr>
            <a:srgbClr val="A6A6A6"/>
          </p15:clr>
        </p15:guide>
        <p15:guide id="17" orient="horz" pos="153">
          <p15:clr>
            <a:srgbClr val="A6A6A6"/>
          </p15:clr>
        </p15:guide>
        <p15:guide id="18" orient="horz" pos="686">
          <p15:clr>
            <a:srgbClr val="A6A6A6"/>
          </p15:clr>
        </p15:guide>
        <p15:guide id="19" orient="horz" pos="821">
          <p15:clr>
            <a:srgbClr val="A6A6A6"/>
          </p15:clr>
        </p15:guide>
        <p15:guide id="20" orient="horz" pos="1323">
          <p15:clr>
            <a:srgbClr val="A6A6A6"/>
          </p15:clr>
        </p15:guide>
        <p15:guide id="21" orient="horz" pos="2330">
          <p15:clr>
            <a:srgbClr val="A6A6A6"/>
          </p15:clr>
        </p15:guide>
        <p15:guide id="22" orient="horz" pos="3335">
          <p15:clr>
            <a:srgbClr val="A6A6A6"/>
          </p15:clr>
        </p15:guide>
        <p15:guide id="23" orient="horz" pos="3837">
          <p15:clr>
            <a:srgbClr val="A6A6A6"/>
          </p15:clr>
        </p15:guide>
        <p15:guide id="24" orient="horz" pos="4166">
          <p15:clr>
            <a:srgbClr val="A6A6A6"/>
          </p15:clr>
        </p15:guide>
        <p15:guide id="25" orient="horz" pos="1827">
          <p15:clr>
            <a:srgbClr val="A4A3A4"/>
          </p15:clr>
        </p15:guide>
        <p15:guide id="26" orient="horz" pos="2832">
          <p15:clr>
            <a:srgbClr val="A4A3A4"/>
          </p15:clr>
        </p15:guide>
        <p15:guide id="27" orient="horz" pos="3996">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35.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5.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37.xml"/><Relationship Id="rId4" Type="http://schemas.openxmlformats.org/officeDocument/2006/relationships/chart" Target="../charts/char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38.xml"/></Relationships>
</file>

<file path=ppt/slides/_rels/slide16.xml.rels><?xml version="1.0" encoding="UTF-8" standalone="yes"?>
<Relationships xmlns="http://schemas.openxmlformats.org/package/2006/relationships"><Relationship Id="rId3" Type="http://schemas.openxmlformats.org/officeDocument/2006/relationships/hyperlink" Target="https://www.gsk-clinicalstudyregister.com/" TargetMode="External"/><Relationship Id="rId2" Type="http://schemas.openxmlformats.org/officeDocument/2006/relationships/notesSlide" Target="../notesSlides/notesSlide14.xml"/><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3.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hyperlink" Target="mailto:MI.Egypt@gsk.com" TargetMode="External"/><Relationship Id="rId4" Type="http://schemas.openxmlformats.org/officeDocument/2006/relationships/hyperlink" Target="mailto:ae.egypt@gsk.com" TargetMode="Externa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C9E0AAE8-F34C-7FFF-5AE4-F3F4E1A80A97}"/>
              </a:ext>
            </a:extLst>
          </p:cNvPr>
          <p:cNvSpPr>
            <a:spLocks noGrp="1"/>
          </p:cNvSpPr>
          <p:nvPr>
            <p:ph type="ctrTitle"/>
          </p:nvPr>
        </p:nvSpPr>
        <p:spPr>
          <a:xfrm>
            <a:off x="520700" y="5705060"/>
            <a:ext cx="11150600" cy="548009"/>
          </a:xfrm>
        </p:spPr>
        <p:txBody>
          <a:bodyPr>
            <a:normAutofit fontScale="90000"/>
          </a:bodyPr>
          <a:lstStyle/>
          <a:p>
            <a:br>
              <a:rPr lang="en-US" dirty="0"/>
            </a:br>
            <a:br>
              <a:rPr lang="en-US" dirty="0"/>
            </a:br>
            <a:br>
              <a:rPr lang="en-US" dirty="0"/>
            </a:br>
            <a:br>
              <a:rPr lang="en-US" dirty="0"/>
            </a:br>
            <a:r>
              <a:rPr lang="en-US" dirty="0"/>
              <a:t>Single-inhaler triple therapy in COPD: </a:t>
            </a:r>
            <a:br>
              <a:rPr lang="en-US" dirty="0"/>
            </a:br>
            <a:r>
              <a:rPr lang="en-US" dirty="0"/>
              <a:t>FF/UMEC/VI in one inhaler</a:t>
            </a:r>
            <a:br>
              <a:rPr lang="en-US" dirty="0"/>
            </a:br>
            <a:endParaRPr lang="en-GB" dirty="0"/>
          </a:p>
        </p:txBody>
      </p:sp>
      <p:sp>
        <p:nvSpPr>
          <p:cNvPr id="13" name="Subtitle 12">
            <a:extLst>
              <a:ext uri="{FF2B5EF4-FFF2-40B4-BE49-F238E27FC236}">
                <a16:creationId xmlns:a16="http://schemas.microsoft.com/office/drawing/2014/main" id="{E5BA9CF3-13C9-DA58-D7A1-04C44E60834E}"/>
              </a:ext>
            </a:extLst>
          </p:cNvPr>
          <p:cNvSpPr>
            <a:spLocks noGrp="1"/>
          </p:cNvSpPr>
          <p:nvPr>
            <p:ph type="subTitle" idx="1"/>
          </p:nvPr>
        </p:nvSpPr>
        <p:spPr>
          <a:xfrm>
            <a:off x="520700" y="5861435"/>
            <a:ext cx="11150600" cy="644140"/>
          </a:xfrm>
        </p:spPr>
        <p:txBody>
          <a:bodyPr>
            <a:normAutofit/>
          </a:bodyPr>
          <a:lstStyle/>
          <a:p>
            <a:r>
              <a:rPr lang="en-US" sz="1800" dirty="0"/>
              <a:t>Rationale for inhaled triple therapy in COPD</a:t>
            </a:r>
          </a:p>
          <a:p>
            <a:r>
              <a:rPr lang="en-US" sz="1800" dirty="0">
                <a:solidFill>
                  <a:srgbClr val="FFFFFF"/>
                </a:solidFill>
              </a:rPr>
              <a:t>Evidence supporting the effectiveness of triple therapy </a:t>
            </a:r>
            <a:r>
              <a:rPr lang="en-US" sz="1800" i="1" dirty="0">
                <a:solidFill>
                  <a:srgbClr val="FFFFFF"/>
                </a:solidFill>
              </a:rPr>
              <a:t>versus</a:t>
            </a:r>
            <a:r>
              <a:rPr lang="en-US" sz="1800" dirty="0">
                <a:solidFill>
                  <a:srgbClr val="FFFFFF"/>
                </a:solidFill>
              </a:rPr>
              <a:t> dual ICS/LABA</a:t>
            </a:r>
          </a:p>
          <a:p>
            <a:endParaRPr lang="en-US" sz="1800" dirty="0"/>
          </a:p>
          <a:p>
            <a:endParaRPr lang="en-US" sz="1800" dirty="0"/>
          </a:p>
          <a:p>
            <a:endParaRPr lang="en-GB" sz="1800" dirty="0"/>
          </a:p>
        </p:txBody>
      </p:sp>
      <p:sp>
        <p:nvSpPr>
          <p:cNvPr id="17" name="Text Placeholder 16">
            <a:extLst>
              <a:ext uri="{FF2B5EF4-FFF2-40B4-BE49-F238E27FC236}">
                <a16:creationId xmlns:a16="http://schemas.microsoft.com/office/drawing/2014/main" id="{85E055EA-D41E-A34C-0654-6D6518109B87}"/>
              </a:ext>
            </a:extLst>
          </p:cNvPr>
          <p:cNvSpPr>
            <a:spLocks noGrp="1"/>
          </p:cNvSpPr>
          <p:nvPr>
            <p:ph type="body" sz="quarter" idx="11"/>
          </p:nvPr>
        </p:nvSpPr>
        <p:spPr>
          <a:xfrm>
            <a:off x="501649" y="230187"/>
            <a:ext cx="3111883" cy="827431"/>
          </a:xfrm>
        </p:spPr>
        <p:txBody>
          <a:bodyPr/>
          <a:lstStyle/>
          <a:p>
            <a:r>
              <a:rPr lang="fr-FR" sz="1050" i="0" dirty="0">
                <a:effectLst/>
                <a:latin typeface="Arial" panose="020B0604020202020204" pitchFamily="34" charset="0"/>
              </a:rPr>
              <a:t>Cl code :NP-EG-CPU-PPT-250002</a:t>
            </a:r>
          </a:p>
          <a:p>
            <a:r>
              <a:rPr lang="fr-FR" sz="1050" dirty="0">
                <a:latin typeface="Arial" panose="020B0604020202020204" pitchFamily="34" charset="0"/>
              </a:rPr>
              <a:t>Date of </a:t>
            </a:r>
            <a:r>
              <a:rPr lang="fr-FR" sz="1050" dirty="0" err="1">
                <a:latin typeface="Arial" panose="020B0604020202020204" pitchFamily="34" charset="0"/>
              </a:rPr>
              <a:t>preparation</a:t>
            </a:r>
            <a:r>
              <a:rPr lang="fr-FR" sz="1050" dirty="0">
                <a:latin typeface="Arial" panose="020B0604020202020204" pitchFamily="34" charset="0"/>
              </a:rPr>
              <a:t> : May 2025</a:t>
            </a:r>
          </a:p>
          <a:p>
            <a:r>
              <a:rPr lang="fr-FR" sz="1050" dirty="0">
                <a:latin typeface="Arial" panose="020B0604020202020204" pitchFamily="34" charset="0"/>
              </a:rPr>
              <a:t>For </a:t>
            </a:r>
            <a:r>
              <a:rPr lang="fr-FR" sz="1050" dirty="0" err="1">
                <a:latin typeface="Arial" panose="020B0604020202020204" pitchFamily="34" charset="0"/>
              </a:rPr>
              <a:t>Internal</a:t>
            </a:r>
            <a:r>
              <a:rPr lang="fr-FR" sz="1050" dirty="0">
                <a:latin typeface="Arial" panose="020B0604020202020204" pitchFamily="34" charset="0"/>
              </a:rPr>
              <a:t> Use </a:t>
            </a:r>
            <a:r>
              <a:rPr lang="fr-FR" sz="1050" dirty="0" err="1">
                <a:latin typeface="Arial" panose="020B0604020202020204" pitchFamily="34" charset="0"/>
              </a:rPr>
              <a:t>Only</a:t>
            </a:r>
            <a:r>
              <a:rPr lang="fr-FR" sz="1050" dirty="0">
                <a:latin typeface="Arial" panose="020B0604020202020204" pitchFamily="34" charset="0"/>
              </a:rPr>
              <a:t>.</a:t>
            </a:r>
            <a:endParaRPr lang="en-GB" sz="1050" dirty="0"/>
          </a:p>
        </p:txBody>
      </p:sp>
    </p:spTree>
    <p:custDataLst>
      <p:tags r:id="rId1"/>
    </p:custDataLst>
    <p:extLst>
      <p:ext uri="{BB962C8B-B14F-4D97-AF65-F5344CB8AC3E}">
        <p14:creationId xmlns:p14="http://schemas.microsoft.com/office/powerpoint/2010/main" val="197264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1617B-3C30-0E8E-1AA5-E9E15C11C17C}"/>
              </a:ext>
            </a:extLst>
          </p:cNvPr>
          <p:cNvSpPr>
            <a:spLocks noGrp="1"/>
          </p:cNvSpPr>
          <p:nvPr>
            <p:ph type="body" sz="quarter" idx="22"/>
          </p:nvPr>
        </p:nvSpPr>
        <p:spPr/>
        <p:txBody>
          <a:bodyPr/>
          <a:lstStyle/>
          <a:p>
            <a:r>
              <a:rPr lang="en-US" sz="2400" dirty="0"/>
              <a:t>These slides are for internal training only.</a:t>
            </a:r>
          </a:p>
          <a:p>
            <a:r>
              <a:rPr lang="en-US" sz="2400" dirty="0"/>
              <a:t>These slides are not for onward distribution outside GSK.</a:t>
            </a:r>
          </a:p>
          <a:p>
            <a:r>
              <a:rPr lang="en-US" sz="2400" dirty="0"/>
              <a:t>These slides are not to be used for any external promotional purposes.</a:t>
            </a:r>
          </a:p>
          <a:p>
            <a:r>
              <a:rPr lang="en-US" sz="2400" dirty="0"/>
              <a:t>For any product information, </a:t>
            </a:r>
            <a:r>
              <a:rPr lang="en-US" sz="2400" b="0" i="0" dirty="0">
                <a:solidFill>
                  <a:srgbClr val="1D1D1D"/>
                </a:solidFill>
                <a:effectLst/>
                <a:latin typeface="Arial" panose="020B0604020202020204" pitchFamily="34" charset="0"/>
              </a:rPr>
              <a:t>p</a:t>
            </a:r>
            <a:r>
              <a:rPr lang="en-US" sz="2400" dirty="0"/>
              <a:t>lease refer to the local approved prescribing information for </a:t>
            </a:r>
            <a:r>
              <a:rPr lang="en-US" sz="2400" dirty="0" err="1"/>
              <a:t>Trelegy</a:t>
            </a:r>
            <a:r>
              <a:rPr lang="en-US" sz="2400" dirty="0"/>
              <a:t>.</a:t>
            </a:r>
          </a:p>
          <a:p>
            <a:endParaRPr lang="ar-EG" dirty="0"/>
          </a:p>
        </p:txBody>
      </p:sp>
      <p:sp>
        <p:nvSpPr>
          <p:cNvPr id="3" name="Text Placeholder 2">
            <a:extLst>
              <a:ext uri="{FF2B5EF4-FFF2-40B4-BE49-F238E27FC236}">
                <a16:creationId xmlns:a16="http://schemas.microsoft.com/office/drawing/2014/main" id="{659EC8F6-6A2D-BD25-F235-0B0C7F702BCF}"/>
              </a:ext>
            </a:extLst>
          </p:cNvPr>
          <p:cNvSpPr>
            <a:spLocks noGrp="1"/>
          </p:cNvSpPr>
          <p:nvPr>
            <p:ph type="body" sz="quarter" idx="18"/>
          </p:nvPr>
        </p:nvSpPr>
        <p:spPr/>
        <p:txBody>
          <a:bodyPr/>
          <a:lstStyle/>
          <a:p>
            <a:endParaRPr lang="ar-EG"/>
          </a:p>
        </p:txBody>
      </p:sp>
      <p:sp>
        <p:nvSpPr>
          <p:cNvPr id="6" name="Title 5">
            <a:extLst>
              <a:ext uri="{FF2B5EF4-FFF2-40B4-BE49-F238E27FC236}">
                <a16:creationId xmlns:a16="http://schemas.microsoft.com/office/drawing/2014/main" id="{F82F5BAA-A725-9041-AB9D-91C94B9DC03E}"/>
              </a:ext>
            </a:extLst>
          </p:cNvPr>
          <p:cNvSpPr>
            <a:spLocks noGrp="1"/>
          </p:cNvSpPr>
          <p:nvPr>
            <p:ph type="title"/>
          </p:nvPr>
        </p:nvSpPr>
        <p:spPr/>
        <p:txBody>
          <a:bodyPr/>
          <a:lstStyle/>
          <a:p>
            <a:r>
              <a:rPr lang="en-US" dirty="0"/>
              <a:t>Disclaimer</a:t>
            </a:r>
            <a:endParaRPr lang="ar-EG" dirty="0"/>
          </a:p>
        </p:txBody>
      </p:sp>
      <p:sp>
        <p:nvSpPr>
          <p:cNvPr id="7" name="Subtitle 6">
            <a:extLst>
              <a:ext uri="{FF2B5EF4-FFF2-40B4-BE49-F238E27FC236}">
                <a16:creationId xmlns:a16="http://schemas.microsoft.com/office/drawing/2014/main" id="{DE2787AF-3A94-17CC-89C0-E7FAB36A604D}"/>
              </a:ext>
            </a:extLst>
          </p:cNvPr>
          <p:cNvSpPr>
            <a:spLocks noGrp="1"/>
          </p:cNvSpPr>
          <p:nvPr>
            <p:ph type="subTitle" idx="1"/>
          </p:nvPr>
        </p:nvSpPr>
        <p:spPr/>
        <p:txBody>
          <a:bodyPr/>
          <a:lstStyle/>
          <a:p>
            <a:endParaRPr lang="ar-EG"/>
          </a:p>
        </p:txBody>
      </p:sp>
      <p:sp>
        <p:nvSpPr>
          <p:cNvPr id="8" name="Footer Placeholder 7">
            <a:extLst>
              <a:ext uri="{FF2B5EF4-FFF2-40B4-BE49-F238E27FC236}">
                <a16:creationId xmlns:a16="http://schemas.microsoft.com/office/drawing/2014/main" id="{43A0178A-1E62-7A39-6ECA-30F9FAF7A7A9}"/>
              </a:ext>
            </a:extLst>
          </p:cNvPr>
          <p:cNvSpPr>
            <a:spLocks noGrp="1"/>
          </p:cNvSpPr>
          <p:nvPr>
            <p:ph type="ftr" sz="quarter" idx="20"/>
          </p:nvPr>
        </p:nvSpPr>
        <p:spPr/>
        <p:txBody>
          <a:bodyPr/>
          <a:lstStyle/>
          <a:p>
            <a:r>
              <a:rPr lang="en-GB"/>
              <a:t>For Internal Use Only</a:t>
            </a:r>
            <a:endParaRPr lang="en-GB" dirty="0"/>
          </a:p>
        </p:txBody>
      </p:sp>
    </p:spTree>
    <p:extLst>
      <p:ext uri="{BB962C8B-B14F-4D97-AF65-F5344CB8AC3E}">
        <p14:creationId xmlns:p14="http://schemas.microsoft.com/office/powerpoint/2010/main" val="3115010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0E7B670E-9A50-FC8B-6737-A90AEE70E95C}"/>
              </a:ext>
            </a:extLst>
          </p:cNvPr>
          <p:cNvSpPr>
            <a:spLocks noGrp="1"/>
          </p:cNvSpPr>
          <p:nvPr>
            <p:ph type="title"/>
          </p:nvPr>
        </p:nvSpPr>
        <p:spPr>
          <a:xfrm>
            <a:off x="808036" y="2814638"/>
            <a:ext cx="11460163" cy="804862"/>
          </a:xfrm>
        </p:spPr>
        <p:txBody>
          <a:bodyPr>
            <a:noAutofit/>
          </a:bodyPr>
          <a:lstStyle/>
          <a:p>
            <a:r>
              <a:rPr lang="en-US" sz="3200" dirty="0">
                <a:solidFill>
                  <a:schemeClr val="bg1"/>
                </a:solidFill>
              </a:rPr>
              <a:t>FULFIL Study </a:t>
            </a:r>
            <a:br>
              <a:rPr lang="en-US" sz="3200" dirty="0">
                <a:solidFill>
                  <a:schemeClr val="bg1"/>
                </a:solidFill>
              </a:rPr>
            </a:br>
            <a:endParaRPr lang="fr-FR" sz="3200" dirty="0"/>
          </a:p>
        </p:txBody>
      </p:sp>
      <p:sp>
        <p:nvSpPr>
          <p:cNvPr id="6" name="Sous-titre 5">
            <a:extLst>
              <a:ext uri="{FF2B5EF4-FFF2-40B4-BE49-F238E27FC236}">
                <a16:creationId xmlns:a16="http://schemas.microsoft.com/office/drawing/2014/main" id="{B0728CC9-A24B-F760-C3D4-ECD4F8C5A9E2}"/>
              </a:ext>
            </a:extLst>
          </p:cNvPr>
          <p:cNvSpPr>
            <a:spLocks noGrp="1"/>
          </p:cNvSpPr>
          <p:nvPr>
            <p:ph type="subTitle" idx="1"/>
          </p:nvPr>
        </p:nvSpPr>
        <p:spPr>
          <a:xfrm>
            <a:off x="731836" y="3519150"/>
            <a:ext cx="11460164" cy="352800"/>
          </a:xfrm>
        </p:spPr>
        <p:txBody>
          <a:bodyPr/>
          <a:lstStyle/>
          <a:p>
            <a:r>
              <a:rPr lang="en-US" sz="2000" dirty="0"/>
              <a:t>lung </a:t>
            </a:r>
            <a:r>
              <a:rPr lang="en-US" sz="2000" u="sng" dirty="0" err="1"/>
              <a:t>FU</a:t>
            </a:r>
            <a:r>
              <a:rPr lang="en-US" sz="2000" dirty="0" err="1"/>
              <a:t>nction</a:t>
            </a:r>
            <a:r>
              <a:rPr lang="en-US" sz="2000" dirty="0"/>
              <a:t> and quality of </a:t>
            </a:r>
            <a:r>
              <a:rPr lang="en-US" sz="2000" u="sng" dirty="0" err="1"/>
              <a:t>L</a:t>
            </a:r>
            <a:r>
              <a:rPr lang="en-US" sz="2000" dirty="0" err="1"/>
              <a:t>i</a:t>
            </a:r>
            <a:r>
              <a:rPr lang="en-US" sz="2000" u="sng" dirty="0" err="1"/>
              <a:t>F</a:t>
            </a:r>
            <a:r>
              <a:rPr lang="en-US" sz="2000" dirty="0" err="1"/>
              <a:t>e</a:t>
            </a:r>
            <a:r>
              <a:rPr lang="en-US" sz="2000" dirty="0"/>
              <a:t> assessment in COPD with single inhaler </a:t>
            </a:r>
            <a:r>
              <a:rPr lang="en-US" sz="2000" dirty="0" err="1"/>
              <a:t>tr</a:t>
            </a:r>
            <a:r>
              <a:rPr lang="en-US" sz="2000" u="sng" dirty="0" err="1"/>
              <a:t>I</a:t>
            </a:r>
            <a:r>
              <a:rPr lang="en-US" sz="2000" dirty="0" err="1"/>
              <a:t>p</a:t>
            </a:r>
            <a:r>
              <a:rPr lang="en-US" sz="2000" u="sng" dirty="0" err="1"/>
              <a:t>L</a:t>
            </a:r>
            <a:r>
              <a:rPr lang="en-US" sz="2000" dirty="0" err="1"/>
              <a:t>e</a:t>
            </a:r>
            <a:r>
              <a:rPr lang="en-US" sz="2000" dirty="0"/>
              <a:t> therapy</a:t>
            </a:r>
          </a:p>
          <a:p>
            <a:endParaRPr lang="fr-FR" sz="2000" dirty="0"/>
          </a:p>
        </p:txBody>
      </p:sp>
      <p:sp>
        <p:nvSpPr>
          <p:cNvPr id="7" name="Text Placeholder 15">
            <a:extLst>
              <a:ext uri="{FF2B5EF4-FFF2-40B4-BE49-F238E27FC236}">
                <a16:creationId xmlns:a16="http://schemas.microsoft.com/office/drawing/2014/main" id="{2564CE4E-4A3C-7B24-B7FD-5D0FD4EE3064}"/>
              </a:ext>
            </a:extLst>
          </p:cNvPr>
          <p:cNvSpPr txBox="1">
            <a:spLocks/>
          </p:cNvSpPr>
          <p:nvPr/>
        </p:nvSpPr>
        <p:spPr>
          <a:xfrm>
            <a:off x="673050" y="1739582"/>
            <a:ext cx="6872400" cy="377005"/>
          </a:xfrm>
          <a:prstGeom prst="rect">
            <a:avLst/>
          </a:prstGeom>
        </p:spPr>
        <p:txBody>
          <a:bodyPr/>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indent="0">
              <a:lnSpc>
                <a:spcPct val="150000"/>
              </a:lnSpc>
              <a:buNone/>
            </a:pPr>
            <a:endParaRPr lang="en-US" dirty="0">
              <a:solidFill>
                <a:schemeClr val="bg1"/>
              </a:solidFill>
            </a:endParaRPr>
          </a:p>
        </p:txBody>
      </p:sp>
      <p:sp>
        <p:nvSpPr>
          <p:cNvPr id="8" name="Text Placeholder 1">
            <a:extLst>
              <a:ext uri="{FF2B5EF4-FFF2-40B4-BE49-F238E27FC236}">
                <a16:creationId xmlns:a16="http://schemas.microsoft.com/office/drawing/2014/main" id="{2BC7FD10-44E9-76CD-ED82-BEEAB4FB7BFB}"/>
              </a:ext>
            </a:extLst>
          </p:cNvPr>
          <p:cNvSpPr txBox="1">
            <a:spLocks/>
          </p:cNvSpPr>
          <p:nvPr/>
        </p:nvSpPr>
        <p:spPr>
          <a:xfrm>
            <a:off x="1562552" y="3429000"/>
            <a:ext cx="8617825" cy="558398"/>
          </a:xfrm>
          <a:prstGeom prst="rect">
            <a:avLst/>
          </a:prstGeom>
        </p:spPr>
        <p:txBody>
          <a:bodyPr vert="horz" lIns="0" tIns="0" rIns="0" bIns="0" rtlCol="0" anchor="b" anchorCtr="0">
            <a:normAutofit/>
          </a:bodyPr>
          <a:lstStyle>
            <a:defPPr>
              <a:defRPr lang="en-US"/>
            </a:defPPr>
            <a:lvl1pPr marL="0" algn="r" defTabSz="1219170" rtl="0" eaLnBrk="1" latinLnBrk="0" hangingPunct="1">
              <a:defRPr sz="1000" kern="1200">
                <a:solidFill>
                  <a:schemeClr val="bg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nSpc>
                <a:spcPct val="150000"/>
              </a:lnSpc>
            </a:pPr>
            <a:endParaRPr lang="en-US" dirty="0">
              <a:solidFill>
                <a:schemeClr val="tx1"/>
              </a:solidFill>
            </a:endParaRPr>
          </a:p>
        </p:txBody>
      </p:sp>
      <p:sp>
        <p:nvSpPr>
          <p:cNvPr id="2" name="Footer Placeholder 1">
            <a:extLst>
              <a:ext uri="{FF2B5EF4-FFF2-40B4-BE49-F238E27FC236}">
                <a16:creationId xmlns:a16="http://schemas.microsoft.com/office/drawing/2014/main" id="{D7EB9275-0970-82A0-A3A2-766C7CE56B57}"/>
              </a:ext>
            </a:extLst>
          </p:cNvPr>
          <p:cNvSpPr>
            <a:spLocks noGrp="1"/>
          </p:cNvSpPr>
          <p:nvPr>
            <p:ph type="ftr" sz="quarter" idx="12"/>
          </p:nvPr>
        </p:nvSpPr>
        <p:spPr/>
        <p:txBody>
          <a:bodyPr/>
          <a:lstStyle/>
          <a:p>
            <a:r>
              <a:rPr lang="en-GB"/>
              <a:t>For Internal Use Only</a:t>
            </a:r>
            <a:endParaRPr lang="en-GB" dirty="0"/>
          </a:p>
        </p:txBody>
      </p:sp>
    </p:spTree>
    <p:extLst>
      <p:ext uri="{BB962C8B-B14F-4D97-AF65-F5344CB8AC3E}">
        <p14:creationId xmlns:p14="http://schemas.microsoft.com/office/powerpoint/2010/main" val="3137630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ounded Rectangle 94"/>
          <p:cNvSpPr/>
          <p:nvPr/>
        </p:nvSpPr>
        <p:spPr bwMode="auto">
          <a:xfrm>
            <a:off x="754912" y="1484930"/>
            <a:ext cx="10600660" cy="1968380"/>
          </a:xfrm>
          <a:prstGeom prst="roundRect">
            <a:avLst>
              <a:gd name="adj" fmla="val 4116"/>
            </a:avLst>
          </a:prstGeom>
          <a:solidFill>
            <a:schemeClr val="bg1"/>
          </a:solidFill>
          <a:ln w="28575">
            <a:solidFill>
              <a:schemeClr val="tx2"/>
            </a:solid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defTabSz="914400" eaLnBrk="0" hangingPunct="0">
              <a:buClr>
                <a:srgbClr val="FFFFFF"/>
              </a:buClr>
              <a:buFont typeface="Arial" pitchFamily="34" charset="0"/>
              <a:buChar char="–"/>
              <a:defRPr/>
            </a:pPr>
            <a:endParaRPr lang="en-US" sz="1200" b="1" kern="0" dirty="0">
              <a:solidFill>
                <a:srgbClr val="FFFFFF"/>
              </a:solidFill>
              <a:latin typeface="Arial"/>
            </a:endParaRPr>
          </a:p>
        </p:txBody>
      </p:sp>
      <p:sp>
        <p:nvSpPr>
          <p:cNvPr id="21" name="Title 20"/>
          <p:cNvSpPr>
            <a:spLocks noGrp="1"/>
          </p:cNvSpPr>
          <p:nvPr>
            <p:ph type="title"/>
          </p:nvPr>
        </p:nvSpPr>
        <p:spPr>
          <a:xfrm>
            <a:off x="202143" y="1057200"/>
            <a:ext cx="13520854" cy="437021"/>
          </a:xfrm>
        </p:spPr>
        <p:txBody>
          <a:bodyPr vert="horz" lIns="0" tIns="0" rIns="0" bIns="720000" rtlCol="0" anchor="b" anchorCtr="0">
            <a:noAutofit/>
          </a:bodyPr>
          <a:lstStyle/>
          <a:p>
            <a:pPr lvl="0"/>
            <a:r>
              <a:rPr lang="en-US" sz="2400" dirty="0"/>
              <a:t>FULFIL trial study design:</a:t>
            </a:r>
            <a:br>
              <a:rPr lang="en-US" sz="2400" dirty="0"/>
            </a:br>
            <a:r>
              <a:rPr lang="en-US" sz="2000" dirty="0"/>
              <a:t>Lung function and quality of life assessment in COPD with single-inhaler triple therapy</a:t>
            </a:r>
            <a:endParaRPr lang="en-US" sz="2000" baseline="30000" dirty="0"/>
          </a:p>
        </p:txBody>
      </p:sp>
      <p:sp>
        <p:nvSpPr>
          <p:cNvPr id="13" name="Text Placeholder 12"/>
          <p:cNvSpPr>
            <a:spLocks noGrp="1"/>
          </p:cNvSpPr>
          <p:nvPr>
            <p:ph type="body" sz="quarter" idx="19"/>
          </p:nvPr>
        </p:nvSpPr>
        <p:spPr>
          <a:xfrm>
            <a:off x="1808507" y="6243838"/>
            <a:ext cx="9547065" cy="494321"/>
          </a:xfrm>
        </p:spPr>
        <p:txBody>
          <a:bodyPr/>
          <a:lstStyle/>
          <a:p>
            <a:pPr algn="r"/>
            <a:r>
              <a:rPr lang="en-US" sz="1000" dirty="0">
                <a:latin typeface="Calibri" panose="020F0502020204030204" pitchFamily="34" charset="0"/>
                <a:cs typeface="Calibri" panose="020F0502020204030204" pitchFamily="34" charset="0"/>
              </a:rPr>
              <a:t> Lipson DA </a:t>
            </a:r>
            <a:r>
              <a:rPr lang="en-US" sz="1000" i="1" dirty="0">
                <a:latin typeface="Calibri" panose="020F0502020204030204" pitchFamily="34" charset="0"/>
                <a:cs typeface="Calibri" panose="020F0502020204030204" pitchFamily="34" charset="0"/>
              </a:rPr>
              <a:t>et al. Am J </a:t>
            </a:r>
            <a:r>
              <a:rPr lang="en-US" sz="1000" i="1" dirty="0" err="1">
                <a:latin typeface="Calibri" panose="020F0502020204030204" pitchFamily="34" charset="0"/>
                <a:cs typeface="Calibri" panose="020F0502020204030204" pitchFamily="34" charset="0"/>
              </a:rPr>
              <a:t>Resp</a:t>
            </a:r>
            <a:r>
              <a:rPr lang="en-US" sz="1000" i="1" dirty="0">
                <a:latin typeface="Calibri" panose="020F0502020204030204" pitchFamily="34" charset="0"/>
                <a:cs typeface="Calibri" panose="020F0502020204030204" pitchFamily="34" charset="0"/>
              </a:rPr>
              <a:t> </a:t>
            </a:r>
            <a:r>
              <a:rPr lang="en-US" sz="1000" i="1" dirty="0" err="1">
                <a:latin typeface="Calibri" panose="020F0502020204030204" pitchFamily="34" charset="0"/>
                <a:cs typeface="Calibri" panose="020F0502020204030204" pitchFamily="34" charset="0"/>
              </a:rPr>
              <a:t>Crit</a:t>
            </a:r>
            <a:r>
              <a:rPr lang="en-US" sz="1000" i="1" dirty="0">
                <a:latin typeface="Calibri" panose="020F0502020204030204" pitchFamily="34" charset="0"/>
                <a:cs typeface="Calibri" panose="020F0502020204030204" pitchFamily="34" charset="0"/>
              </a:rPr>
              <a:t> Care. </a:t>
            </a:r>
            <a:r>
              <a:rPr lang="en-US" sz="1000" dirty="0">
                <a:latin typeface="Calibri" panose="020F0502020204030204" pitchFamily="34" charset="0"/>
                <a:cs typeface="Calibri" panose="020F0502020204030204" pitchFamily="34" charset="0"/>
              </a:rPr>
              <a:t>2017; 196:438–446.</a:t>
            </a:r>
            <a:endParaRPr lang="en-GB" sz="1000" dirty="0">
              <a:latin typeface="Calibri" panose="020F0502020204030204" pitchFamily="34" charset="0"/>
              <a:cs typeface="Calibri" panose="020F0502020204030204" pitchFamily="34" charset="0"/>
            </a:endParaRPr>
          </a:p>
        </p:txBody>
      </p:sp>
      <p:sp>
        <p:nvSpPr>
          <p:cNvPr id="86" name="Content Placeholder 3"/>
          <p:cNvSpPr txBox="1">
            <a:spLocks/>
          </p:cNvSpPr>
          <p:nvPr/>
        </p:nvSpPr>
        <p:spPr>
          <a:xfrm>
            <a:off x="801758" y="3598297"/>
            <a:ext cx="3937934" cy="2231380"/>
          </a:xfrm>
          <a:prstGeom prst="rect">
            <a:avLst/>
          </a:prstGeom>
        </p:spPr>
        <p:txBody>
          <a:bodyPr lIns="45720" tIns="45720" rIns="45720" bIns="45720">
            <a:spAutoFit/>
          </a:bodyPr>
          <a:lstStyle>
            <a:lvl1pPr marL="270000" indent="-270000" algn="l" defTabSz="914400" rtl="0" eaLnBrk="1" latinLnBrk="0" hangingPunct="1">
              <a:spcBef>
                <a:spcPts val="0"/>
              </a:spcBef>
              <a:spcAft>
                <a:spcPts val="600"/>
              </a:spcAft>
              <a:buClr>
                <a:schemeClr val="accent2"/>
              </a:buClr>
              <a:buFont typeface="Arial" pitchFamily="34" charset="0"/>
              <a:buChar char="–"/>
              <a:defRPr sz="1600" kern="1200">
                <a:solidFill>
                  <a:srgbClr val="000000"/>
                </a:solidFill>
                <a:latin typeface="+mn-lt"/>
                <a:ea typeface="+mn-ea"/>
                <a:cs typeface="+mn-cs"/>
              </a:defRPr>
            </a:lvl1pPr>
            <a:lvl2pPr marL="538163" indent="-270000" algn="l" defTabSz="914400" rtl="0" eaLnBrk="1" latinLnBrk="0" hangingPunct="1">
              <a:spcBef>
                <a:spcPts val="0"/>
              </a:spcBef>
              <a:spcAft>
                <a:spcPts val="600"/>
              </a:spcAft>
              <a:buFont typeface="Arial" pitchFamily="34" charset="0"/>
              <a:buChar char="–"/>
              <a:defRPr sz="1400" kern="1200">
                <a:solidFill>
                  <a:srgbClr val="000000"/>
                </a:solidFill>
                <a:latin typeface="+mn-lt"/>
                <a:ea typeface="+mn-ea"/>
                <a:cs typeface="+mn-cs"/>
              </a:defRPr>
            </a:lvl2pPr>
            <a:lvl3pPr marL="810000" indent="-270000" algn="l" defTabSz="914400" rtl="0" eaLnBrk="1" latinLnBrk="0" hangingPunct="1">
              <a:spcBef>
                <a:spcPts val="0"/>
              </a:spcBef>
              <a:spcAft>
                <a:spcPts val="600"/>
              </a:spcAft>
              <a:buFont typeface="Arial" pitchFamily="34" charset="0"/>
              <a:buChar char="–"/>
              <a:defRPr sz="1200" kern="1200">
                <a:solidFill>
                  <a:srgbClr val="000000"/>
                </a:solidFill>
                <a:latin typeface="+mn-lt"/>
                <a:ea typeface="+mn-ea"/>
                <a:cs typeface="+mn-cs"/>
              </a:defRPr>
            </a:lvl3pPr>
            <a:lvl4pPr marL="1081088" indent="-270000" algn="l" defTabSz="914400" rtl="0" eaLnBrk="1" latinLnBrk="0" hangingPunct="1">
              <a:spcBef>
                <a:spcPts val="0"/>
              </a:spcBef>
              <a:spcAft>
                <a:spcPts val="600"/>
              </a:spcAft>
              <a:buFont typeface="Arial" pitchFamily="34" charset="0"/>
              <a:buChar char="–"/>
              <a:defRPr sz="1200" kern="1200">
                <a:solidFill>
                  <a:srgbClr val="000000"/>
                </a:solidFill>
                <a:latin typeface="+mn-lt"/>
                <a:ea typeface="+mn-ea"/>
                <a:cs typeface="+mn-cs"/>
              </a:defRPr>
            </a:lvl4pPr>
            <a:lvl5pPr marL="1350000" indent="-270000" algn="l" defTabSz="914400" rtl="0" eaLnBrk="1" latinLnBrk="0" hangingPunct="1">
              <a:spcBef>
                <a:spcPts val="0"/>
              </a:spcBef>
              <a:spcAft>
                <a:spcPts val="600"/>
              </a:spcAft>
              <a:buFont typeface="Arial" pitchFamily="34" charset="0"/>
              <a:buChar char="–"/>
              <a:defRPr sz="1200" b="0" kern="1200">
                <a:solidFill>
                  <a:srgbClr val="000000"/>
                </a:solidFill>
                <a:latin typeface="+mn-lt"/>
                <a:ea typeface="+mn-ea"/>
                <a:cs typeface="+mn-cs"/>
              </a:defRPr>
            </a:lvl5pPr>
            <a:lvl6pPr marL="162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6pPr>
            <a:lvl7pPr marL="180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7pPr>
            <a:lvl8pPr marL="207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8pPr>
            <a:lvl9pPr marL="2340000" indent="-270000" algn="l" defTabSz="914400" rtl="0" eaLnBrk="1" latinLnBrk="0" hangingPunct="1">
              <a:spcBef>
                <a:spcPts val="0"/>
              </a:spcBef>
              <a:spcAft>
                <a:spcPts val="600"/>
              </a:spcAft>
              <a:buFont typeface="Arial" pitchFamily="34" charset="0"/>
              <a:buChar char="–"/>
              <a:defRPr sz="1200" kern="1200">
                <a:solidFill>
                  <a:schemeClr val="tx1"/>
                </a:solidFill>
                <a:latin typeface="+mn-lt"/>
                <a:ea typeface="+mn-ea"/>
                <a:cs typeface="+mn-cs"/>
              </a:defRPr>
            </a:lvl9pPr>
          </a:lstStyle>
          <a:p>
            <a:pPr>
              <a:buClr>
                <a:srgbClr val="544F40"/>
              </a:buClr>
              <a:buNone/>
              <a:defRPr/>
            </a:pPr>
            <a:r>
              <a:rPr lang="en-GB" b="1" dirty="0">
                <a:solidFill>
                  <a:srgbClr val="F36633"/>
                </a:solidFill>
                <a:latin typeface="Arial"/>
              </a:rPr>
              <a:t>Patients</a:t>
            </a:r>
          </a:p>
          <a:p>
            <a:pPr marL="283464" lvl="1" indent="-173736">
              <a:buClr>
                <a:srgbClr val="544F40"/>
              </a:buClr>
              <a:defRPr/>
            </a:pPr>
            <a:r>
              <a:rPr lang="en-US" dirty="0">
                <a:solidFill>
                  <a:srgbClr val="544F40"/>
                </a:solidFill>
                <a:latin typeface="Arial"/>
                <a:ea typeface="Times New Roman" pitchFamily="18" charset="0"/>
                <a:cs typeface="Arial" charset="0"/>
              </a:rPr>
              <a:t>FEV</a:t>
            </a:r>
            <a:r>
              <a:rPr lang="en-US" baseline="-25000" dirty="0">
                <a:solidFill>
                  <a:srgbClr val="544F40"/>
                </a:solidFill>
                <a:latin typeface="Arial"/>
                <a:ea typeface="Times New Roman" pitchFamily="18" charset="0"/>
                <a:cs typeface="Arial" charset="0"/>
              </a:rPr>
              <a:t>1</a:t>
            </a:r>
            <a:r>
              <a:rPr lang="en-US" dirty="0">
                <a:solidFill>
                  <a:srgbClr val="544F40"/>
                </a:solidFill>
                <a:latin typeface="Arial"/>
                <a:ea typeface="Times New Roman" pitchFamily="18" charset="0"/>
                <a:cs typeface="Arial" charset="0"/>
              </a:rPr>
              <a:t> &lt;50% + CAT ≥10;</a:t>
            </a:r>
          </a:p>
          <a:p>
            <a:pPr marL="283464" lvl="6" indent="-173736">
              <a:buClr>
                <a:srgbClr val="F36633"/>
              </a:buClr>
              <a:buNone/>
              <a:defRPr/>
            </a:pPr>
            <a:r>
              <a:rPr lang="en-US" sz="1400" b="1" i="1" dirty="0">
                <a:solidFill>
                  <a:srgbClr val="544F40"/>
                </a:solidFill>
                <a:latin typeface="Arial"/>
                <a:ea typeface="Times New Roman" pitchFamily="18" charset="0"/>
                <a:cs typeface="Arial" charset="0"/>
              </a:rPr>
              <a:t>		or</a:t>
            </a:r>
          </a:p>
          <a:p>
            <a:pPr marL="283464" lvl="6" indent="-173736">
              <a:spcAft>
                <a:spcPts val="1200"/>
              </a:spcAft>
              <a:buClr>
                <a:srgbClr val="544F40"/>
              </a:buClr>
              <a:defRPr/>
            </a:pPr>
            <a:r>
              <a:rPr lang="en-US" sz="1400" dirty="0">
                <a:solidFill>
                  <a:srgbClr val="544F40"/>
                </a:solidFill>
                <a:latin typeface="Arial"/>
                <a:ea typeface="Times New Roman" pitchFamily="18" charset="0"/>
                <a:cs typeface="Arial" charset="0"/>
              </a:rPr>
              <a:t>FEV</a:t>
            </a:r>
            <a:r>
              <a:rPr lang="en-US" sz="1400" baseline="-25000" dirty="0">
                <a:solidFill>
                  <a:srgbClr val="544F40"/>
                </a:solidFill>
                <a:latin typeface="Arial"/>
                <a:ea typeface="Times New Roman" pitchFamily="18" charset="0"/>
                <a:cs typeface="Arial" charset="0"/>
              </a:rPr>
              <a:t>1</a:t>
            </a:r>
            <a:r>
              <a:rPr lang="en-US" sz="1400" dirty="0">
                <a:solidFill>
                  <a:srgbClr val="544F40"/>
                </a:solidFill>
                <a:latin typeface="Arial"/>
                <a:ea typeface="Times New Roman" pitchFamily="18" charset="0"/>
                <a:cs typeface="Arial" charset="0"/>
              </a:rPr>
              <a:t> &gt;50% to &lt;80% + ≥2 moderate exacerbations in past year or ≥1 severe exacerbations in past year + CAT ≥10</a:t>
            </a:r>
          </a:p>
          <a:p>
            <a:pPr marL="283464" lvl="1" indent="-173736">
              <a:spcAft>
                <a:spcPts val="1200"/>
              </a:spcAft>
              <a:buClr>
                <a:srgbClr val="544F40"/>
              </a:buClr>
              <a:defRPr/>
            </a:pPr>
            <a:r>
              <a:rPr lang="en-GB" b="1" dirty="0">
                <a:solidFill>
                  <a:srgbClr val="544F40"/>
                </a:solidFill>
                <a:latin typeface="Arial"/>
              </a:rPr>
              <a:t>A subset of 430 patients remained on blinded treatment for up to 52 weeks</a:t>
            </a:r>
            <a:endParaRPr lang="en-GB" b="1" dirty="0">
              <a:solidFill>
                <a:srgbClr val="544F40"/>
              </a:solidFill>
              <a:latin typeface="Arial"/>
              <a:ea typeface="Times New Roman" pitchFamily="18" charset="0"/>
              <a:cs typeface="Arial" charset="0"/>
            </a:endParaRPr>
          </a:p>
        </p:txBody>
      </p:sp>
      <p:sp>
        <p:nvSpPr>
          <p:cNvPr id="105" name="Rectangle 104"/>
          <p:cNvSpPr/>
          <p:nvPr/>
        </p:nvSpPr>
        <p:spPr>
          <a:xfrm>
            <a:off x="6307233" y="3825217"/>
            <a:ext cx="5433237" cy="1877437"/>
          </a:xfrm>
          <a:prstGeom prst="rect">
            <a:avLst/>
          </a:prstGeom>
        </p:spPr>
        <p:txBody>
          <a:bodyPr wrap="square">
            <a:spAutoFit/>
          </a:bodyPr>
          <a:lstStyle/>
          <a:p>
            <a:pPr defTabSz="914400">
              <a:defRPr/>
            </a:pPr>
            <a:r>
              <a:rPr lang="en-GB" sz="1600" b="1" dirty="0">
                <a:solidFill>
                  <a:srgbClr val="F36633"/>
                </a:solidFill>
                <a:latin typeface="Arial"/>
              </a:rPr>
              <a:t>Co-primary endpoints</a:t>
            </a:r>
          </a:p>
          <a:p>
            <a:pPr marL="179388" lvl="1" indent="-179388" defTabSz="914400">
              <a:buClr>
                <a:srgbClr val="544F40"/>
              </a:buClr>
              <a:buFont typeface="Arial" panose="020B0604020202020204" pitchFamily="34" charset="0"/>
              <a:buChar char="–"/>
              <a:defRPr/>
            </a:pPr>
            <a:r>
              <a:rPr lang="en-US" sz="1400" dirty="0">
                <a:solidFill>
                  <a:srgbClr val="544F40"/>
                </a:solidFill>
                <a:latin typeface="Arial"/>
                <a:ea typeface="Times New Roman" pitchFamily="18" charset="0"/>
                <a:cs typeface="Arial" charset="0"/>
              </a:rPr>
              <a:t>Change from baseline in trough FEV</a:t>
            </a:r>
            <a:r>
              <a:rPr lang="en-US" sz="1400" baseline="-25000" dirty="0">
                <a:solidFill>
                  <a:srgbClr val="544F40"/>
                </a:solidFill>
                <a:latin typeface="Arial"/>
                <a:ea typeface="Times New Roman" pitchFamily="18" charset="0"/>
                <a:cs typeface="Arial" charset="0"/>
              </a:rPr>
              <a:t>1</a:t>
            </a:r>
            <a:r>
              <a:rPr lang="en-US" sz="1400" dirty="0">
                <a:solidFill>
                  <a:srgbClr val="544F40"/>
                </a:solidFill>
                <a:latin typeface="Arial"/>
                <a:ea typeface="Times New Roman" pitchFamily="18" charset="0"/>
                <a:cs typeface="Arial" charset="0"/>
              </a:rPr>
              <a:t> at Week 24</a:t>
            </a:r>
          </a:p>
          <a:p>
            <a:pPr marL="179388" lvl="1" indent="-179388" defTabSz="914400">
              <a:buClr>
                <a:srgbClr val="544F40"/>
              </a:buClr>
              <a:buFont typeface="Arial" panose="020B0604020202020204" pitchFamily="34" charset="0"/>
              <a:buChar char="–"/>
              <a:defRPr/>
            </a:pPr>
            <a:r>
              <a:rPr lang="en-US" sz="1400" dirty="0">
                <a:solidFill>
                  <a:srgbClr val="544F40"/>
                </a:solidFill>
                <a:latin typeface="Arial"/>
                <a:ea typeface="Times New Roman" pitchFamily="18" charset="0"/>
                <a:cs typeface="Arial" charset="0"/>
              </a:rPr>
              <a:t>Change from baseline in SGRQ total score at Week 24</a:t>
            </a:r>
          </a:p>
          <a:p>
            <a:pPr marL="283464" lvl="1" indent="-173736" defTabSz="914400">
              <a:buClr>
                <a:srgbClr val="544F40"/>
              </a:buClr>
              <a:defRPr/>
            </a:pPr>
            <a:endParaRPr lang="en-US" sz="1400" dirty="0">
              <a:solidFill>
                <a:srgbClr val="000000"/>
              </a:solidFill>
              <a:latin typeface="Arial"/>
              <a:ea typeface="Times New Roman" pitchFamily="18" charset="0"/>
              <a:cs typeface="Arial" charset="0"/>
            </a:endParaRPr>
          </a:p>
          <a:p>
            <a:pPr defTabSz="914400">
              <a:defRPr/>
            </a:pPr>
            <a:r>
              <a:rPr lang="en-GB" sz="1600" b="1" dirty="0">
                <a:solidFill>
                  <a:srgbClr val="F36633"/>
                </a:solidFill>
                <a:latin typeface="Arial"/>
              </a:rPr>
              <a:t>Secondary and other endpoints</a:t>
            </a:r>
          </a:p>
          <a:p>
            <a:pPr marL="179388" lvl="1" indent="-179388" defTabSz="914400">
              <a:buClr>
                <a:srgbClr val="544F40"/>
              </a:buClr>
              <a:buFont typeface="Arial" panose="020B0604020202020204" pitchFamily="34" charset="0"/>
              <a:buChar char="–"/>
              <a:defRPr/>
            </a:pPr>
            <a:r>
              <a:rPr lang="en-US" sz="1400" dirty="0">
                <a:solidFill>
                  <a:srgbClr val="544F40"/>
                </a:solidFill>
                <a:latin typeface="Arial"/>
                <a:ea typeface="Times New Roman" pitchFamily="18" charset="0"/>
                <a:cs typeface="Arial" charset="0"/>
              </a:rPr>
              <a:t>Annual rate of on-treatment moderate and/or severe COPD exacerbations</a:t>
            </a:r>
          </a:p>
          <a:p>
            <a:pPr marL="179388" lvl="1" indent="-179388" defTabSz="914400">
              <a:buClr>
                <a:srgbClr val="544F40"/>
              </a:buClr>
              <a:buFont typeface="Arial" panose="020B0604020202020204" pitchFamily="34" charset="0"/>
              <a:buChar char="–"/>
              <a:defRPr/>
            </a:pPr>
            <a:r>
              <a:rPr lang="en-GB" sz="1400" dirty="0">
                <a:solidFill>
                  <a:srgbClr val="544F40"/>
                </a:solidFill>
                <a:latin typeface="Arial"/>
                <a:ea typeface="Times New Roman" pitchFamily="18" charset="0"/>
                <a:cs typeface="Arial" charset="0"/>
              </a:rPr>
              <a:t>Proportion of SGRQ total score </a:t>
            </a:r>
            <a:r>
              <a:rPr lang="en-GB" sz="1400" u="sng" dirty="0">
                <a:solidFill>
                  <a:srgbClr val="544F40"/>
                </a:solidFill>
                <a:latin typeface="Arial"/>
                <a:ea typeface="Times New Roman" pitchFamily="18" charset="0"/>
                <a:cs typeface="Arial" charset="0"/>
              </a:rPr>
              <a:t>responders</a:t>
            </a:r>
            <a:r>
              <a:rPr lang="en-GB" sz="1400" dirty="0">
                <a:solidFill>
                  <a:srgbClr val="544F40"/>
                </a:solidFill>
                <a:latin typeface="Arial"/>
                <a:ea typeface="Times New Roman" pitchFamily="18" charset="0"/>
                <a:cs typeface="Arial" charset="0"/>
              </a:rPr>
              <a:t> at Week 24</a:t>
            </a:r>
          </a:p>
        </p:txBody>
      </p:sp>
      <p:grpSp>
        <p:nvGrpSpPr>
          <p:cNvPr id="20" name="Group 19"/>
          <p:cNvGrpSpPr/>
          <p:nvPr/>
        </p:nvGrpSpPr>
        <p:grpSpPr>
          <a:xfrm>
            <a:off x="836428" y="1603946"/>
            <a:ext cx="10380921" cy="1626707"/>
            <a:chOff x="466115" y="1313053"/>
            <a:chExt cx="8234457" cy="1626707"/>
          </a:xfrm>
        </p:grpSpPr>
        <p:sp>
          <p:nvSpPr>
            <p:cNvPr id="87" name="Rounded Rectangle 26"/>
            <p:cNvSpPr/>
            <p:nvPr/>
          </p:nvSpPr>
          <p:spPr bwMode="auto">
            <a:xfrm>
              <a:off x="3878318" y="1663699"/>
              <a:ext cx="2822028" cy="540000"/>
            </a:xfrm>
            <a:prstGeom prst="roundRect">
              <a:avLst/>
            </a:prstGeom>
            <a:solidFill>
              <a:schemeClr val="tx2"/>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14400" eaLnBrk="0" hangingPunct="0">
                <a:buClr>
                  <a:srgbClr val="FFFFFF"/>
                </a:buClr>
                <a:defRPr/>
              </a:pPr>
              <a:r>
                <a:rPr lang="en-US" sz="1600" b="1" kern="0" dirty="0">
                  <a:solidFill>
                    <a:schemeClr val="bg1"/>
                  </a:solidFill>
                  <a:latin typeface="Arial"/>
                </a:rPr>
                <a:t>FF/UMEC/VI </a:t>
              </a:r>
              <a:r>
                <a:rPr lang="en-US" sz="1600" kern="0" dirty="0">
                  <a:solidFill>
                    <a:schemeClr val="bg1"/>
                  </a:solidFill>
                  <a:latin typeface="Arial"/>
                </a:rPr>
                <a:t>(</a:t>
              </a:r>
              <a:r>
                <a:rPr lang="en-GB" sz="1600" kern="0" dirty="0">
                  <a:solidFill>
                    <a:schemeClr val="bg1"/>
                  </a:solidFill>
                  <a:latin typeface="Arial"/>
                </a:rPr>
                <a:t>100 μg/62.5 μg/25 μg) </a:t>
              </a:r>
            </a:p>
            <a:p>
              <a:pPr algn="ctr" defTabSz="914400" eaLnBrk="0" hangingPunct="0">
                <a:buClr>
                  <a:srgbClr val="FFFFFF"/>
                </a:buClr>
                <a:defRPr/>
              </a:pPr>
              <a:r>
                <a:rPr lang="en-US" sz="1600" kern="0" dirty="0">
                  <a:solidFill>
                    <a:schemeClr val="bg1"/>
                  </a:solidFill>
                  <a:latin typeface="Arial"/>
                </a:rPr>
                <a:t>(n=911)</a:t>
              </a:r>
            </a:p>
          </p:txBody>
        </p:sp>
        <p:sp>
          <p:nvSpPr>
            <p:cNvPr id="88" name="Rounded Rectangle 27"/>
            <p:cNvSpPr/>
            <p:nvPr/>
          </p:nvSpPr>
          <p:spPr bwMode="auto">
            <a:xfrm>
              <a:off x="3862553" y="2371772"/>
              <a:ext cx="2822026" cy="540000"/>
            </a:xfrm>
            <a:prstGeom prst="roundRect">
              <a:avLst/>
            </a:prstGeom>
            <a:solidFill>
              <a:srgbClr val="15717D"/>
            </a:solidFill>
            <a:ln>
              <a:solidFill>
                <a:srgbClr val="002060"/>
              </a:solid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14400" eaLnBrk="0" hangingPunct="0">
                <a:buClr>
                  <a:srgbClr val="FFFFFF"/>
                </a:buClr>
                <a:defRPr/>
              </a:pPr>
              <a:r>
                <a:rPr lang="en-US" sz="1600" b="1" kern="0" dirty="0">
                  <a:solidFill>
                    <a:schemeClr val="bg1"/>
                  </a:solidFill>
                  <a:latin typeface="Arial"/>
                </a:rPr>
                <a:t>BUD/FOR </a:t>
              </a:r>
              <a:r>
                <a:rPr lang="en-US" sz="1600" kern="0" dirty="0">
                  <a:solidFill>
                    <a:schemeClr val="bg1"/>
                  </a:solidFill>
                  <a:latin typeface="Arial"/>
                </a:rPr>
                <a:t>(400 µg/12 µg) </a:t>
              </a:r>
            </a:p>
            <a:p>
              <a:pPr algn="ctr" defTabSz="914400" eaLnBrk="0" hangingPunct="0">
                <a:buClr>
                  <a:srgbClr val="FFFFFF"/>
                </a:buClr>
                <a:defRPr/>
              </a:pPr>
              <a:r>
                <a:rPr lang="en-US" sz="1600" kern="0" dirty="0">
                  <a:solidFill>
                    <a:schemeClr val="bg1"/>
                  </a:solidFill>
                  <a:latin typeface="Arial"/>
                </a:rPr>
                <a:t>(n=899) </a:t>
              </a:r>
            </a:p>
          </p:txBody>
        </p:sp>
        <p:sp>
          <p:nvSpPr>
            <p:cNvPr id="89" name="Rounded Rectangle 28"/>
            <p:cNvSpPr/>
            <p:nvPr/>
          </p:nvSpPr>
          <p:spPr bwMode="auto">
            <a:xfrm>
              <a:off x="1881557" y="2009822"/>
              <a:ext cx="1642085" cy="540000"/>
            </a:xfrm>
            <a:prstGeom prst="roundRect">
              <a:avLst/>
            </a:prstGeom>
            <a:solidFill>
              <a:schemeClr val="tx2">
                <a:lumMod val="20000"/>
                <a:lumOff val="80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14400" eaLnBrk="0" hangingPunct="0">
                <a:buClr>
                  <a:srgbClr val="FFFFFF"/>
                </a:buClr>
                <a:defRPr/>
              </a:pPr>
              <a:r>
                <a:rPr lang="en-US" sz="1600" kern="0" dirty="0">
                  <a:solidFill>
                    <a:srgbClr val="544F40"/>
                  </a:solidFill>
                  <a:latin typeface="Arial"/>
                </a:rPr>
                <a:t>Current COPD meds</a:t>
              </a:r>
            </a:p>
          </p:txBody>
        </p:sp>
        <p:sp>
          <p:nvSpPr>
            <p:cNvPr id="90" name="Rounded Rectangle 29"/>
            <p:cNvSpPr/>
            <p:nvPr/>
          </p:nvSpPr>
          <p:spPr bwMode="auto">
            <a:xfrm>
              <a:off x="7058487" y="2017736"/>
              <a:ext cx="1642085" cy="540000"/>
            </a:xfrm>
            <a:prstGeom prst="roundRect">
              <a:avLst/>
            </a:prstGeom>
            <a:solidFill>
              <a:schemeClr val="bg2">
                <a:lumMod val="20000"/>
                <a:lumOff val="80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14400" eaLnBrk="0" hangingPunct="0">
                <a:buClr>
                  <a:srgbClr val="FFFFFF"/>
                </a:buClr>
                <a:defRPr/>
              </a:pPr>
              <a:r>
                <a:rPr lang="en-US" sz="1600" kern="0" dirty="0">
                  <a:solidFill>
                    <a:srgbClr val="544F40"/>
                  </a:solidFill>
                  <a:latin typeface="Arial"/>
                </a:rPr>
                <a:t>Follow-up</a:t>
              </a:r>
            </a:p>
          </p:txBody>
        </p:sp>
        <p:sp>
          <p:nvSpPr>
            <p:cNvPr id="91" name="Rectangle 90"/>
            <p:cNvSpPr/>
            <p:nvPr/>
          </p:nvSpPr>
          <p:spPr>
            <a:xfrm>
              <a:off x="466115" y="1924097"/>
              <a:ext cx="1330325" cy="1015663"/>
            </a:xfrm>
            <a:prstGeom prst="rect">
              <a:avLst/>
            </a:prstGeom>
          </p:spPr>
          <p:txBody>
            <a:bodyPr wrap="square">
              <a:spAutoFit/>
            </a:bodyPr>
            <a:lstStyle/>
            <a:p>
              <a:pPr algn="ctr" defTabSz="914400">
                <a:defRPr/>
              </a:pPr>
              <a:r>
                <a:rPr lang="en-US" sz="1600" dirty="0">
                  <a:solidFill>
                    <a:srgbClr val="544F40"/>
                  </a:solidFill>
                  <a:latin typeface="Arial"/>
                </a:rPr>
                <a:t>Population: </a:t>
              </a:r>
              <a:r>
                <a:rPr lang="en-US" sz="1100" dirty="0">
                  <a:solidFill>
                    <a:srgbClr val="544F40"/>
                  </a:solidFill>
                  <a:latin typeface="Arial"/>
                </a:rPr>
                <a:t>patients with COPD who are symptomatic and at risk of exacerbation</a:t>
              </a:r>
            </a:p>
          </p:txBody>
        </p:sp>
        <p:sp>
          <p:nvSpPr>
            <p:cNvPr id="93" name="Freeform 6"/>
            <p:cNvSpPr/>
            <p:nvPr/>
          </p:nvSpPr>
          <p:spPr bwMode="auto">
            <a:xfrm>
              <a:off x="3878318" y="1433513"/>
              <a:ext cx="2822400" cy="0"/>
            </a:xfrm>
            <a:custGeom>
              <a:avLst/>
              <a:gdLst>
                <a:gd name="connsiteX0" fmla="*/ 0 w 2609850"/>
                <a:gd name="connsiteY0" fmla="*/ 0 h 0"/>
                <a:gd name="connsiteX1" fmla="*/ 2609850 w 2609850"/>
                <a:gd name="connsiteY1" fmla="*/ 0 h 0"/>
              </a:gdLst>
              <a:ahLst/>
              <a:cxnLst>
                <a:cxn ang="0">
                  <a:pos x="connsiteX0" y="connsiteY0"/>
                </a:cxn>
                <a:cxn ang="0">
                  <a:pos x="connsiteX1" y="connsiteY1"/>
                </a:cxn>
              </a:cxnLst>
              <a:rect l="l" t="t" r="r" b="b"/>
              <a:pathLst>
                <a:path w="2609850">
                  <a:moveTo>
                    <a:pt x="0" y="0"/>
                  </a:moveTo>
                  <a:lnTo>
                    <a:pt x="2609850" y="0"/>
                  </a:lnTo>
                </a:path>
              </a:pathLst>
            </a:custGeom>
            <a:noFill/>
            <a:ln w="19050">
              <a:solidFill>
                <a:schemeClr val="tx1"/>
              </a:solidFill>
              <a:headEnd type="triangle" w="lg" len="lg"/>
              <a:tailEnd type="triangle" w="lg" len="lg"/>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defRPr/>
              </a:pPr>
              <a:endParaRPr lang="en-US" sz="1600" dirty="0">
                <a:solidFill>
                  <a:srgbClr val="544F40"/>
                </a:solidFill>
                <a:latin typeface="Arial"/>
              </a:endParaRPr>
            </a:p>
          </p:txBody>
        </p:sp>
        <p:sp>
          <p:nvSpPr>
            <p:cNvPr id="94" name="Rectangle 93"/>
            <p:cNvSpPr/>
            <p:nvPr/>
          </p:nvSpPr>
          <p:spPr>
            <a:xfrm>
              <a:off x="4850572" y="1313053"/>
              <a:ext cx="877892" cy="338554"/>
            </a:xfrm>
            <a:prstGeom prst="rect">
              <a:avLst/>
            </a:prstGeom>
            <a:solidFill>
              <a:schemeClr val="bg1"/>
            </a:solidFill>
            <a:ln w="19050">
              <a:noFill/>
            </a:ln>
          </p:spPr>
          <p:txBody>
            <a:bodyPr wrap="square">
              <a:spAutoFit/>
            </a:bodyPr>
            <a:lstStyle/>
            <a:p>
              <a:pPr algn="ctr" defTabSz="914400">
                <a:defRPr/>
              </a:pPr>
              <a:r>
                <a:rPr lang="en-US" sz="1600" dirty="0">
                  <a:solidFill>
                    <a:srgbClr val="544F40"/>
                  </a:solidFill>
                  <a:latin typeface="Arial"/>
                </a:rPr>
                <a:t>24 weeks</a:t>
              </a:r>
            </a:p>
          </p:txBody>
        </p:sp>
        <p:sp>
          <p:nvSpPr>
            <p:cNvPr id="96" name="Freeform 37"/>
            <p:cNvSpPr/>
            <p:nvPr/>
          </p:nvSpPr>
          <p:spPr bwMode="auto">
            <a:xfrm flipV="1">
              <a:off x="1882042" y="1750817"/>
              <a:ext cx="1641600" cy="54166"/>
            </a:xfrm>
            <a:custGeom>
              <a:avLst/>
              <a:gdLst>
                <a:gd name="connsiteX0" fmla="*/ 0 w 2609850"/>
                <a:gd name="connsiteY0" fmla="*/ 0 h 0"/>
                <a:gd name="connsiteX1" fmla="*/ 2609850 w 2609850"/>
                <a:gd name="connsiteY1" fmla="*/ 0 h 0"/>
              </a:gdLst>
              <a:ahLst/>
              <a:cxnLst>
                <a:cxn ang="0">
                  <a:pos x="connsiteX0" y="connsiteY0"/>
                </a:cxn>
                <a:cxn ang="0">
                  <a:pos x="connsiteX1" y="connsiteY1"/>
                </a:cxn>
              </a:cxnLst>
              <a:rect l="l" t="t" r="r" b="b"/>
              <a:pathLst>
                <a:path w="2609850">
                  <a:moveTo>
                    <a:pt x="0" y="0"/>
                  </a:moveTo>
                  <a:lnTo>
                    <a:pt x="2609850" y="0"/>
                  </a:lnTo>
                </a:path>
              </a:pathLst>
            </a:custGeom>
            <a:noFill/>
            <a:ln w="19050">
              <a:solidFill>
                <a:schemeClr val="tx1"/>
              </a:solidFill>
              <a:headEnd type="triangle" w="lg" len="lg"/>
              <a:tailEnd type="triangle" w="lg" len="lg"/>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defRPr/>
              </a:pPr>
              <a:endParaRPr lang="en-US" sz="1600" dirty="0">
                <a:solidFill>
                  <a:srgbClr val="544F40"/>
                </a:solidFill>
                <a:latin typeface="Arial"/>
              </a:endParaRPr>
            </a:p>
          </p:txBody>
        </p:sp>
        <p:sp>
          <p:nvSpPr>
            <p:cNvPr id="97" name="Rectangle 96"/>
            <p:cNvSpPr/>
            <p:nvPr/>
          </p:nvSpPr>
          <p:spPr>
            <a:xfrm>
              <a:off x="2263896" y="1663700"/>
              <a:ext cx="877892" cy="338554"/>
            </a:xfrm>
            <a:prstGeom prst="rect">
              <a:avLst/>
            </a:prstGeom>
            <a:solidFill>
              <a:schemeClr val="bg1"/>
            </a:solidFill>
            <a:ln w="19050">
              <a:noFill/>
            </a:ln>
          </p:spPr>
          <p:txBody>
            <a:bodyPr wrap="square">
              <a:spAutoFit/>
            </a:bodyPr>
            <a:lstStyle/>
            <a:p>
              <a:pPr algn="ctr" defTabSz="914400">
                <a:defRPr/>
              </a:pPr>
              <a:r>
                <a:rPr lang="en-US" sz="1600" dirty="0">
                  <a:solidFill>
                    <a:srgbClr val="544F40"/>
                  </a:solidFill>
                  <a:latin typeface="Arial"/>
                </a:rPr>
                <a:t>2 weeks</a:t>
              </a:r>
            </a:p>
          </p:txBody>
        </p:sp>
        <p:grpSp>
          <p:nvGrpSpPr>
            <p:cNvPr id="102" name="Group 101"/>
            <p:cNvGrpSpPr/>
            <p:nvPr/>
          </p:nvGrpSpPr>
          <p:grpSpPr>
            <a:xfrm>
              <a:off x="7042434" y="1663700"/>
              <a:ext cx="1641600" cy="338554"/>
              <a:chOff x="4395788" y="1313053"/>
              <a:chExt cx="1641600" cy="338554"/>
            </a:xfrm>
          </p:grpSpPr>
          <p:sp>
            <p:nvSpPr>
              <p:cNvPr id="103" name="Freeform 61"/>
              <p:cNvSpPr/>
              <p:nvPr/>
            </p:nvSpPr>
            <p:spPr bwMode="auto">
              <a:xfrm flipV="1">
                <a:off x="4395788" y="1400170"/>
                <a:ext cx="1641600" cy="54166"/>
              </a:xfrm>
              <a:custGeom>
                <a:avLst/>
                <a:gdLst>
                  <a:gd name="connsiteX0" fmla="*/ 0 w 2609850"/>
                  <a:gd name="connsiteY0" fmla="*/ 0 h 0"/>
                  <a:gd name="connsiteX1" fmla="*/ 2609850 w 2609850"/>
                  <a:gd name="connsiteY1" fmla="*/ 0 h 0"/>
                </a:gdLst>
                <a:ahLst/>
                <a:cxnLst>
                  <a:cxn ang="0">
                    <a:pos x="connsiteX0" y="connsiteY0"/>
                  </a:cxn>
                  <a:cxn ang="0">
                    <a:pos x="connsiteX1" y="connsiteY1"/>
                  </a:cxn>
                </a:cxnLst>
                <a:rect l="l" t="t" r="r" b="b"/>
                <a:pathLst>
                  <a:path w="2609850">
                    <a:moveTo>
                      <a:pt x="0" y="0"/>
                    </a:moveTo>
                    <a:lnTo>
                      <a:pt x="2609850" y="0"/>
                    </a:lnTo>
                  </a:path>
                </a:pathLst>
              </a:custGeom>
              <a:noFill/>
              <a:ln w="19050">
                <a:solidFill>
                  <a:schemeClr val="tx1"/>
                </a:solidFill>
                <a:headEnd type="triangle" w="lg" len="lg"/>
                <a:tailEnd type="triangle" w="lg" len="lg"/>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914400">
                  <a:defRPr/>
                </a:pPr>
                <a:endParaRPr lang="en-US" sz="1600" dirty="0">
                  <a:solidFill>
                    <a:srgbClr val="544F40"/>
                  </a:solidFill>
                  <a:latin typeface="Arial"/>
                </a:endParaRPr>
              </a:p>
            </p:txBody>
          </p:sp>
          <p:sp>
            <p:nvSpPr>
              <p:cNvPr id="104" name="Rectangle 103"/>
              <p:cNvSpPr/>
              <p:nvPr/>
            </p:nvSpPr>
            <p:spPr>
              <a:xfrm>
                <a:off x="4777642" y="1313053"/>
                <a:ext cx="877892" cy="338554"/>
              </a:xfrm>
              <a:prstGeom prst="rect">
                <a:avLst/>
              </a:prstGeom>
              <a:solidFill>
                <a:schemeClr val="bg1"/>
              </a:solidFill>
              <a:ln w="19050">
                <a:noFill/>
              </a:ln>
            </p:spPr>
            <p:txBody>
              <a:bodyPr wrap="square">
                <a:spAutoFit/>
              </a:bodyPr>
              <a:lstStyle/>
              <a:p>
                <a:pPr algn="ctr" defTabSz="914400">
                  <a:defRPr/>
                </a:pPr>
                <a:r>
                  <a:rPr lang="en-US" sz="1600" dirty="0">
                    <a:solidFill>
                      <a:srgbClr val="544F40"/>
                    </a:solidFill>
                    <a:latin typeface="Arial"/>
                  </a:rPr>
                  <a:t>1 week</a:t>
                </a:r>
              </a:p>
            </p:txBody>
          </p:sp>
        </p:grpSp>
        <p:grpSp>
          <p:nvGrpSpPr>
            <p:cNvPr id="18" name="Group 17"/>
            <p:cNvGrpSpPr/>
            <p:nvPr/>
          </p:nvGrpSpPr>
          <p:grpSpPr>
            <a:xfrm>
              <a:off x="6684579" y="1933699"/>
              <a:ext cx="373908" cy="708073"/>
              <a:chOff x="6684579" y="1933699"/>
              <a:chExt cx="373908" cy="708073"/>
            </a:xfrm>
          </p:grpSpPr>
          <p:cxnSp>
            <p:nvCxnSpPr>
              <p:cNvPr id="100" name="Elbow Connector 47"/>
              <p:cNvCxnSpPr>
                <a:stCxn id="87" idx="3"/>
                <a:endCxn id="88" idx="3"/>
              </p:cNvCxnSpPr>
              <p:nvPr/>
            </p:nvCxnSpPr>
            <p:spPr>
              <a:xfrm flipH="1">
                <a:off x="6684579" y="1933699"/>
                <a:ext cx="15767" cy="708073"/>
              </a:xfrm>
              <a:prstGeom prst="bentConnector3">
                <a:avLst>
                  <a:gd name="adj1" fmla="val -1087398"/>
                </a:avLst>
              </a:prstGeom>
              <a:ln w="1905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862763" y="2287696"/>
                <a:ext cx="195724"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17" name="Group 16"/>
            <p:cNvGrpSpPr/>
            <p:nvPr/>
          </p:nvGrpSpPr>
          <p:grpSpPr>
            <a:xfrm>
              <a:off x="3523642" y="1933698"/>
              <a:ext cx="354677" cy="708073"/>
              <a:chOff x="3523642" y="1933698"/>
              <a:chExt cx="354677" cy="708073"/>
            </a:xfrm>
          </p:grpSpPr>
          <p:cxnSp>
            <p:nvCxnSpPr>
              <p:cNvPr id="99" name="Elbow Connector 41"/>
              <p:cNvCxnSpPr>
                <a:stCxn id="87" idx="1"/>
                <a:endCxn id="88" idx="1"/>
              </p:cNvCxnSpPr>
              <p:nvPr/>
            </p:nvCxnSpPr>
            <p:spPr>
              <a:xfrm rot="10800000" flipV="1">
                <a:off x="3862554" y="1933698"/>
                <a:ext cx="15765" cy="708073"/>
              </a:xfrm>
              <a:prstGeom prst="bentConnector3">
                <a:avLst>
                  <a:gd name="adj1" fmla="val 1550048"/>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3523642" y="2274996"/>
                <a:ext cx="112527" cy="0"/>
              </a:xfrm>
              <a:prstGeom prst="straightConnector1">
                <a:avLst/>
              </a:prstGeom>
              <a:ln w="1905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grpSp>
      </p:grpSp>
      <p:sp>
        <p:nvSpPr>
          <p:cNvPr id="5" name="ZoneTexte 4">
            <a:extLst>
              <a:ext uri="{FF2B5EF4-FFF2-40B4-BE49-F238E27FC236}">
                <a16:creationId xmlns:a16="http://schemas.microsoft.com/office/drawing/2014/main" id="{D2194DBB-D2B5-CA78-355A-53AD622ADC13}"/>
              </a:ext>
            </a:extLst>
          </p:cNvPr>
          <p:cNvSpPr txBox="1"/>
          <p:nvPr/>
        </p:nvSpPr>
        <p:spPr>
          <a:xfrm>
            <a:off x="893690" y="5905284"/>
            <a:ext cx="10404618" cy="338554"/>
          </a:xfrm>
          <a:prstGeom prst="rect">
            <a:avLst/>
          </a:prstGeom>
          <a:noFill/>
        </p:spPr>
        <p:txBody>
          <a:bodyPr wrap="square">
            <a:spAutoFit/>
          </a:bodyPr>
          <a:lstStyle/>
          <a:p>
            <a:r>
              <a:rPr lang="fr-FR" sz="800" dirty="0"/>
              <a:t>BUD, </a:t>
            </a:r>
            <a:r>
              <a:rPr lang="fr-FR" sz="800" dirty="0" err="1"/>
              <a:t>budesonide</a:t>
            </a:r>
            <a:r>
              <a:rPr lang="fr-FR" sz="800" dirty="0"/>
              <a:t>; CI, confidence </a:t>
            </a:r>
            <a:r>
              <a:rPr lang="fr-FR" sz="800" dirty="0" err="1"/>
              <a:t>interval</a:t>
            </a:r>
            <a:r>
              <a:rPr lang="fr-FR" sz="800" dirty="0"/>
              <a:t>; COPD, </a:t>
            </a:r>
            <a:r>
              <a:rPr lang="fr-FR" sz="800" dirty="0" err="1"/>
              <a:t>chronic</a:t>
            </a:r>
            <a:r>
              <a:rPr lang="fr-FR" sz="800" dirty="0"/>
              <a:t> obstructive </a:t>
            </a:r>
            <a:r>
              <a:rPr lang="fr-FR" sz="800" dirty="0" err="1"/>
              <a:t>pulmonary</a:t>
            </a:r>
            <a:r>
              <a:rPr lang="fr-FR" sz="800" dirty="0"/>
              <a:t> </a:t>
            </a:r>
            <a:r>
              <a:rPr lang="fr-FR" sz="800" dirty="0" err="1"/>
              <a:t>disease</a:t>
            </a:r>
            <a:r>
              <a:rPr lang="fr-FR" sz="800" dirty="0"/>
              <a:t>; FEV1, </a:t>
            </a:r>
            <a:r>
              <a:rPr lang="fr-FR" sz="800" dirty="0" err="1"/>
              <a:t>forced</a:t>
            </a:r>
            <a:r>
              <a:rPr lang="fr-FR" sz="800" dirty="0"/>
              <a:t> </a:t>
            </a:r>
            <a:r>
              <a:rPr lang="fr-FR" sz="800" dirty="0" err="1"/>
              <a:t>expiratory</a:t>
            </a:r>
            <a:r>
              <a:rPr lang="fr-FR" sz="800" dirty="0"/>
              <a:t> volume in 1 second;</a:t>
            </a:r>
            <a:br>
              <a:rPr lang="fr-FR" sz="800" dirty="0"/>
            </a:br>
            <a:r>
              <a:rPr lang="fr-FR" sz="800" dirty="0"/>
              <a:t>FF, fluticasone </a:t>
            </a:r>
            <a:r>
              <a:rPr lang="fr-FR" sz="800" dirty="0" err="1"/>
              <a:t>furoate</a:t>
            </a:r>
            <a:r>
              <a:rPr lang="fr-FR" sz="800" dirty="0"/>
              <a:t>; FOR, </a:t>
            </a:r>
            <a:r>
              <a:rPr lang="fr-FR" sz="800" dirty="0" err="1"/>
              <a:t>formoterol</a:t>
            </a:r>
            <a:r>
              <a:rPr lang="fr-FR" sz="800" dirty="0"/>
              <a:t>; ICS, </a:t>
            </a:r>
            <a:r>
              <a:rPr lang="fr-FR" sz="800" dirty="0" err="1"/>
              <a:t>inhaled</a:t>
            </a:r>
            <a:r>
              <a:rPr lang="fr-FR" sz="800" dirty="0"/>
              <a:t> </a:t>
            </a:r>
            <a:r>
              <a:rPr lang="fr-FR" sz="800" dirty="0" err="1"/>
              <a:t>corticosteroid</a:t>
            </a:r>
            <a:r>
              <a:rPr lang="fr-FR" sz="800" dirty="0"/>
              <a:t>; LABA, long-acting </a:t>
            </a:r>
            <a:r>
              <a:rPr lang="el-GR" sz="800" dirty="0"/>
              <a:t>β </a:t>
            </a:r>
            <a:r>
              <a:rPr lang="fr-FR" sz="800" dirty="0" err="1"/>
              <a:t>adrenoceptor</a:t>
            </a:r>
            <a:r>
              <a:rPr lang="fr-FR" sz="800" dirty="0"/>
              <a:t> </a:t>
            </a:r>
            <a:r>
              <a:rPr lang="fr-FR" sz="800" dirty="0" err="1"/>
              <a:t>agonists</a:t>
            </a:r>
            <a:r>
              <a:rPr lang="fr-FR" sz="800" dirty="0"/>
              <a:t>; UMEC, </a:t>
            </a:r>
            <a:r>
              <a:rPr lang="fr-FR" sz="800" dirty="0" err="1"/>
              <a:t>umeclidinium</a:t>
            </a:r>
            <a:r>
              <a:rPr lang="fr-FR" sz="800" dirty="0"/>
              <a:t>; VI, </a:t>
            </a:r>
            <a:r>
              <a:rPr lang="fr-FR" sz="800" dirty="0" err="1"/>
              <a:t>vilanterol</a:t>
            </a:r>
            <a:endParaRPr lang="fr-FR" sz="800" dirty="0"/>
          </a:p>
        </p:txBody>
      </p:sp>
      <p:sp>
        <p:nvSpPr>
          <p:cNvPr id="11" name="Rounded Rectangle 94">
            <a:extLst>
              <a:ext uri="{FF2B5EF4-FFF2-40B4-BE49-F238E27FC236}">
                <a16:creationId xmlns:a16="http://schemas.microsoft.com/office/drawing/2014/main" id="{5D8C5A76-E46B-A5B0-FE01-7FE904D38503}"/>
              </a:ext>
            </a:extLst>
          </p:cNvPr>
          <p:cNvSpPr/>
          <p:nvPr/>
        </p:nvSpPr>
        <p:spPr bwMode="auto">
          <a:xfrm>
            <a:off x="855589" y="5260208"/>
            <a:ext cx="3688979" cy="569469"/>
          </a:xfrm>
          <a:prstGeom prst="roundRect">
            <a:avLst>
              <a:gd name="adj" fmla="val 4116"/>
            </a:avLst>
          </a:prstGeom>
          <a:noFill/>
          <a:ln w="28575">
            <a:solidFill>
              <a:schemeClr val="tx2"/>
            </a:solid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180975" indent="-180975" algn="ctr" defTabSz="914400" eaLnBrk="0" hangingPunct="0">
              <a:buClr>
                <a:srgbClr val="FFFFFF"/>
              </a:buClr>
              <a:buFont typeface="Arial" pitchFamily="34" charset="0"/>
              <a:buChar char="–"/>
              <a:defRPr/>
            </a:pPr>
            <a:endParaRPr lang="en-US" sz="1200" b="1" kern="0" dirty="0">
              <a:solidFill>
                <a:srgbClr val="FFFFFF"/>
              </a:solidFill>
              <a:latin typeface="Arial"/>
            </a:endParaRPr>
          </a:p>
        </p:txBody>
      </p:sp>
      <p:sp>
        <p:nvSpPr>
          <p:cNvPr id="12" name="Rounded Rectangle 26">
            <a:extLst>
              <a:ext uri="{FF2B5EF4-FFF2-40B4-BE49-F238E27FC236}">
                <a16:creationId xmlns:a16="http://schemas.microsoft.com/office/drawing/2014/main" id="{6C409C70-AD4D-EC58-3FFD-00DF8017219D}"/>
              </a:ext>
            </a:extLst>
          </p:cNvPr>
          <p:cNvSpPr/>
          <p:nvPr/>
        </p:nvSpPr>
        <p:spPr bwMode="auto">
          <a:xfrm rot="1660727">
            <a:off x="4278118" y="5092648"/>
            <a:ext cx="532619" cy="226270"/>
          </a:xfrm>
          <a:prstGeom prst="roundRect">
            <a:avLst/>
          </a:prstGeom>
          <a:solidFill>
            <a:schemeClr val="tx2"/>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defTabSz="914400" eaLnBrk="0" hangingPunct="0">
              <a:buClr>
                <a:srgbClr val="FFFFFF"/>
              </a:buClr>
              <a:defRPr/>
            </a:pPr>
            <a:r>
              <a:rPr lang="fr-FR" sz="1400" b="1" kern="0" dirty="0">
                <a:solidFill>
                  <a:schemeClr val="bg1"/>
                </a:solidFill>
                <a:latin typeface="Arial"/>
              </a:rPr>
              <a:t>EXT </a:t>
            </a:r>
            <a:endParaRPr lang="en-US" sz="1400" kern="0" dirty="0">
              <a:solidFill>
                <a:schemeClr val="bg1"/>
              </a:solidFill>
              <a:latin typeface="Arial"/>
            </a:endParaRPr>
          </a:p>
        </p:txBody>
      </p:sp>
      <p:sp>
        <p:nvSpPr>
          <p:cNvPr id="14" name="Slide Number Placeholder 4">
            <a:extLst>
              <a:ext uri="{FF2B5EF4-FFF2-40B4-BE49-F238E27FC236}">
                <a16:creationId xmlns:a16="http://schemas.microsoft.com/office/drawing/2014/main" id="{8D65605C-1FC5-480B-B497-A16BED529DAB}"/>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4</a:t>
            </a:fld>
            <a:endParaRPr lang="en-GB" sz="1000" dirty="0">
              <a:solidFill>
                <a:srgbClr val="000000"/>
              </a:solidFill>
              <a:latin typeface="Arial"/>
              <a:cs typeface="Noto Sans"/>
            </a:endParaRPr>
          </a:p>
        </p:txBody>
      </p:sp>
    </p:spTree>
    <p:extLst>
      <p:ext uri="{BB962C8B-B14F-4D97-AF65-F5344CB8AC3E}">
        <p14:creationId xmlns:p14="http://schemas.microsoft.com/office/powerpoint/2010/main" val="217101162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p:cNvSpPr/>
          <p:nvPr/>
        </p:nvSpPr>
        <p:spPr>
          <a:xfrm>
            <a:off x="1798478" y="2061340"/>
            <a:ext cx="4151315" cy="3595856"/>
          </a:xfrm>
          <a:prstGeom prst="rect">
            <a:avLst/>
          </a:prstGeom>
        </p:spPr>
        <p:txBody>
          <a:bodyPr wrap="square">
            <a:spAutoFit/>
          </a:bodyPr>
          <a:lstStyle/>
          <a:p>
            <a:pPr marL="214313" indent="-108000" defTabSz="514350">
              <a:spcBef>
                <a:spcPts val="75"/>
              </a:spcBef>
              <a:buFont typeface="Arial" panose="020B0604020202020204" pitchFamily="34" charset="0"/>
              <a:buChar char="•"/>
              <a:defRPr/>
            </a:pPr>
            <a:r>
              <a:rPr lang="en-GB" sz="1150" kern="0" dirty="0">
                <a:solidFill>
                  <a:srgbClr val="544F40"/>
                </a:solidFill>
              </a:rPr>
              <a:t>Outpatient</a:t>
            </a:r>
          </a:p>
          <a:p>
            <a:pPr marL="214313" indent="-108000" defTabSz="514350">
              <a:spcBef>
                <a:spcPts val="75"/>
              </a:spcBef>
              <a:buFont typeface="Arial" panose="020B0604020202020204" pitchFamily="34" charset="0"/>
              <a:buChar char="•"/>
              <a:defRPr/>
            </a:pPr>
            <a:r>
              <a:rPr lang="en-GB" sz="1150" kern="0" dirty="0">
                <a:solidFill>
                  <a:srgbClr val="544F40"/>
                </a:solidFill>
              </a:rPr>
              <a:t>≥40 years of age at screening</a:t>
            </a:r>
          </a:p>
          <a:p>
            <a:pPr marL="214313" indent="-108000" defTabSz="514350">
              <a:spcBef>
                <a:spcPts val="75"/>
              </a:spcBef>
              <a:buFont typeface="Arial" panose="020B0604020202020204" pitchFamily="34" charset="0"/>
              <a:buChar char="•"/>
              <a:defRPr/>
            </a:pPr>
            <a:r>
              <a:rPr lang="en-GB" sz="1150" kern="0" dirty="0">
                <a:solidFill>
                  <a:srgbClr val="544F40"/>
                </a:solidFill>
              </a:rPr>
              <a:t>Male or female</a:t>
            </a:r>
            <a:r>
              <a:rPr lang="en-US" sz="800" dirty="0"/>
              <a:t> </a:t>
            </a:r>
            <a:r>
              <a:rPr lang="en-US" sz="800" baseline="30000" dirty="0"/>
              <a:t>†</a:t>
            </a:r>
            <a:endParaRPr lang="en-GB" sz="1150" kern="0" baseline="30000" dirty="0">
              <a:solidFill>
                <a:srgbClr val="544F40"/>
              </a:solidFill>
            </a:endParaRPr>
          </a:p>
          <a:p>
            <a:pPr marL="214313" indent="-108000" defTabSz="514350">
              <a:spcBef>
                <a:spcPts val="75"/>
              </a:spcBef>
              <a:buFont typeface="Arial" panose="020B0604020202020204" pitchFamily="34" charset="0"/>
              <a:buChar char="•"/>
              <a:defRPr/>
            </a:pPr>
            <a:r>
              <a:rPr lang="en-GB" sz="1150" kern="0" dirty="0">
                <a:solidFill>
                  <a:srgbClr val="544F40"/>
                </a:solidFill>
              </a:rPr>
              <a:t>Smoking history ≥10 pack-years</a:t>
            </a:r>
          </a:p>
          <a:p>
            <a:pPr marL="214313" indent="-108000" defTabSz="514350">
              <a:spcBef>
                <a:spcPts val="75"/>
              </a:spcBef>
              <a:buFont typeface="Arial" panose="020B0604020202020204" pitchFamily="34" charset="0"/>
              <a:buChar char="•"/>
              <a:defRPr/>
            </a:pPr>
            <a:r>
              <a:rPr lang="en-GB" sz="1150" kern="0" dirty="0">
                <a:solidFill>
                  <a:srgbClr val="544F40"/>
                </a:solidFill>
              </a:rPr>
              <a:t>Established history of COPD according </a:t>
            </a:r>
          </a:p>
          <a:p>
            <a:pPr marL="106313" defTabSz="514350">
              <a:spcBef>
                <a:spcPts val="75"/>
              </a:spcBef>
              <a:defRPr/>
            </a:pPr>
            <a:r>
              <a:rPr lang="en-GB" sz="1150" kern="0" dirty="0">
                <a:solidFill>
                  <a:srgbClr val="544F40"/>
                </a:solidFill>
              </a:rPr>
              <a:t>   (definition by ATS/ERS)</a:t>
            </a:r>
          </a:p>
          <a:p>
            <a:pPr marL="214313" indent="-108000" defTabSz="514350">
              <a:spcBef>
                <a:spcPts val="75"/>
              </a:spcBef>
              <a:buFont typeface="Arial" panose="020B0604020202020204" pitchFamily="34" charset="0"/>
              <a:buChar char="•"/>
              <a:defRPr/>
            </a:pPr>
            <a:r>
              <a:rPr lang="en-US" sz="1150" kern="0" dirty="0">
                <a:solidFill>
                  <a:srgbClr val="544F40"/>
                </a:solidFill>
              </a:rPr>
              <a:t>Existing COPD daily maintenance treatment for COPD for ≥3 months prior to screening</a:t>
            </a:r>
          </a:p>
          <a:p>
            <a:pPr marL="214313" indent="-108000" defTabSz="514350">
              <a:spcBef>
                <a:spcPts val="75"/>
              </a:spcBef>
              <a:buFont typeface="Arial" panose="020B0604020202020204" pitchFamily="34" charset="0"/>
              <a:buChar char="•"/>
              <a:defRPr/>
            </a:pPr>
            <a:r>
              <a:rPr lang="en-US" sz="1150" kern="0" dirty="0">
                <a:solidFill>
                  <a:srgbClr val="544F40"/>
                </a:solidFill>
              </a:rPr>
              <a:t>CAT score ≥10</a:t>
            </a:r>
            <a:endParaRPr lang="en-GB" sz="1150" kern="0" dirty="0">
              <a:solidFill>
                <a:srgbClr val="544F40"/>
              </a:solidFill>
            </a:endParaRPr>
          </a:p>
          <a:p>
            <a:pPr marL="214313" indent="-108000" defTabSz="514350">
              <a:spcBef>
                <a:spcPts val="75"/>
              </a:spcBef>
              <a:buFont typeface="Arial" panose="020B0604020202020204" pitchFamily="34" charset="0"/>
              <a:buChar char="•"/>
              <a:defRPr/>
            </a:pPr>
            <a:r>
              <a:rPr lang="en-GB" sz="1150" kern="0" dirty="0">
                <a:solidFill>
                  <a:srgbClr val="544F40"/>
                </a:solidFill>
              </a:rPr>
              <a:t>Post-</a:t>
            </a:r>
            <a:r>
              <a:rPr lang="en-GB" sz="1150" kern="0" dirty="0" err="1">
                <a:solidFill>
                  <a:srgbClr val="544F40"/>
                </a:solidFill>
              </a:rPr>
              <a:t>albuterol</a:t>
            </a:r>
            <a:r>
              <a:rPr lang="en-GB" sz="1150" kern="0" dirty="0">
                <a:solidFill>
                  <a:srgbClr val="544F40"/>
                </a:solidFill>
              </a:rPr>
              <a:t>/salbutamol FEV</a:t>
            </a:r>
            <a:r>
              <a:rPr lang="en-GB" sz="1150" kern="0" baseline="-25000" dirty="0">
                <a:solidFill>
                  <a:srgbClr val="544F40"/>
                </a:solidFill>
              </a:rPr>
              <a:t>1</a:t>
            </a:r>
            <a:r>
              <a:rPr lang="en-GB" sz="1150" kern="0" dirty="0">
                <a:solidFill>
                  <a:srgbClr val="544F40"/>
                </a:solidFill>
              </a:rPr>
              <a:t>/FVC ratio &lt;0.7 at screening</a:t>
            </a:r>
          </a:p>
          <a:p>
            <a:pPr marL="214313" indent="-108000" defTabSz="514350">
              <a:spcBef>
                <a:spcPts val="75"/>
              </a:spcBef>
              <a:buFont typeface="Arial" panose="020B0604020202020204" pitchFamily="34" charset="0"/>
              <a:buChar char="•"/>
              <a:defRPr/>
            </a:pPr>
            <a:r>
              <a:rPr lang="en-GB" sz="1150" kern="0" dirty="0">
                <a:solidFill>
                  <a:srgbClr val="544F40"/>
                </a:solidFill>
              </a:rPr>
              <a:t>History of exacerbations: </a:t>
            </a:r>
          </a:p>
          <a:p>
            <a:pPr marL="344588" lvl="1" indent="-128588" defTabSz="514350">
              <a:spcBef>
                <a:spcPts val="75"/>
              </a:spcBef>
              <a:buFont typeface="Arial" panose="020B0604020202020204" pitchFamily="34" charset="0"/>
              <a:buChar char="-"/>
              <a:defRPr/>
            </a:pPr>
            <a:r>
              <a:rPr lang="en-GB" sz="1150" kern="0" dirty="0">
                <a:solidFill>
                  <a:srgbClr val="544F40"/>
                </a:solidFill>
              </a:rPr>
              <a:t>Post-bronchodilator FEV</a:t>
            </a:r>
            <a:r>
              <a:rPr lang="en-GB" sz="1150" kern="0" baseline="-25000" dirty="0">
                <a:solidFill>
                  <a:srgbClr val="544F40"/>
                </a:solidFill>
              </a:rPr>
              <a:t>1</a:t>
            </a:r>
            <a:r>
              <a:rPr lang="en-GB" sz="1150" kern="0" dirty="0">
                <a:solidFill>
                  <a:srgbClr val="544F40"/>
                </a:solidFill>
              </a:rPr>
              <a:t> &lt;50% + ≥1 moderate/severe (hospitalised) COPD exacerbation in past year </a:t>
            </a:r>
          </a:p>
          <a:p>
            <a:pPr marL="344588" lvl="1" indent="-128588" defTabSz="514350">
              <a:spcBef>
                <a:spcPts val="75"/>
              </a:spcBef>
              <a:buFont typeface="Arial" panose="020B0604020202020204" pitchFamily="34" charset="0"/>
              <a:buChar char="-"/>
              <a:defRPr/>
            </a:pPr>
            <a:r>
              <a:rPr lang="en-GB" sz="1150" b="1" i="1" kern="0" dirty="0">
                <a:solidFill>
                  <a:srgbClr val="F36600"/>
                </a:solidFill>
              </a:rPr>
              <a:t>OR</a:t>
            </a:r>
            <a:r>
              <a:rPr lang="en-GB" sz="1150" i="1" kern="0" dirty="0">
                <a:solidFill>
                  <a:srgbClr val="F36600"/>
                </a:solidFill>
              </a:rPr>
              <a:t> </a:t>
            </a:r>
            <a:r>
              <a:rPr lang="en-GB" sz="1150" kern="0" dirty="0">
                <a:solidFill>
                  <a:srgbClr val="544F40"/>
                </a:solidFill>
              </a:rPr>
              <a:t>Post-bronchodilator FEV</a:t>
            </a:r>
            <a:r>
              <a:rPr lang="en-GB" sz="1150" kern="0" baseline="-25000" dirty="0">
                <a:solidFill>
                  <a:srgbClr val="544F40"/>
                </a:solidFill>
              </a:rPr>
              <a:t>1</a:t>
            </a:r>
            <a:r>
              <a:rPr lang="en-GB" sz="1150" kern="0" dirty="0">
                <a:solidFill>
                  <a:srgbClr val="544F40"/>
                </a:solidFill>
              </a:rPr>
              <a:t> ≥50% to &lt;80% + </a:t>
            </a:r>
            <a:br>
              <a:rPr lang="en-GB" sz="1150" kern="0" dirty="0">
                <a:solidFill>
                  <a:srgbClr val="544F40"/>
                </a:solidFill>
              </a:rPr>
            </a:br>
            <a:r>
              <a:rPr lang="en-GB" sz="1150" kern="0" dirty="0">
                <a:solidFill>
                  <a:srgbClr val="544F40"/>
                </a:solidFill>
              </a:rPr>
              <a:t>≥2 moderate COPD exacerbations in past year or </a:t>
            </a:r>
            <a:br>
              <a:rPr lang="en-GB" sz="1150" kern="0" dirty="0">
                <a:solidFill>
                  <a:srgbClr val="544F40"/>
                </a:solidFill>
              </a:rPr>
            </a:br>
            <a:r>
              <a:rPr lang="en-GB" sz="1150" kern="0" dirty="0">
                <a:solidFill>
                  <a:srgbClr val="544F40"/>
                </a:solidFill>
              </a:rPr>
              <a:t>≥1 documented severe COPD exacerbation (hospitalised) in past year</a:t>
            </a:r>
          </a:p>
          <a:p>
            <a:pPr marL="214313" indent="-108000" defTabSz="514350">
              <a:spcBef>
                <a:spcPts val="75"/>
              </a:spcBef>
              <a:buFont typeface="Arial" panose="020B0604020202020204" pitchFamily="34" charset="0"/>
              <a:buChar char="•"/>
              <a:defRPr/>
            </a:pPr>
            <a:r>
              <a:rPr lang="en-GB" sz="1150" kern="0" dirty="0">
                <a:solidFill>
                  <a:srgbClr val="544F40"/>
                </a:solidFill>
              </a:rPr>
              <a:t>Acceptable liver function tests</a:t>
            </a:r>
            <a:endParaRPr lang="en-GB" sz="1150" kern="0" baseline="30000" dirty="0">
              <a:solidFill>
                <a:srgbClr val="544F40"/>
              </a:solidFill>
            </a:endParaRPr>
          </a:p>
        </p:txBody>
      </p:sp>
      <p:sp>
        <p:nvSpPr>
          <p:cNvPr id="61" name="Rectangle 60"/>
          <p:cNvSpPr/>
          <p:nvPr/>
        </p:nvSpPr>
        <p:spPr>
          <a:xfrm>
            <a:off x="6197463" y="2149826"/>
            <a:ext cx="4151311" cy="3616375"/>
          </a:xfrm>
          <a:prstGeom prst="rect">
            <a:avLst/>
          </a:prstGeom>
        </p:spPr>
        <p:txBody>
          <a:bodyPr wrap="square">
            <a:spAutoFit/>
          </a:bodyPr>
          <a:lstStyle/>
          <a:p>
            <a:pPr marL="214313" indent="-108000" defTabSz="514350">
              <a:spcBef>
                <a:spcPts val="75"/>
              </a:spcBef>
              <a:buFont typeface="Arial" panose="020B0604020202020204" pitchFamily="34" charset="0"/>
              <a:buChar char="•"/>
              <a:defRPr/>
            </a:pPr>
            <a:r>
              <a:rPr lang="en-GB" sz="1150" kern="0" dirty="0">
                <a:solidFill>
                  <a:srgbClr val="544F40"/>
                </a:solidFill>
              </a:rPr>
              <a:t>Current diagnosis of asthma (subjects with a prior history of asthma are eligible if they have a current diagnosis of COPD)</a:t>
            </a:r>
          </a:p>
          <a:p>
            <a:pPr marL="214313" indent="-108000" defTabSz="514350">
              <a:spcBef>
                <a:spcPts val="75"/>
              </a:spcBef>
              <a:buFont typeface="Arial" panose="020B0604020202020204" pitchFamily="34" charset="0"/>
              <a:buChar char="•"/>
              <a:defRPr/>
            </a:pPr>
            <a:r>
              <a:rPr lang="en-GB" sz="1150" kern="0" dirty="0">
                <a:solidFill>
                  <a:srgbClr val="544F40"/>
                </a:solidFill>
              </a:rPr>
              <a:t>Alpha1-antitrypsin deficiency</a:t>
            </a:r>
          </a:p>
          <a:p>
            <a:pPr marL="214313" indent="-108000" defTabSz="514350">
              <a:spcBef>
                <a:spcPts val="75"/>
              </a:spcBef>
              <a:buFont typeface="Arial" panose="020B0604020202020204" pitchFamily="34" charset="0"/>
              <a:buChar char="•"/>
              <a:defRPr/>
            </a:pPr>
            <a:r>
              <a:rPr lang="en-GB" sz="1150" kern="0" dirty="0">
                <a:solidFill>
                  <a:srgbClr val="544F40"/>
                </a:solidFill>
              </a:rPr>
              <a:t>Presence of respiratory disorder(s) other than COPD</a:t>
            </a:r>
          </a:p>
          <a:p>
            <a:pPr marL="214313" indent="-108000" defTabSz="514350">
              <a:spcBef>
                <a:spcPts val="75"/>
              </a:spcBef>
              <a:buFont typeface="Arial" panose="020B0604020202020204" pitchFamily="34" charset="0"/>
              <a:buChar char="•"/>
              <a:defRPr/>
            </a:pPr>
            <a:r>
              <a:rPr lang="en-GB" sz="1150" kern="0" dirty="0">
                <a:solidFill>
                  <a:srgbClr val="544F40"/>
                </a:solidFill>
              </a:rPr>
              <a:t>Risk factors for pneumonia (immune suppression or other factors)</a:t>
            </a:r>
            <a:endParaRPr lang="en-GB" sz="1150" kern="0" baseline="30000" dirty="0">
              <a:solidFill>
                <a:srgbClr val="544F40"/>
              </a:solidFill>
            </a:endParaRPr>
          </a:p>
          <a:p>
            <a:pPr marL="214313" indent="-108000" defTabSz="514350">
              <a:spcBef>
                <a:spcPts val="75"/>
              </a:spcBef>
              <a:buFont typeface="Arial" panose="020B0604020202020204" pitchFamily="34" charset="0"/>
              <a:buChar char="•"/>
              <a:defRPr/>
            </a:pPr>
            <a:r>
              <a:rPr lang="en-GB" sz="1150" kern="0" dirty="0">
                <a:solidFill>
                  <a:srgbClr val="544F40"/>
                </a:solidFill>
              </a:rPr>
              <a:t>Pneumonia and/or moderate/severe COPD exacerbation not resolved at least 14 days prior to screening</a:t>
            </a:r>
          </a:p>
          <a:p>
            <a:pPr marL="214313" indent="-108000" defTabSz="514350">
              <a:spcBef>
                <a:spcPts val="75"/>
              </a:spcBef>
              <a:buFont typeface="Arial" panose="020B0604020202020204" pitchFamily="34" charset="0"/>
              <a:buChar char="•"/>
              <a:defRPr/>
            </a:pPr>
            <a:r>
              <a:rPr lang="en-GB" sz="1150" kern="0" dirty="0">
                <a:solidFill>
                  <a:srgbClr val="544F40"/>
                </a:solidFill>
              </a:rPr>
              <a:t>Respiratory tract infections not resolved at least  7 days prior to screening</a:t>
            </a:r>
          </a:p>
          <a:p>
            <a:pPr marL="214313" indent="-108000" defTabSz="514350">
              <a:spcBef>
                <a:spcPts val="75"/>
              </a:spcBef>
              <a:buFont typeface="Arial" panose="020B0604020202020204" pitchFamily="34" charset="0"/>
              <a:buChar char="•"/>
              <a:defRPr/>
            </a:pPr>
            <a:r>
              <a:rPr lang="en-GB" sz="1150" kern="0" dirty="0">
                <a:solidFill>
                  <a:srgbClr val="544F40"/>
                </a:solidFill>
              </a:rPr>
              <a:t>Lung resection</a:t>
            </a:r>
          </a:p>
          <a:p>
            <a:pPr marL="214313" indent="-108000" defTabSz="514350">
              <a:spcBef>
                <a:spcPts val="75"/>
              </a:spcBef>
              <a:buFont typeface="Arial" panose="020B0604020202020204" pitchFamily="34" charset="0"/>
              <a:buChar char="•"/>
              <a:defRPr/>
            </a:pPr>
            <a:r>
              <a:rPr lang="en-GB" sz="1150" kern="0" dirty="0">
                <a:solidFill>
                  <a:srgbClr val="544F40"/>
                </a:solidFill>
              </a:rPr>
              <a:t>Use of long-term oxygen therapy (resting oxygen therapy &gt;3L/min) </a:t>
            </a:r>
          </a:p>
          <a:p>
            <a:pPr marL="214313" indent="-108000" defTabSz="514350">
              <a:spcBef>
                <a:spcPts val="75"/>
              </a:spcBef>
              <a:buFont typeface="Arial" panose="020B0604020202020204" pitchFamily="34" charset="0"/>
              <a:buChar char="•"/>
              <a:defRPr/>
            </a:pPr>
            <a:r>
              <a:rPr lang="en-GB" sz="1150" kern="0" dirty="0">
                <a:solidFill>
                  <a:srgbClr val="544F40"/>
                </a:solidFill>
              </a:rPr>
              <a:t>Unstable or life-threatening cardiac disease</a:t>
            </a:r>
          </a:p>
          <a:p>
            <a:pPr marL="214313" indent="-108000" defTabSz="514350">
              <a:spcBef>
                <a:spcPts val="75"/>
              </a:spcBef>
              <a:buFont typeface="Arial" panose="020B0604020202020204" pitchFamily="34" charset="0"/>
              <a:buChar char="•"/>
              <a:defRPr/>
            </a:pPr>
            <a:r>
              <a:rPr lang="en-GB" sz="1150" kern="0" dirty="0">
                <a:solidFill>
                  <a:srgbClr val="544F40"/>
                </a:solidFill>
              </a:rPr>
              <a:t>Unstable liver disease</a:t>
            </a:r>
          </a:p>
          <a:p>
            <a:pPr marL="214313" indent="-108000" defTabSz="514350">
              <a:spcBef>
                <a:spcPts val="75"/>
              </a:spcBef>
              <a:buFont typeface="Arial" panose="020B0604020202020204" pitchFamily="34" charset="0"/>
              <a:buChar char="•"/>
              <a:defRPr/>
            </a:pPr>
            <a:r>
              <a:rPr lang="en-GB" sz="1150" kern="0" dirty="0">
                <a:solidFill>
                  <a:srgbClr val="544F40"/>
                </a:solidFill>
              </a:rPr>
              <a:t>Carcinoma not in complete remission for ≥5 years</a:t>
            </a:r>
            <a:endParaRPr lang="en-GB" sz="1150" kern="0" baseline="30000" dirty="0">
              <a:solidFill>
                <a:srgbClr val="544F40"/>
              </a:solidFill>
            </a:endParaRPr>
          </a:p>
          <a:p>
            <a:pPr marL="214313" indent="-108000" defTabSz="514350">
              <a:spcBef>
                <a:spcPts val="75"/>
              </a:spcBef>
              <a:buFont typeface="Arial" panose="020B0604020202020204" pitchFamily="34" charset="0"/>
              <a:buChar char="•"/>
              <a:defRPr/>
            </a:pPr>
            <a:r>
              <a:rPr lang="en-GB" sz="1150" kern="0" dirty="0">
                <a:solidFill>
                  <a:srgbClr val="544F40"/>
                </a:solidFill>
              </a:rPr>
              <a:t>Pregnancy</a:t>
            </a:r>
            <a:r>
              <a:rPr lang="en-US" sz="1200" baseline="30000" dirty="0"/>
              <a:t>†</a:t>
            </a:r>
            <a:endParaRPr lang="en-GB" sz="2400" kern="0" baseline="30000" dirty="0">
              <a:solidFill>
                <a:srgbClr val="544F40"/>
              </a:solidFill>
            </a:endParaRPr>
          </a:p>
          <a:p>
            <a:pPr marL="214313" indent="-108000" defTabSz="514350">
              <a:spcBef>
                <a:spcPts val="75"/>
              </a:spcBef>
              <a:buFont typeface="Arial" panose="020B0604020202020204" pitchFamily="34" charset="0"/>
              <a:buChar char="•"/>
              <a:defRPr/>
            </a:pPr>
            <a:endParaRPr lang="en-GB" sz="1150" kern="0" dirty="0">
              <a:solidFill>
                <a:srgbClr val="544F40"/>
              </a:solidFill>
            </a:endParaRPr>
          </a:p>
        </p:txBody>
      </p:sp>
      <p:sp>
        <p:nvSpPr>
          <p:cNvPr id="49" name="Rectangle: Top Corners Rounded 48"/>
          <p:cNvSpPr/>
          <p:nvPr/>
        </p:nvSpPr>
        <p:spPr bwMode="auto">
          <a:xfrm flipH="1">
            <a:off x="1792390" y="1332518"/>
            <a:ext cx="4176000" cy="716827"/>
          </a:xfrm>
          <a:prstGeom prst="round2SameRect">
            <a:avLst/>
          </a:prstGeom>
          <a:solidFill>
            <a:srgbClr val="F36600"/>
          </a:solidFill>
          <a:ln w="6350" cap="flat" cmpd="sng" algn="ctr">
            <a:noFill/>
            <a:prstDash val="solid"/>
            <a:miter lim="800000"/>
            <a:headEnd/>
            <a:tailEnd/>
          </a:ln>
          <a:effectLst/>
        </p:spPr>
        <p:txBody>
          <a:bodyPr rot="0" spcFirstLastPara="0" vertOverflow="overflow" horzOverflow="overflow" vert="horz" wrap="square" lIns="54000" tIns="54000" rIns="54000" bIns="54000" numCol="1" spcCol="0" rtlCol="0" fromWordArt="0" anchor="t" anchorCtr="0" forceAA="0" compatLnSpc="1">
            <a:prstTxWarp prst="textNoShape">
              <a:avLst/>
            </a:prstTxWarp>
            <a:noAutofit/>
          </a:bodyPr>
          <a:lstStyle/>
          <a:p>
            <a:pPr marL="135731" indent="-135731" algn="ctr" defTabSz="514350" eaLnBrk="0" hangingPunct="0">
              <a:buClr>
                <a:srgbClr val="FFFFFF"/>
              </a:buClr>
              <a:buFont typeface="Arial" pitchFamily="34" charset="0"/>
              <a:buChar char="–"/>
              <a:defRPr/>
            </a:pPr>
            <a:endParaRPr lang="en-GB" sz="900" b="1" kern="0" dirty="0" err="1">
              <a:solidFill>
                <a:srgbClr val="FFFFFF"/>
              </a:solidFill>
              <a:latin typeface="Arial" panose="020B0604020202020204"/>
            </a:endParaRPr>
          </a:p>
        </p:txBody>
      </p:sp>
      <p:sp>
        <p:nvSpPr>
          <p:cNvPr id="54" name="Rectangle: Rounded Corners 53"/>
          <p:cNvSpPr/>
          <p:nvPr/>
        </p:nvSpPr>
        <p:spPr bwMode="auto">
          <a:xfrm>
            <a:off x="1805091" y="1339875"/>
            <a:ext cx="4144952" cy="4315056"/>
          </a:xfrm>
          <a:prstGeom prst="roundRect">
            <a:avLst>
              <a:gd name="adj" fmla="val 4999"/>
            </a:avLst>
          </a:prstGeom>
          <a:noFill/>
          <a:ln w="28575" cap="flat" cmpd="sng" algn="ctr">
            <a:solidFill>
              <a:srgbClr val="F36600"/>
            </a:solidFill>
            <a:prstDash val="solid"/>
            <a:miter lim="800000"/>
            <a:headEnd/>
            <a:tailEnd/>
          </a:ln>
          <a:effectLst/>
        </p:spPr>
        <p:txBody>
          <a:bodyPr rot="0" spcFirstLastPara="0" vertOverflow="overflow" horzOverflow="overflow" vert="horz" wrap="square" lIns="54000" tIns="54000" rIns="54000" bIns="54000" numCol="1" spcCol="0" rtlCol="0" fromWordArt="0" anchor="t" anchorCtr="0" forceAA="0" compatLnSpc="1">
            <a:prstTxWarp prst="textNoShape">
              <a:avLst/>
            </a:prstTxWarp>
            <a:noAutofit/>
          </a:bodyPr>
          <a:lstStyle/>
          <a:p>
            <a:pPr marL="135731" indent="-135731" algn="ctr" defTabSz="514350" eaLnBrk="0" hangingPunct="0">
              <a:buClr>
                <a:srgbClr val="FFFFFF"/>
              </a:buClr>
              <a:buFont typeface="Arial" pitchFamily="34" charset="0"/>
              <a:buChar char="–"/>
              <a:defRPr/>
            </a:pPr>
            <a:endParaRPr lang="en-GB" sz="900" b="1" kern="0" dirty="0">
              <a:solidFill>
                <a:srgbClr val="FFFFFF"/>
              </a:solidFill>
              <a:latin typeface="Arial" panose="020B0604020202020204"/>
            </a:endParaRPr>
          </a:p>
        </p:txBody>
      </p:sp>
      <p:sp>
        <p:nvSpPr>
          <p:cNvPr id="55" name="Rectangle: Top Corners Rounded 54"/>
          <p:cNvSpPr/>
          <p:nvPr/>
        </p:nvSpPr>
        <p:spPr bwMode="auto">
          <a:xfrm flipH="1">
            <a:off x="6190599" y="1327342"/>
            <a:ext cx="4144448" cy="716827"/>
          </a:xfrm>
          <a:prstGeom prst="round2SameRect">
            <a:avLst>
              <a:gd name="adj1" fmla="val 19893"/>
              <a:gd name="adj2" fmla="val 0"/>
            </a:avLst>
          </a:prstGeom>
          <a:solidFill>
            <a:srgbClr val="544F40"/>
          </a:solidFill>
          <a:ln w="6350" cap="flat" cmpd="sng" algn="ctr">
            <a:solidFill>
              <a:srgbClr val="544F40"/>
            </a:solidFill>
            <a:prstDash val="solid"/>
            <a:miter lim="800000"/>
            <a:headEnd/>
            <a:tailEnd/>
          </a:ln>
          <a:effectLst/>
        </p:spPr>
        <p:txBody>
          <a:bodyPr rot="0" spcFirstLastPara="0" vertOverflow="overflow" horzOverflow="overflow" vert="horz" wrap="square" lIns="54000" tIns="54000" rIns="54000" bIns="54000" numCol="1" spcCol="0" rtlCol="0" fromWordArt="0" anchor="t" anchorCtr="0" forceAA="0" compatLnSpc="1">
            <a:prstTxWarp prst="textNoShape">
              <a:avLst/>
            </a:prstTxWarp>
            <a:noAutofit/>
          </a:bodyPr>
          <a:lstStyle/>
          <a:p>
            <a:pPr marL="135731" indent="-135731" algn="ctr" defTabSz="514350" eaLnBrk="0" hangingPunct="0">
              <a:buClr>
                <a:srgbClr val="FFFFFF"/>
              </a:buClr>
              <a:buFont typeface="Arial" pitchFamily="34" charset="0"/>
              <a:buChar char="–"/>
              <a:defRPr/>
            </a:pPr>
            <a:endParaRPr lang="en-GB" sz="900" b="1" kern="0" dirty="0" err="1">
              <a:solidFill>
                <a:srgbClr val="FFFFFF"/>
              </a:solidFill>
              <a:latin typeface="Arial" panose="020B0604020202020204"/>
            </a:endParaRPr>
          </a:p>
        </p:txBody>
      </p:sp>
      <p:sp>
        <p:nvSpPr>
          <p:cNvPr id="57" name="Rectangle: Rounded Corners 56"/>
          <p:cNvSpPr/>
          <p:nvPr/>
        </p:nvSpPr>
        <p:spPr bwMode="auto">
          <a:xfrm>
            <a:off x="6197210" y="1386196"/>
            <a:ext cx="4144952" cy="4268734"/>
          </a:xfrm>
          <a:prstGeom prst="roundRect">
            <a:avLst>
              <a:gd name="adj" fmla="val 4734"/>
            </a:avLst>
          </a:prstGeom>
          <a:noFill/>
          <a:ln w="28575" cap="flat" cmpd="sng" algn="ctr">
            <a:solidFill>
              <a:srgbClr val="544F40"/>
            </a:solidFill>
            <a:prstDash val="solid"/>
            <a:miter lim="800000"/>
            <a:headEnd/>
            <a:tailEnd/>
          </a:ln>
          <a:effectLst/>
        </p:spPr>
        <p:txBody>
          <a:bodyPr rot="0" spcFirstLastPara="0" vertOverflow="overflow" horzOverflow="overflow" vert="horz" wrap="square" lIns="54000" tIns="54000" rIns="54000" bIns="54000" numCol="1" spcCol="0" rtlCol="0" fromWordArt="0" anchor="t" anchorCtr="0" forceAA="0" compatLnSpc="1">
            <a:prstTxWarp prst="textNoShape">
              <a:avLst/>
            </a:prstTxWarp>
            <a:noAutofit/>
          </a:bodyPr>
          <a:lstStyle/>
          <a:p>
            <a:pPr marL="135731" indent="-135731" algn="ctr" defTabSz="514350" eaLnBrk="0" hangingPunct="0">
              <a:buClr>
                <a:srgbClr val="FFFFFF"/>
              </a:buClr>
              <a:buFont typeface="Arial" pitchFamily="34" charset="0"/>
              <a:buChar char="–"/>
              <a:defRPr/>
            </a:pPr>
            <a:endParaRPr lang="en-GB" sz="900" b="1" kern="0" dirty="0">
              <a:solidFill>
                <a:srgbClr val="FFFFFF"/>
              </a:solidFill>
              <a:latin typeface="Arial" panose="020B0604020202020204"/>
            </a:endParaRPr>
          </a:p>
        </p:txBody>
      </p:sp>
      <p:sp>
        <p:nvSpPr>
          <p:cNvPr id="12" name="Title 11"/>
          <p:cNvSpPr>
            <a:spLocks noGrp="1"/>
          </p:cNvSpPr>
          <p:nvPr>
            <p:ph type="title"/>
          </p:nvPr>
        </p:nvSpPr>
        <p:spPr/>
        <p:txBody>
          <a:bodyPr>
            <a:noAutofit/>
          </a:bodyPr>
          <a:lstStyle/>
          <a:p>
            <a:r>
              <a:rPr lang="en-GB" sz="2400" dirty="0"/>
              <a:t>FULFIL: Eligibility requirements</a:t>
            </a:r>
          </a:p>
        </p:txBody>
      </p:sp>
      <p:sp>
        <p:nvSpPr>
          <p:cNvPr id="14" name="Text Placeholder 13"/>
          <p:cNvSpPr>
            <a:spLocks noGrp="1"/>
          </p:cNvSpPr>
          <p:nvPr>
            <p:ph type="body" sz="quarter" idx="14"/>
          </p:nvPr>
        </p:nvSpPr>
        <p:spPr/>
        <p:txBody>
          <a:bodyPr>
            <a:normAutofit fontScale="25000" lnSpcReduction="20000"/>
          </a:bodyPr>
          <a:lstStyle/>
          <a:p>
            <a:r>
              <a:rPr lang="fr-FR" sz="750" dirty="0"/>
              <a:t> </a:t>
            </a:r>
          </a:p>
        </p:txBody>
      </p:sp>
      <p:sp>
        <p:nvSpPr>
          <p:cNvPr id="2" name="Text Placeholder 1"/>
          <p:cNvSpPr>
            <a:spLocks noGrp="1"/>
          </p:cNvSpPr>
          <p:nvPr>
            <p:ph type="body" sz="quarter" idx="18"/>
          </p:nvPr>
        </p:nvSpPr>
        <p:spPr>
          <a:xfrm>
            <a:off x="710301" y="5580807"/>
            <a:ext cx="10973818" cy="671292"/>
          </a:xfrm>
        </p:spPr>
        <p:txBody>
          <a:bodyPr/>
          <a:lstStyle/>
          <a:p>
            <a:r>
              <a:rPr lang="en-US" dirty="0"/>
              <a:t>* For a full list of eligibility criteria, please consult the FULFIL protocol ; † Females must be either of non-childbearing potential or have a negative pregnancy test at screening and agreed to one of the contraceptive methods outlined in the FULFIL protocol.</a:t>
            </a:r>
          </a:p>
        </p:txBody>
      </p:sp>
      <p:sp>
        <p:nvSpPr>
          <p:cNvPr id="3" name="Text Placeholder 2"/>
          <p:cNvSpPr>
            <a:spLocks noGrp="1"/>
          </p:cNvSpPr>
          <p:nvPr>
            <p:ph type="body" sz="quarter" idx="19"/>
          </p:nvPr>
        </p:nvSpPr>
        <p:spPr>
          <a:xfrm>
            <a:off x="1083309" y="5988399"/>
            <a:ext cx="10291827" cy="625126"/>
          </a:xfrm>
        </p:spPr>
        <p:txBody>
          <a:bodyPr/>
          <a:lstStyle/>
          <a:p>
            <a:r>
              <a:rPr lang="fr-FR" sz="1000" dirty="0">
                <a:latin typeface="Calibri" panose="020F0502020204030204" pitchFamily="34" charset="0"/>
                <a:cs typeface="Calibri" panose="020F0502020204030204" pitchFamily="34" charset="0"/>
              </a:rPr>
              <a:t>NCT02345161 - A </a:t>
            </a:r>
            <a:r>
              <a:rPr lang="fr-FR" sz="1000" dirty="0" err="1">
                <a:latin typeface="Calibri" panose="020F0502020204030204" pitchFamily="34" charset="0"/>
                <a:cs typeface="Calibri" panose="020F0502020204030204" pitchFamily="34" charset="0"/>
              </a:rPr>
              <a:t>Comparison</a:t>
            </a:r>
            <a:r>
              <a:rPr lang="fr-FR" sz="1000" dirty="0">
                <a:latin typeface="Calibri" panose="020F0502020204030204" pitchFamily="34" charset="0"/>
                <a:cs typeface="Calibri" panose="020F0502020204030204" pitchFamily="34" charset="0"/>
              </a:rPr>
              <a:t> </a:t>
            </a:r>
            <a:r>
              <a:rPr lang="fr-FR" sz="1000" dirty="0" err="1">
                <a:latin typeface="Calibri" panose="020F0502020204030204" pitchFamily="34" charset="0"/>
                <a:cs typeface="Calibri" panose="020F0502020204030204" pitchFamily="34" charset="0"/>
              </a:rPr>
              <a:t>Study</a:t>
            </a:r>
            <a:r>
              <a:rPr lang="fr-FR" sz="1000" dirty="0">
                <a:latin typeface="Calibri" panose="020F0502020204030204" pitchFamily="34" charset="0"/>
                <a:cs typeface="Calibri" panose="020F0502020204030204" pitchFamily="34" charset="0"/>
              </a:rPr>
              <a:t> </a:t>
            </a:r>
            <a:r>
              <a:rPr lang="fr-FR" sz="1000" dirty="0" err="1">
                <a:latin typeface="Calibri" panose="020F0502020204030204" pitchFamily="34" charset="0"/>
                <a:cs typeface="Calibri" panose="020F0502020204030204" pitchFamily="34" charset="0"/>
              </a:rPr>
              <a:t>Between</a:t>
            </a:r>
            <a:r>
              <a:rPr lang="fr-FR" sz="1000" dirty="0">
                <a:latin typeface="Calibri" panose="020F0502020204030204" pitchFamily="34" charset="0"/>
                <a:cs typeface="Calibri" panose="020F0502020204030204" pitchFamily="34" charset="0"/>
              </a:rPr>
              <a:t> the </a:t>
            </a:r>
            <a:r>
              <a:rPr lang="fr-FR" sz="1000" dirty="0" err="1">
                <a:latin typeface="Calibri" panose="020F0502020204030204" pitchFamily="34" charset="0"/>
                <a:cs typeface="Calibri" panose="020F0502020204030204" pitchFamily="34" charset="0"/>
              </a:rPr>
              <a:t>Fixed</a:t>
            </a:r>
            <a:r>
              <a:rPr lang="fr-FR" sz="1000" dirty="0">
                <a:latin typeface="Calibri" panose="020F0502020204030204" pitchFamily="34" charset="0"/>
                <a:cs typeface="Calibri" panose="020F0502020204030204" pitchFamily="34" charset="0"/>
              </a:rPr>
              <a:t> Dose Triple Combination of Fluticasone </a:t>
            </a:r>
            <a:r>
              <a:rPr lang="fr-FR" sz="1000" dirty="0" err="1">
                <a:latin typeface="Calibri" panose="020F0502020204030204" pitchFamily="34" charset="0"/>
                <a:cs typeface="Calibri" panose="020F0502020204030204" pitchFamily="34" charset="0"/>
              </a:rPr>
              <a:t>Furoate</a:t>
            </a:r>
            <a:r>
              <a:rPr lang="fr-FR" sz="1000" dirty="0">
                <a:latin typeface="Calibri" panose="020F0502020204030204" pitchFamily="34" charset="0"/>
                <a:cs typeface="Calibri" panose="020F0502020204030204" pitchFamily="34" charset="0"/>
              </a:rPr>
              <a:t>/ </a:t>
            </a:r>
            <a:r>
              <a:rPr lang="fr-FR" sz="1000" dirty="0" err="1">
                <a:latin typeface="Calibri" panose="020F0502020204030204" pitchFamily="34" charset="0"/>
                <a:cs typeface="Calibri" panose="020F0502020204030204" pitchFamily="34" charset="0"/>
              </a:rPr>
              <a:t>Umeclidinium</a:t>
            </a:r>
            <a:r>
              <a:rPr lang="fr-FR" sz="1000" dirty="0">
                <a:latin typeface="Calibri" panose="020F0502020204030204" pitchFamily="34" charset="0"/>
                <a:cs typeface="Calibri" panose="020F0502020204030204" pitchFamily="34" charset="0"/>
              </a:rPr>
              <a:t>/ </a:t>
            </a:r>
            <a:r>
              <a:rPr lang="fr-FR" sz="1000" dirty="0" err="1">
                <a:latin typeface="Calibri" panose="020F0502020204030204" pitchFamily="34" charset="0"/>
                <a:cs typeface="Calibri" panose="020F0502020204030204" pitchFamily="34" charset="0"/>
              </a:rPr>
              <a:t>Vilanterol</a:t>
            </a:r>
            <a:r>
              <a:rPr lang="fr-FR" sz="1000" dirty="0">
                <a:latin typeface="Calibri" panose="020F0502020204030204" pitchFamily="34" charset="0"/>
                <a:cs typeface="Calibri" panose="020F0502020204030204" pitchFamily="34" charset="0"/>
              </a:rPr>
              <a:t> </a:t>
            </a:r>
            <a:r>
              <a:rPr lang="fr-FR" sz="1000" dirty="0" err="1">
                <a:latin typeface="Calibri" panose="020F0502020204030204" pitchFamily="34" charset="0"/>
                <a:cs typeface="Calibri" panose="020F0502020204030204" pitchFamily="34" charset="0"/>
              </a:rPr>
              <a:t>Trifenatate</a:t>
            </a:r>
            <a:r>
              <a:rPr lang="fr-FR" sz="1000" dirty="0">
                <a:latin typeface="Calibri" panose="020F0502020204030204" pitchFamily="34" charset="0"/>
                <a:cs typeface="Calibri" panose="020F0502020204030204" pitchFamily="34" charset="0"/>
              </a:rPr>
              <a:t> (FF/UMEC/VI) </a:t>
            </a:r>
            <a:r>
              <a:rPr lang="fr-FR" sz="1000" dirty="0" err="1">
                <a:latin typeface="Calibri" panose="020F0502020204030204" pitchFamily="34" charset="0"/>
                <a:cs typeface="Calibri" panose="020F0502020204030204" pitchFamily="34" charset="0"/>
              </a:rPr>
              <a:t>With</a:t>
            </a:r>
            <a:r>
              <a:rPr lang="fr-FR" sz="1000" dirty="0">
                <a:latin typeface="Calibri" panose="020F0502020204030204" pitchFamily="34" charset="0"/>
                <a:cs typeface="Calibri" panose="020F0502020204030204" pitchFamily="34" charset="0"/>
              </a:rPr>
              <a:t> </a:t>
            </a:r>
            <a:r>
              <a:rPr lang="fr-FR" sz="1000" dirty="0" err="1">
                <a:latin typeface="Calibri" panose="020F0502020204030204" pitchFamily="34" charset="0"/>
                <a:cs typeface="Calibri" panose="020F0502020204030204" pitchFamily="34" charset="0"/>
              </a:rPr>
              <a:t>Budesonide</a:t>
            </a:r>
            <a:r>
              <a:rPr lang="fr-FR" sz="1000" dirty="0">
                <a:latin typeface="Calibri" panose="020F0502020204030204" pitchFamily="34" charset="0"/>
                <a:cs typeface="Calibri" panose="020F0502020204030204" pitchFamily="34" charset="0"/>
              </a:rPr>
              <a:t>/</a:t>
            </a:r>
            <a:r>
              <a:rPr lang="fr-FR" sz="1000" dirty="0" err="1">
                <a:latin typeface="Calibri" panose="020F0502020204030204" pitchFamily="34" charset="0"/>
                <a:cs typeface="Calibri" panose="020F0502020204030204" pitchFamily="34" charset="0"/>
              </a:rPr>
              <a:t>Formoterol</a:t>
            </a:r>
            <a:r>
              <a:rPr lang="fr-FR" sz="1000" dirty="0">
                <a:latin typeface="Calibri" panose="020F0502020204030204" pitchFamily="34" charset="0"/>
                <a:cs typeface="Calibri" panose="020F0502020204030204" pitchFamily="34" charset="0"/>
              </a:rPr>
              <a:t> in </a:t>
            </a:r>
            <a:r>
              <a:rPr lang="fr-FR" sz="1000" dirty="0" err="1">
                <a:latin typeface="Calibri" panose="020F0502020204030204" pitchFamily="34" charset="0"/>
                <a:cs typeface="Calibri" panose="020F0502020204030204" pitchFamily="34" charset="0"/>
              </a:rPr>
              <a:t>Subjects</a:t>
            </a:r>
            <a:r>
              <a:rPr lang="fr-FR" sz="1000" dirty="0">
                <a:latin typeface="Calibri" panose="020F0502020204030204" pitchFamily="34" charset="0"/>
                <a:cs typeface="Calibri" panose="020F0502020204030204" pitchFamily="34" charset="0"/>
              </a:rPr>
              <a:t> </a:t>
            </a:r>
            <a:r>
              <a:rPr lang="fr-FR" sz="1000" dirty="0" err="1">
                <a:latin typeface="Calibri" panose="020F0502020204030204" pitchFamily="34" charset="0"/>
                <a:cs typeface="Calibri" panose="020F0502020204030204" pitchFamily="34" charset="0"/>
              </a:rPr>
              <a:t>With</a:t>
            </a:r>
            <a:r>
              <a:rPr lang="fr-FR" sz="1000" dirty="0">
                <a:latin typeface="Calibri" panose="020F0502020204030204" pitchFamily="34" charset="0"/>
                <a:cs typeface="Calibri" panose="020F0502020204030204" pitchFamily="34" charset="0"/>
              </a:rPr>
              <a:t> </a:t>
            </a:r>
            <a:r>
              <a:rPr lang="fr-FR" sz="1000" dirty="0" err="1">
                <a:latin typeface="Calibri" panose="020F0502020204030204" pitchFamily="34" charset="0"/>
                <a:cs typeface="Calibri" panose="020F0502020204030204" pitchFamily="34" charset="0"/>
              </a:rPr>
              <a:t>Chronic</a:t>
            </a:r>
            <a:r>
              <a:rPr lang="fr-FR" sz="1000" dirty="0">
                <a:latin typeface="Calibri" panose="020F0502020204030204" pitchFamily="34" charset="0"/>
                <a:cs typeface="Calibri" panose="020F0502020204030204" pitchFamily="34" charset="0"/>
              </a:rPr>
              <a:t> Obstructive </a:t>
            </a:r>
            <a:r>
              <a:rPr lang="fr-FR" sz="1000" dirty="0" err="1">
                <a:latin typeface="Calibri" panose="020F0502020204030204" pitchFamily="34" charset="0"/>
                <a:cs typeface="Calibri" panose="020F0502020204030204" pitchFamily="34" charset="0"/>
              </a:rPr>
              <a:t>Pulmonary</a:t>
            </a:r>
            <a:r>
              <a:rPr lang="fr-FR" sz="1000" dirty="0">
                <a:latin typeface="Calibri" panose="020F0502020204030204" pitchFamily="34" charset="0"/>
                <a:cs typeface="Calibri" panose="020F0502020204030204" pitchFamily="34" charset="0"/>
              </a:rPr>
              <a:t> </a:t>
            </a:r>
            <a:r>
              <a:rPr lang="fr-FR" sz="1000" dirty="0" err="1">
                <a:latin typeface="Calibri" panose="020F0502020204030204" pitchFamily="34" charset="0"/>
                <a:cs typeface="Calibri" panose="020F0502020204030204" pitchFamily="34" charset="0"/>
              </a:rPr>
              <a:t>Disease</a:t>
            </a:r>
            <a:r>
              <a:rPr lang="fr-FR" sz="1000" dirty="0">
                <a:latin typeface="Calibri" panose="020F0502020204030204" pitchFamily="34" charset="0"/>
                <a:cs typeface="Calibri" panose="020F0502020204030204" pitchFamily="34" charset="0"/>
              </a:rPr>
              <a:t> (COPD) - Full </a:t>
            </a:r>
            <a:r>
              <a:rPr lang="fr-FR" sz="1000" dirty="0" err="1">
                <a:latin typeface="Calibri" panose="020F0502020204030204" pitchFamily="34" charset="0"/>
                <a:cs typeface="Calibri" panose="020F0502020204030204" pitchFamily="34" charset="0"/>
              </a:rPr>
              <a:t>Text</a:t>
            </a:r>
            <a:r>
              <a:rPr lang="fr-FR" sz="1000" dirty="0">
                <a:latin typeface="Calibri" panose="020F0502020204030204" pitchFamily="34" charset="0"/>
                <a:cs typeface="Calibri" panose="020F0502020204030204" pitchFamily="34" charset="0"/>
              </a:rPr>
              <a:t> </a:t>
            </a:r>
            <a:r>
              <a:rPr lang="fr-FR" sz="1000" dirty="0" err="1">
                <a:latin typeface="Calibri" panose="020F0502020204030204" pitchFamily="34" charset="0"/>
                <a:cs typeface="Calibri" panose="020F0502020204030204" pitchFamily="34" charset="0"/>
              </a:rPr>
              <a:t>View</a:t>
            </a:r>
            <a:r>
              <a:rPr lang="fr-FR" sz="1000" dirty="0">
                <a:latin typeface="Calibri" panose="020F0502020204030204" pitchFamily="34" charset="0"/>
                <a:cs typeface="Calibri" panose="020F0502020204030204" pitchFamily="34" charset="0"/>
              </a:rPr>
              <a:t> - ClinicalTrials.gov</a:t>
            </a:r>
            <a:endParaRPr lang="en-GB" sz="1000" dirty="0">
              <a:latin typeface="Calibri" panose="020F0502020204030204" pitchFamily="34" charset="0"/>
              <a:cs typeface="Calibri" panose="020F0502020204030204" pitchFamily="34" charset="0"/>
            </a:endParaRPr>
          </a:p>
        </p:txBody>
      </p:sp>
      <p:grpSp>
        <p:nvGrpSpPr>
          <p:cNvPr id="5" name="Group 4"/>
          <p:cNvGrpSpPr/>
          <p:nvPr/>
        </p:nvGrpSpPr>
        <p:grpSpPr>
          <a:xfrm>
            <a:off x="2635833" y="1386196"/>
            <a:ext cx="2483468" cy="663149"/>
            <a:chOff x="355600" y="1094726"/>
            <a:chExt cx="4097515" cy="1157315"/>
          </a:xfrm>
        </p:grpSpPr>
        <p:grpSp>
          <p:nvGrpSpPr>
            <p:cNvPr id="50" name="Group 49"/>
            <p:cNvGrpSpPr/>
            <p:nvPr/>
          </p:nvGrpSpPr>
          <p:grpSpPr>
            <a:xfrm>
              <a:off x="1560070" y="1094726"/>
              <a:ext cx="1664950" cy="801407"/>
              <a:chOff x="290310" y="1156971"/>
              <a:chExt cx="1082304" cy="522288"/>
            </a:xfrm>
            <a:solidFill>
              <a:srgbClr val="FFFFFF"/>
            </a:solidFill>
          </p:grpSpPr>
          <p:sp>
            <p:nvSpPr>
              <p:cNvPr id="51" name="Freeform 7630"/>
              <p:cNvSpPr>
                <a:spLocks noEditPoints="1"/>
              </p:cNvSpPr>
              <p:nvPr/>
            </p:nvSpPr>
            <p:spPr bwMode="auto">
              <a:xfrm>
                <a:off x="290310" y="1156971"/>
                <a:ext cx="523875" cy="522287"/>
              </a:xfrm>
              <a:custGeom>
                <a:avLst/>
                <a:gdLst>
                  <a:gd name="T0" fmla="*/ 195 w 196"/>
                  <a:gd name="T1" fmla="*/ 171 h 195"/>
                  <a:gd name="T2" fmla="*/ 184 w 196"/>
                  <a:gd name="T3" fmla="*/ 154 h 195"/>
                  <a:gd name="T4" fmla="*/ 130 w 196"/>
                  <a:gd name="T5" fmla="*/ 127 h 195"/>
                  <a:gd name="T6" fmla="*/ 152 w 196"/>
                  <a:gd name="T7" fmla="*/ 84 h 195"/>
                  <a:gd name="T8" fmla="*/ 152 w 196"/>
                  <a:gd name="T9" fmla="*/ 53 h 195"/>
                  <a:gd name="T10" fmla="*/ 98 w 196"/>
                  <a:gd name="T11" fmla="*/ 0 h 195"/>
                  <a:gd name="T12" fmla="*/ 44 w 196"/>
                  <a:gd name="T13" fmla="*/ 53 h 195"/>
                  <a:gd name="T14" fmla="*/ 44 w 196"/>
                  <a:gd name="T15" fmla="*/ 84 h 195"/>
                  <a:gd name="T16" fmla="*/ 66 w 196"/>
                  <a:gd name="T17" fmla="*/ 127 h 195"/>
                  <a:gd name="T18" fmla="*/ 12 w 196"/>
                  <a:gd name="T19" fmla="*/ 154 h 195"/>
                  <a:gd name="T20" fmla="*/ 1 w 196"/>
                  <a:gd name="T21" fmla="*/ 171 h 195"/>
                  <a:gd name="T22" fmla="*/ 0 w 196"/>
                  <a:gd name="T23" fmla="*/ 183 h 195"/>
                  <a:gd name="T24" fmla="*/ 11 w 196"/>
                  <a:gd name="T25" fmla="*/ 195 h 195"/>
                  <a:gd name="T26" fmla="*/ 185 w 196"/>
                  <a:gd name="T27" fmla="*/ 195 h 195"/>
                  <a:gd name="T28" fmla="*/ 196 w 196"/>
                  <a:gd name="T29" fmla="*/ 183 h 195"/>
                  <a:gd name="T30" fmla="*/ 195 w 196"/>
                  <a:gd name="T31" fmla="*/ 171 h 195"/>
                  <a:gd name="T32" fmla="*/ 61 w 196"/>
                  <a:gd name="T33" fmla="*/ 59 h 195"/>
                  <a:gd name="T34" fmla="*/ 61 w 196"/>
                  <a:gd name="T35" fmla="*/ 59 h 195"/>
                  <a:gd name="T36" fmla="*/ 81 w 196"/>
                  <a:gd name="T37" fmla="*/ 39 h 195"/>
                  <a:gd name="T38" fmla="*/ 98 w 196"/>
                  <a:gd name="T39" fmla="*/ 40 h 195"/>
                  <a:gd name="T40" fmla="*/ 130 w 196"/>
                  <a:gd name="T41" fmla="*/ 35 h 195"/>
                  <a:gd name="T42" fmla="*/ 135 w 196"/>
                  <a:gd name="T43" fmla="*/ 53 h 195"/>
                  <a:gd name="T44" fmla="*/ 135 w 196"/>
                  <a:gd name="T45" fmla="*/ 84 h 195"/>
                  <a:gd name="T46" fmla="*/ 98 w 196"/>
                  <a:gd name="T47" fmla="*/ 121 h 195"/>
                  <a:gd name="T48" fmla="*/ 61 w 196"/>
                  <a:gd name="T49" fmla="*/ 84 h 195"/>
                  <a:gd name="T50" fmla="*/ 61 w 196"/>
                  <a:gd name="T51" fmla="*/ 5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6" h="195">
                    <a:moveTo>
                      <a:pt x="195" y="171"/>
                    </a:moveTo>
                    <a:cubicBezTo>
                      <a:pt x="195" y="165"/>
                      <a:pt x="189" y="157"/>
                      <a:pt x="184" y="154"/>
                    </a:cubicBezTo>
                    <a:cubicBezTo>
                      <a:pt x="130" y="127"/>
                      <a:pt x="130" y="127"/>
                      <a:pt x="130" y="127"/>
                    </a:cubicBezTo>
                    <a:cubicBezTo>
                      <a:pt x="143" y="118"/>
                      <a:pt x="152" y="102"/>
                      <a:pt x="152" y="84"/>
                    </a:cubicBezTo>
                    <a:cubicBezTo>
                      <a:pt x="152" y="53"/>
                      <a:pt x="152" y="53"/>
                      <a:pt x="152" y="53"/>
                    </a:cubicBezTo>
                    <a:cubicBezTo>
                      <a:pt x="152" y="24"/>
                      <a:pt x="128" y="0"/>
                      <a:pt x="98" y="0"/>
                    </a:cubicBezTo>
                    <a:cubicBezTo>
                      <a:pt x="68" y="0"/>
                      <a:pt x="44" y="24"/>
                      <a:pt x="44" y="53"/>
                    </a:cubicBezTo>
                    <a:cubicBezTo>
                      <a:pt x="44" y="84"/>
                      <a:pt x="44" y="84"/>
                      <a:pt x="44" y="84"/>
                    </a:cubicBezTo>
                    <a:cubicBezTo>
                      <a:pt x="44" y="102"/>
                      <a:pt x="53" y="118"/>
                      <a:pt x="66" y="127"/>
                    </a:cubicBezTo>
                    <a:cubicBezTo>
                      <a:pt x="12" y="154"/>
                      <a:pt x="12" y="154"/>
                      <a:pt x="12" y="154"/>
                    </a:cubicBezTo>
                    <a:cubicBezTo>
                      <a:pt x="6" y="157"/>
                      <a:pt x="1" y="165"/>
                      <a:pt x="1" y="171"/>
                    </a:cubicBezTo>
                    <a:cubicBezTo>
                      <a:pt x="0" y="183"/>
                      <a:pt x="0" y="183"/>
                      <a:pt x="0" y="183"/>
                    </a:cubicBezTo>
                    <a:cubicBezTo>
                      <a:pt x="0" y="190"/>
                      <a:pt x="5" y="195"/>
                      <a:pt x="11" y="195"/>
                    </a:cubicBezTo>
                    <a:cubicBezTo>
                      <a:pt x="185" y="195"/>
                      <a:pt x="185" y="195"/>
                      <a:pt x="185" y="195"/>
                    </a:cubicBezTo>
                    <a:cubicBezTo>
                      <a:pt x="191" y="195"/>
                      <a:pt x="196" y="190"/>
                      <a:pt x="196" y="183"/>
                    </a:cubicBezTo>
                    <a:lnTo>
                      <a:pt x="195" y="171"/>
                    </a:lnTo>
                    <a:close/>
                    <a:moveTo>
                      <a:pt x="61" y="59"/>
                    </a:moveTo>
                    <a:cubicBezTo>
                      <a:pt x="61" y="59"/>
                      <a:pt x="61" y="59"/>
                      <a:pt x="61" y="59"/>
                    </a:cubicBezTo>
                    <a:cubicBezTo>
                      <a:pt x="61" y="48"/>
                      <a:pt x="70" y="39"/>
                      <a:pt x="81" y="39"/>
                    </a:cubicBezTo>
                    <a:cubicBezTo>
                      <a:pt x="86" y="40"/>
                      <a:pt x="92" y="40"/>
                      <a:pt x="98" y="40"/>
                    </a:cubicBezTo>
                    <a:cubicBezTo>
                      <a:pt x="111" y="40"/>
                      <a:pt x="122" y="38"/>
                      <a:pt x="130" y="35"/>
                    </a:cubicBezTo>
                    <a:cubicBezTo>
                      <a:pt x="133" y="40"/>
                      <a:pt x="135" y="47"/>
                      <a:pt x="135" y="53"/>
                    </a:cubicBezTo>
                    <a:cubicBezTo>
                      <a:pt x="135" y="84"/>
                      <a:pt x="135" y="84"/>
                      <a:pt x="135" y="84"/>
                    </a:cubicBezTo>
                    <a:cubicBezTo>
                      <a:pt x="135" y="105"/>
                      <a:pt x="119" y="121"/>
                      <a:pt x="98" y="121"/>
                    </a:cubicBezTo>
                    <a:cubicBezTo>
                      <a:pt x="77" y="121"/>
                      <a:pt x="61" y="105"/>
                      <a:pt x="61" y="84"/>
                    </a:cubicBezTo>
                    <a:lnTo>
                      <a:pt x="61" y="59"/>
                    </a:lnTo>
                    <a:close/>
                  </a:path>
                </a:pathLst>
              </a:custGeom>
              <a:grpFill/>
              <a:ln>
                <a:noFill/>
              </a:ln>
            </p:spPr>
            <p:txBody>
              <a:bodyPr vert="horz" wrap="square" lIns="68580" tIns="34290" rIns="68580" bIns="34290" numCol="1" anchor="t" anchorCtr="0" compatLnSpc="1">
                <a:prstTxWarp prst="textNoShape">
                  <a:avLst/>
                </a:prstTxWarp>
              </a:bodyPr>
              <a:lstStyle/>
              <a:p>
                <a:pPr defTabSz="514350">
                  <a:defRPr/>
                </a:pPr>
                <a:endParaRPr lang="en-GB" sz="1013" kern="0" dirty="0">
                  <a:solidFill>
                    <a:srgbClr val="544F40"/>
                  </a:solidFill>
                </a:endParaRPr>
              </a:p>
            </p:txBody>
          </p:sp>
          <p:sp>
            <p:nvSpPr>
              <p:cNvPr id="52" name="Freeform 7633"/>
              <p:cNvSpPr>
                <a:spLocks noEditPoints="1"/>
              </p:cNvSpPr>
              <p:nvPr/>
            </p:nvSpPr>
            <p:spPr bwMode="auto">
              <a:xfrm>
                <a:off x="888426" y="1156971"/>
                <a:ext cx="484188" cy="522288"/>
              </a:xfrm>
              <a:custGeom>
                <a:avLst/>
                <a:gdLst>
                  <a:gd name="T0" fmla="*/ 180 w 181"/>
                  <a:gd name="T1" fmla="*/ 184 h 195"/>
                  <a:gd name="T2" fmla="*/ 178 w 181"/>
                  <a:gd name="T3" fmla="*/ 168 h 195"/>
                  <a:gd name="T4" fmla="*/ 166 w 181"/>
                  <a:gd name="T5" fmla="*/ 151 h 195"/>
                  <a:gd name="T6" fmla="*/ 122 w 181"/>
                  <a:gd name="T7" fmla="*/ 127 h 195"/>
                  <a:gd name="T8" fmla="*/ 128 w 181"/>
                  <a:gd name="T9" fmla="*/ 122 h 195"/>
                  <a:gd name="T10" fmla="*/ 150 w 181"/>
                  <a:gd name="T11" fmla="*/ 122 h 195"/>
                  <a:gd name="T12" fmla="*/ 155 w 181"/>
                  <a:gd name="T13" fmla="*/ 119 h 195"/>
                  <a:gd name="T14" fmla="*/ 155 w 181"/>
                  <a:gd name="T15" fmla="*/ 113 h 195"/>
                  <a:gd name="T16" fmla="*/ 144 w 181"/>
                  <a:gd name="T17" fmla="*/ 69 h 195"/>
                  <a:gd name="T18" fmla="*/ 144 w 181"/>
                  <a:gd name="T19" fmla="*/ 53 h 195"/>
                  <a:gd name="T20" fmla="*/ 90 w 181"/>
                  <a:gd name="T21" fmla="*/ 0 h 195"/>
                  <a:gd name="T22" fmla="*/ 37 w 181"/>
                  <a:gd name="T23" fmla="*/ 53 h 195"/>
                  <a:gd name="T24" fmla="*/ 37 w 181"/>
                  <a:gd name="T25" fmla="*/ 69 h 195"/>
                  <a:gd name="T26" fmla="*/ 26 w 181"/>
                  <a:gd name="T27" fmla="*/ 113 h 195"/>
                  <a:gd name="T28" fmla="*/ 26 w 181"/>
                  <a:gd name="T29" fmla="*/ 119 h 195"/>
                  <a:gd name="T30" fmla="*/ 31 w 181"/>
                  <a:gd name="T31" fmla="*/ 122 h 195"/>
                  <a:gd name="T32" fmla="*/ 52 w 181"/>
                  <a:gd name="T33" fmla="*/ 122 h 195"/>
                  <a:gd name="T34" fmla="*/ 59 w 181"/>
                  <a:gd name="T35" fmla="*/ 127 h 195"/>
                  <a:gd name="T36" fmla="*/ 15 w 181"/>
                  <a:gd name="T37" fmla="*/ 151 h 195"/>
                  <a:gd name="T38" fmla="*/ 3 w 181"/>
                  <a:gd name="T39" fmla="*/ 168 h 195"/>
                  <a:gd name="T40" fmla="*/ 1 w 181"/>
                  <a:gd name="T41" fmla="*/ 184 h 195"/>
                  <a:gd name="T42" fmla="*/ 12 w 181"/>
                  <a:gd name="T43" fmla="*/ 195 h 195"/>
                  <a:gd name="T44" fmla="*/ 170 w 181"/>
                  <a:gd name="T45" fmla="*/ 195 h 195"/>
                  <a:gd name="T46" fmla="*/ 180 w 181"/>
                  <a:gd name="T47" fmla="*/ 184 h 195"/>
                  <a:gd name="T48" fmla="*/ 53 w 181"/>
                  <a:gd name="T49" fmla="*/ 74 h 195"/>
                  <a:gd name="T50" fmla="*/ 53 w 181"/>
                  <a:gd name="T51" fmla="*/ 74 h 195"/>
                  <a:gd name="T52" fmla="*/ 73 w 181"/>
                  <a:gd name="T53" fmla="*/ 54 h 195"/>
                  <a:gd name="T54" fmla="*/ 97 w 181"/>
                  <a:gd name="T55" fmla="*/ 54 h 195"/>
                  <a:gd name="T56" fmla="*/ 117 w 181"/>
                  <a:gd name="T57" fmla="*/ 34 h 195"/>
                  <a:gd name="T58" fmla="*/ 117 w 181"/>
                  <a:gd name="T59" fmla="*/ 27 h 195"/>
                  <a:gd name="T60" fmla="*/ 128 w 181"/>
                  <a:gd name="T61" fmla="*/ 53 h 195"/>
                  <a:gd name="T62" fmla="*/ 128 w 181"/>
                  <a:gd name="T63" fmla="*/ 84 h 195"/>
                  <a:gd name="T64" fmla="*/ 90 w 181"/>
                  <a:gd name="T65" fmla="*/ 121 h 195"/>
                  <a:gd name="T66" fmla="*/ 53 w 181"/>
                  <a:gd name="T67" fmla="*/ 84 h 195"/>
                  <a:gd name="T68" fmla="*/ 53 w 181"/>
                  <a:gd name="T69" fmla="*/ 7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1" h="195">
                    <a:moveTo>
                      <a:pt x="180" y="184"/>
                    </a:moveTo>
                    <a:cubicBezTo>
                      <a:pt x="178" y="168"/>
                      <a:pt x="178" y="168"/>
                      <a:pt x="178" y="168"/>
                    </a:cubicBezTo>
                    <a:cubicBezTo>
                      <a:pt x="177" y="162"/>
                      <a:pt x="172" y="154"/>
                      <a:pt x="166" y="151"/>
                    </a:cubicBezTo>
                    <a:cubicBezTo>
                      <a:pt x="122" y="127"/>
                      <a:pt x="122" y="127"/>
                      <a:pt x="122" y="127"/>
                    </a:cubicBezTo>
                    <a:cubicBezTo>
                      <a:pt x="124" y="126"/>
                      <a:pt x="126" y="124"/>
                      <a:pt x="128" y="122"/>
                    </a:cubicBezTo>
                    <a:cubicBezTo>
                      <a:pt x="150" y="122"/>
                      <a:pt x="150" y="122"/>
                      <a:pt x="150" y="122"/>
                    </a:cubicBezTo>
                    <a:cubicBezTo>
                      <a:pt x="152" y="122"/>
                      <a:pt x="154" y="121"/>
                      <a:pt x="155" y="119"/>
                    </a:cubicBezTo>
                    <a:cubicBezTo>
                      <a:pt x="156" y="117"/>
                      <a:pt x="156" y="115"/>
                      <a:pt x="155" y="113"/>
                    </a:cubicBezTo>
                    <a:cubicBezTo>
                      <a:pt x="144" y="92"/>
                      <a:pt x="144" y="89"/>
                      <a:pt x="144" y="69"/>
                    </a:cubicBezTo>
                    <a:cubicBezTo>
                      <a:pt x="144" y="53"/>
                      <a:pt x="144" y="53"/>
                      <a:pt x="144" y="53"/>
                    </a:cubicBezTo>
                    <a:cubicBezTo>
                      <a:pt x="144" y="24"/>
                      <a:pt x="120" y="0"/>
                      <a:pt x="90" y="0"/>
                    </a:cubicBezTo>
                    <a:cubicBezTo>
                      <a:pt x="61" y="0"/>
                      <a:pt x="37" y="24"/>
                      <a:pt x="37" y="53"/>
                    </a:cubicBezTo>
                    <a:cubicBezTo>
                      <a:pt x="37" y="69"/>
                      <a:pt x="37" y="69"/>
                      <a:pt x="37" y="69"/>
                    </a:cubicBezTo>
                    <a:cubicBezTo>
                      <a:pt x="37" y="89"/>
                      <a:pt x="37" y="92"/>
                      <a:pt x="26" y="113"/>
                    </a:cubicBezTo>
                    <a:cubicBezTo>
                      <a:pt x="25" y="115"/>
                      <a:pt x="25" y="117"/>
                      <a:pt x="26" y="119"/>
                    </a:cubicBezTo>
                    <a:cubicBezTo>
                      <a:pt x="27" y="121"/>
                      <a:pt x="29" y="122"/>
                      <a:pt x="31" y="122"/>
                    </a:cubicBezTo>
                    <a:cubicBezTo>
                      <a:pt x="52" y="122"/>
                      <a:pt x="52" y="122"/>
                      <a:pt x="52" y="122"/>
                    </a:cubicBezTo>
                    <a:cubicBezTo>
                      <a:pt x="54" y="124"/>
                      <a:pt x="57" y="126"/>
                      <a:pt x="59" y="127"/>
                    </a:cubicBezTo>
                    <a:cubicBezTo>
                      <a:pt x="15" y="151"/>
                      <a:pt x="15" y="151"/>
                      <a:pt x="15" y="151"/>
                    </a:cubicBezTo>
                    <a:cubicBezTo>
                      <a:pt x="9" y="154"/>
                      <a:pt x="4" y="162"/>
                      <a:pt x="3" y="168"/>
                    </a:cubicBezTo>
                    <a:cubicBezTo>
                      <a:pt x="1" y="184"/>
                      <a:pt x="1" y="184"/>
                      <a:pt x="1" y="184"/>
                    </a:cubicBezTo>
                    <a:cubicBezTo>
                      <a:pt x="0" y="190"/>
                      <a:pt x="5" y="195"/>
                      <a:pt x="12" y="195"/>
                    </a:cubicBezTo>
                    <a:cubicBezTo>
                      <a:pt x="170" y="195"/>
                      <a:pt x="170" y="195"/>
                      <a:pt x="170" y="195"/>
                    </a:cubicBezTo>
                    <a:cubicBezTo>
                      <a:pt x="176" y="195"/>
                      <a:pt x="181" y="190"/>
                      <a:pt x="180" y="184"/>
                    </a:cubicBezTo>
                    <a:moveTo>
                      <a:pt x="53" y="74"/>
                    </a:moveTo>
                    <a:cubicBezTo>
                      <a:pt x="53" y="74"/>
                      <a:pt x="53" y="74"/>
                      <a:pt x="53" y="74"/>
                    </a:cubicBezTo>
                    <a:cubicBezTo>
                      <a:pt x="53" y="63"/>
                      <a:pt x="62" y="54"/>
                      <a:pt x="73" y="54"/>
                    </a:cubicBezTo>
                    <a:cubicBezTo>
                      <a:pt x="97" y="54"/>
                      <a:pt x="97" y="54"/>
                      <a:pt x="97" y="54"/>
                    </a:cubicBezTo>
                    <a:cubicBezTo>
                      <a:pt x="108" y="54"/>
                      <a:pt x="117" y="45"/>
                      <a:pt x="117" y="34"/>
                    </a:cubicBezTo>
                    <a:cubicBezTo>
                      <a:pt x="117" y="27"/>
                      <a:pt x="117" y="27"/>
                      <a:pt x="117" y="27"/>
                    </a:cubicBezTo>
                    <a:cubicBezTo>
                      <a:pt x="124" y="34"/>
                      <a:pt x="128" y="43"/>
                      <a:pt x="128" y="53"/>
                    </a:cubicBezTo>
                    <a:cubicBezTo>
                      <a:pt x="128" y="84"/>
                      <a:pt x="128" y="84"/>
                      <a:pt x="128" y="84"/>
                    </a:cubicBezTo>
                    <a:cubicBezTo>
                      <a:pt x="128" y="105"/>
                      <a:pt x="111" y="121"/>
                      <a:pt x="90" y="121"/>
                    </a:cubicBezTo>
                    <a:cubicBezTo>
                      <a:pt x="70" y="121"/>
                      <a:pt x="53" y="105"/>
                      <a:pt x="53" y="84"/>
                    </a:cubicBezTo>
                    <a:lnTo>
                      <a:pt x="53" y="74"/>
                    </a:lnTo>
                    <a:close/>
                  </a:path>
                </a:pathLst>
              </a:custGeom>
              <a:grpFill/>
              <a:ln>
                <a:noFill/>
              </a:ln>
            </p:spPr>
            <p:txBody>
              <a:bodyPr vert="horz" wrap="square" lIns="68580" tIns="34290" rIns="68580" bIns="34290" numCol="1" anchor="t" anchorCtr="0" compatLnSpc="1">
                <a:prstTxWarp prst="textNoShape">
                  <a:avLst/>
                </a:prstTxWarp>
              </a:bodyPr>
              <a:lstStyle/>
              <a:p>
                <a:pPr defTabSz="514350">
                  <a:defRPr/>
                </a:pPr>
                <a:endParaRPr lang="en-GB" sz="1013" kern="0" dirty="0">
                  <a:solidFill>
                    <a:srgbClr val="544F40"/>
                  </a:solidFill>
                </a:endParaRPr>
              </a:p>
            </p:txBody>
          </p:sp>
        </p:grpSp>
        <p:sp>
          <p:nvSpPr>
            <p:cNvPr id="53" name="TextBox 52"/>
            <p:cNvSpPr txBox="1"/>
            <p:nvPr/>
          </p:nvSpPr>
          <p:spPr>
            <a:xfrm>
              <a:off x="355600" y="1909389"/>
              <a:ext cx="4097515" cy="342652"/>
            </a:xfrm>
            <a:prstGeom prst="rect">
              <a:avLst/>
            </a:prstGeom>
            <a:noFill/>
          </p:spPr>
          <p:txBody>
            <a:bodyPr wrap="square" lIns="0" tIns="0" rIns="0" bIns="0" rtlCol="0">
              <a:noAutofit/>
            </a:bodyPr>
            <a:lstStyle/>
            <a:p>
              <a:pPr algn="ctr" defTabSz="514350">
                <a:buClr>
                  <a:srgbClr val="544F40"/>
                </a:buClr>
                <a:defRPr/>
              </a:pPr>
              <a:r>
                <a:rPr lang="en-GB" sz="1200" b="1" kern="0" dirty="0">
                  <a:solidFill>
                    <a:srgbClr val="FFFFFF"/>
                  </a:solidFill>
                </a:rPr>
                <a:t>Inclusion criteria*</a:t>
              </a:r>
            </a:p>
          </p:txBody>
        </p:sp>
      </p:grpSp>
      <p:grpSp>
        <p:nvGrpSpPr>
          <p:cNvPr id="22" name="Group 21"/>
          <p:cNvGrpSpPr/>
          <p:nvPr/>
        </p:nvGrpSpPr>
        <p:grpSpPr>
          <a:xfrm>
            <a:off x="7020837" y="1381020"/>
            <a:ext cx="2483468" cy="663149"/>
            <a:chOff x="355600" y="1094726"/>
            <a:chExt cx="4097515" cy="1157315"/>
          </a:xfrm>
        </p:grpSpPr>
        <p:grpSp>
          <p:nvGrpSpPr>
            <p:cNvPr id="23" name="Group 22"/>
            <p:cNvGrpSpPr/>
            <p:nvPr/>
          </p:nvGrpSpPr>
          <p:grpSpPr>
            <a:xfrm>
              <a:off x="1560070" y="1094726"/>
              <a:ext cx="1664950" cy="801407"/>
              <a:chOff x="290310" y="1156971"/>
              <a:chExt cx="1082304" cy="522288"/>
            </a:xfrm>
            <a:solidFill>
              <a:srgbClr val="FFFFFF"/>
            </a:solidFill>
          </p:grpSpPr>
          <p:sp>
            <p:nvSpPr>
              <p:cNvPr id="25" name="Freeform 7630"/>
              <p:cNvSpPr>
                <a:spLocks noEditPoints="1"/>
              </p:cNvSpPr>
              <p:nvPr/>
            </p:nvSpPr>
            <p:spPr bwMode="auto">
              <a:xfrm>
                <a:off x="290310" y="1156971"/>
                <a:ext cx="523875" cy="522287"/>
              </a:xfrm>
              <a:custGeom>
                <a:avLst/>
                <a:gdLst>
                  <a:gd name="T0" fmla="*/ 195 w 196"/>
                  <a:gd name="T1" fmla="*/ 171 h 195"/>
                  <a:gd name="T2" fmla="*/ 184 w 196"/>
                  <a:gd name="T3" fmla="*/ 154 h 195"/>
                  <a:gd name="T4" fmla="*/ 130 w 196"/>
                  <a:gd name="T5" fmla="*/ 127 h 195"/>
                  <a:gd name="T6" fmla="*/ 152 w 196"/>
                  <a:gd name="T7" fmla="*/ 84 h 195"/>
                  <a:gd name="T8" fmla="*/ 152 w 196"/>
                  <a:gd name="T9" fmla="*/ 53 h 195"/>
                  <a:gd name="T10" fmla="*/ 98 w 196"/>
                  <a:gd name="T11" fmla="*/ 0 h 195"/>
                  <a:gd name="T12" fmla="*/ 44 w 196"/>
                  <a:gd name="T13" fmla="*/ 53 h 195"/>
                  <a:gd name="T14" fmla="*/ 44 w 196"/>
                  <a:gd name="T15" fmla="*/ 84 h 195"/>
                  <a:gd name="T16" fmla="*/ 66 w 196"/>
                  <a:gd name="T17" fmla="*/ 127 h 195"/>
                  <a:gd name="T18" fmla="*/ 12 w 196"/>
                  <a:gd name="T19" fmla="*/ 154 h 195"/>
                  <a:gd name="T20" fmla="*/ 1 w 196"/>
                  <a:gd name="T21" fmla="*/ 171 h 195"/>
                  <a:gd name="T22" fmla="*/ 0 w 196"/>
                  <a:gd name="T23" fmla="*/ 183 h 195"/>
                  <a:gd name="T24" fmla="*/ 11 w 196"/>
                  <a:gd name="T25" fmla="*/ 195 h 195"/>
                  <a:gd name="T26" fmla="*/ 185 w 196"/>
                  <a:gd name="T27" fmla="*/ 195 h 195"/>
                  <a:gd name="T28" fmla="*/ 196 w 196"/>
                  <a:gd name="T29" fmla="*/ 183 h 195"/>
                  <a:gd name="T30" fmla="*/ 195 w 196"/>
                  <a:gd name="T31" fmla="*/ 171 h 195"/>
                  <a:gd name="T32" fmla="*/ 61 w 196"/>
                  <a:gd name="T33" fmla="*/ 59 h 195"/>
                  <a:gd name="T34" fmla="*/ 61 w 196"/>
                  <a:gd name="T35" fmla="*/ 59 h 195"/>
                  <a:gd name="T36" fmla="*/ 81 w 196"/>
                  <a:gd name="T37" fmla="*/ 39 h 195"/>
                  <a:gd name="T38" fmla="*/ 98 w 196"/>
                  <a:gd name="T39" fmla="*/ 40 h 195"/>
                  <a:gd name="T40" fmla="*/ 130 w 196"/>
                  <a:gd name="T41" fmla="*/ 35 h 195"/>
                  <a:gd name="T42" fmla="*/ 135 w 196"/>
                  <a:gd name="T43" fmla="*/ 53 h 195"/>
                  <a:gd name="T44" fmla="*/ 135 w 196"/>
                  <a:gd name="T45" fmla="*/ 84 h 195"/>
                  <a:gd name="T46" fmla="*/ 98 w 196"/>
                  <a:gd name="T47" fmla="*/ 121 h 195"/>
                  <a:gd name="T48" fmla="*/ 61 w 196"/>
                  <a:gd name="T49" fmla="*/ 84 h 195"/>
                  <a:gd name="T50" fmla="*/ 61 w 196"/>
                  <a:gd name="T51" fmla="*/ 59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6" h="195">
                    <a:moveTo>
                      <a:pt x="195" y="171"/>
                    </a:moveTo>
                    <a:cubicBezTo>
                      <a:pt x="195" y="165"/>
                      <a:pt x="189" y="157"/>
                      <a:pt x="184" y="154"/>
                    </a:cubicBezTo>
                    <a:cubicBezTo>
                      <a:pt x="130" y="127"/>
                      <a:pt x="130" y="127"/>
                      <a:pt x="130" y="127"/>
                    </a:cubicBezTo>
                    <a:cubicBezTo>
                      <a:pt x="143" y="118"/>
                      <a:pt x="152" y="102"/>
                      <a:pt x="152" y="84"/>
                    </a:cubicBezTo>
                    <a:cubicBezTo>
                      <a:pt x="152" y="53"/>
                      <a:pt x="152" y="53"/>
                      <a:pt x="152" y="53"/>
                    </a:cubicBezTo>
                    <a:cubicBezTo>
                      <a:pt x="152" y="24"/>
                      <a:pt x="128" y="0"/>
                      <a:pt x="98" y="0"/>
                    </a:cubicBezTo>
                    <a:cubicBezTo>
                      <a:pt x="68" y="0"/>
                      <a:pt x="44" y="24"/>
                      <a:pt x="44" y="53"/>
                    </a:cubicBezTo>
                    <a:cubicBezTo>
                      <a:pt x="44" y="84"/>
                      <a:pt x="44" y="84"/>
                      <a:pt x="44" y="84"/>
                    </a:cubicBezTo>
                    <a:cubicBezTo>
                      <a:pt x="44" y="102"/>
                      <a:pt x="53" y="118"/>
                      <a:pt x="66" y="127"/>
                    </a:cubicBezTo>
                    <a:cubicBezTo>
                      <a:pt x="12" y="154"/>
                      <a:pt x="12" y="154"/>
                      <a:pt x="12" y="154"/>
                    </a:cubicBezTo>
                    <a:cubicBezTo>
                      <a:pt x="6" y="157"/>
                      <a:pt x="1" y="165"/>
                      <a:pt x="1" y="171"/>
                    </a:cubicBezTo>
                    <a:cubicBezTo>
                      <a:pt x="0" y="183"/>
                      <a:pt x="0" y="183"/>
                      <a:pt x="0" y="183"/>
                    </a:cubicBezTo>
                    <a:cubicBezTo>
                      <a:pt x="0" y="190"/>
                      <a:pt x="5" y="195"/>
                      <a:pt x="11" y="195"/>
                    </a:cubicBezTo>
                    <a:cubicBezTo>
                      <a:pt x="185" y="195"/>
                      <a:pt x="185" y="195"/>
                      <a:pt x="185" y="195"/>
                    </a:cubicBezTo>
                    <a:cubicBezTo>
                      <a:pt x="191" y="195"/>
                      <a:pt x="196" y="190"/>
                      <a:pt x="196" y="183"/>
                    </a:cubicBezTo>
                    <a:lnTo>
                      <a:pt x="195" y="171"/>
                    </a:lnTo>
                    <a:close/>
                    <a:moveTo>
                      <a:pt x="61" y="59"/>
                    </a:moveTo>
                    <a:cubicBezTo>
                      <a:pt x="61" y="59"/>
                      <a:pt x="61" y="59"/>
                      <a:pt x="61" y="59"/>
                    </a:cubicBezTo>
                    <a:cubicBezTo>
                      <a:pt x="61" y="48"/>
                      <a:pt x="70" y="39"/>
                      <a:pt x="81" y="39"/>
                    </a:cubicBezTo>
                    <a:cubicBezTo>
                      <a:pt x="86" y="40"/>
                      <a:pt x="92" y="40"/>
                      <a:pt x="98" y="40"/>
                    </a:cubicBezTo>
                    <a:cubicBezTo>
                      <a:pt x="111" y="40"/>
                      <a:pt x="122" y="38"/>
                      <a:pt x="130" y="35"/>
                    </a:cubicBezTo>
                    <a:cubicBezTo>
                      <a:pt x="133" y="40"/>
                      <a:pt x="135" y="47"/>
                      <a:pt x="135" y="53"/>
                    </a:cubicBezTo>
                    <a:cubicBezTo>
                      <a:pt x="135" y="84"/>
                      <a:pt x="135" y="84"/>
                      <a:pt x="135" y="84"/>
                    </a:cubicBezTo>
                    <a:cubicBezTo>
                      <a:pt x="135" y="105"/>
                      <a:pt x="119" y="121"/>
                      <a:pt x="98" y="121"/>
                    </a:cubicBezTo>
                    <a:cubicBezTo>
                      <a:pt x="77" y="121"/>
                      <a:pt x="61" y="105"/>
                      <a:pt x="61" y="84"/>
                    </a:cubicBezTo>
                    <a:lnTo>
                      <a:pt x="61" y="59"/>
                    </a:lnTo>
                    <a:close/>
                  </a:path>
                </a:pathLst>
              </a:custGeom>
              <a:grpFill/>
              <a:ln>
                <a:noFill/>
              </a:ln>
            </p:spPr>
            <p:txBody>
              <a:bodyPr vert="horz" wrap="square" lIns="68580" tIns="34290" rIns="68580" bIns="34290" numCol="1" anchor="t" anchorCtr="0" compatLnSpc="1">
                <a:prstTxWarp prst="textNoShape">
                  <a:avLst/>
                </a:prstTxWarp>
              </a:bodyPr>
              <a:lstStyle/>
              <a:p>
                <a:pPr defTabSz="514350">
                  <a:defRPr/>
                </a:pPr>
                <a:endParaRPr lang="en-GB" sz="1013" kern="0" dirty="0">
                  <a:solidFill>
                    <a:srgbClr val="544F40"/>
                  </a:solidFill>
                </a:endParaRPr>
              </a:p>
            </p:txBody>
          </p:sp>
          <p:sp>
            <p:nvSpPr>
              <p:cNvPr id="26" name="Freeform 7633"/>
              <p:cNvSpPr>
                <a:spLocks noEditPoints="1"/>
              </p:cNvSpPr>
              <p:nvPr/>
            </p:nvSpPr>
            <p:spPr bwMode="auto">
              <a:xfrm>
                <a:off x="888426" y="1156971"/>
                <a:ext cx="484188" cy="522288"/>
              </a:xfrm>
              <a:custGeom>
                <a:avLst/>
                <a:gdLst>
                  <a:gd name="T0" fmla="*/ 180 w 181"/>
                  <a:gd name="T1" fmla="*/ 184 h 195"/>
                  <a:gd name="T2" fmla="*/ 178 w 181"/>
                  <a:gd name="T3" fmla="*/ 168 h 195"/>
                  <a:gd name="T4" fmla="*/ 166 w 181"/>
                  <a:gd name="T5" fmla="*/ 151 h 195"/>
                  <a:gd name="T6" fmla="*/ 122 w 181"/>
                  <a:gd name="T7" fmla="*/ 127 h 195"/>
                  <a:gd name="T8" fmla="*/ 128 w 181"/>
                  <a:gd name="T9" fmla="*/ 122 h 195"/>
                  <a:gd name="T10" fmla="*/ 150 w 181"/>
                  <a:gd name="T11" fmla="*/ 122 h 195"/>
                  <a:gd name="T12" fmla="*/ 155 w 181"/>
                  <a:gd name="T13" fmla="*/ 119 h 195"/>
                  <a:gd name="T14" fmla="*/ 155 w 181"/>
                  <a:gd name="T15" fmla="*/ 113 h 195"/>
                  <a:gd name="T16" fmla="*/ 144 w 181"/>
                  <a:gd name="T17" fmla="*/ 69 h 195"/>
                  <a:gd name="T18" fmla="*/ 144 w 181"/>
                  <a:gd name="T19" fmla="*/ 53 h 195"/>
                  <a:gd name="T20" fmla="*/ 90 w 181"/>
                  <a:gd name="T21" fmla="*/ 0 h 195"/>
                  <a:gd name="T22" fmla="*/ 37 w 181"/>
                  <a:gd name="T23" fmla="*/ 53 h 195"/>
                  <a:gd name="T24" fmla="*/ 37 w 181"/>
                  <a:gd name="T25" fmla="*/ 69 h 195"/>
                  <a:gd name="T26" fmla="*/ 26 w 181"/>
                  <a:gd name="T27" fmla="*/ 113 h 195"/>
                  <a:gd name="T28" fmla="*/ 26 w 181"/>
                  <a:gd name="T29" fmla="*/ 119 h 195"/>
                  <a:gd name="T30" fmla="*/ 31 w 181"/>
                  <a:gd name="T31" fmla="*/ 122 h 195"/>
                  <a:gd name="T32" fmla="*/ 52 w 181"/>
                  <a:gd name="T33" fmla="*/ 122 h 195"/>
                  <a:gd name="T34" fmla="*/ 59 w 181"/>
                  <a:gd name="T35" fmla="*/ 127 h 195"/>
                  <a:gd name="T36" fmla="*/ 15 w 181"/>
                  <a:gd name="T37" fmla="*/ 151 h 195"/>
                  <a:gd name="T38" fmla="*/ 3 w 181"/>
                  <a:gd name="T39" fmla="*/ 168 h 195"/>
                  <a:gd name="T40" fmla="*/ 1 w 181"/>
                  <a:gd name="T41" fmla="*/ 184 h 195"/>
                  <a:gd name="T42" fmla="*/ 12 w 181"/>
                  <a:gd name="T43" fmla="*/ 195 h 195"/>
                  <a:gd name="T44" fmla="*/ 170 w 181"/>
                  <a:gd name="T45" fmla="*/ 195 h 195"/>
                  <a:gd name="T46" fmla="*/ 180 w 181"/>
                  <a:gd name="T47" fmla="*/ 184 h 195"/>
                  <a:gd name="T48" fmla="*/ 53 w 181"/>
                  <a:gd name="T49" fmla="*/ 74 h 195"/>
                  <a:gd name="T50" fmla="*/ 53 w 181"/>
                  <a:gd name="T51" fmla="*/ 74 h 195"/>
                  <a:gd name="T52" fmla="*/ 73 w 181"/>
                  <a:gd name="T53" fmla="*/ 54 h 195"/>
                  <a:gd name="T54" fmla="*/ 97 w 181"/>
                  <a:gd name="T55" fmla="*/ 54 h 195"/>
                  <a:gd name="T56" fmla="*/ 117 w 181"/>
                  <a:gd name="T57" fmla="*/ 34 h 195"/>
                  <a:gd name="T58" fmla="*/ 117 w 181"/>
                  <a:gd name="T59" fmla="*/ 27 h 195"/>
                  <a:gd name="T60" fmla="*/ 128 w 181"/>
                  <a:gd name="T61" fmla="*/ 53 h 195"/>
                  <a:gd name="T62" fmla="*/ 128 w 181"/>
                  <a:gd name="T63" fmla="*/ 84 h 195"/>
                  <a:gd name="T64" fmla="*/ 90 w 181"/>
                  <a:gd name="T65" fmla="*/ 121 h 195"/>
                  <a:gd name="T66" fmla="*/ 53 w 181"/>
                  <a:gd name="T67" fmla="*/ 84 h 195"/>
                  <a:gd name="T68" fmla="*/ 53 w 181"/>
                  <a:gd name="T69" fmla="*/ 7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81" h="195">
                    <a:moveTo>
                      <a:pt x="180" y="184"/>
                    </a:moveTo>
                    <a:cubicBezTo>
                      <a:pt x="178" y="168"/>
                      <a:pt x="178" y="168"/>
                      <a:pt x="178" y="168"/>
                    </a:cubicBezTo>
                    <a:cubicBezTo>
                      <a:pt x="177" y="162"/>
                      <a:pt x="172" y="154"/>
                      <a:pt x="166" y="151"/>
                    </a:cubicBezTo>
                    <a:cubicBezTo>
                      <a:pt x="122" y="127"/>
                      <a:pt x="122" y="127"/>
                      <a:pt x="122" y="127"/>
                    </a:cubicBezTo>
                    <a:cubicBezTo>
                      <a:pt x="124" y="126"/>
                      <a:pt x="126" y="124"/>
                      <a:pt x="128" y="122"/>
                    </a:cubicBezTo>
                    <a:cubicBezTo>
                      <a:pt x="150" y="122"/>
                      <a:pt x="150" y="122"/>
                      <a:pt x="150" y="122"/>
                    </a:cubicBezTo>
                    <a:cubicBezTo>
                      <a:pt x="152" y="122"/>
                      <a:pt x="154" y="121"/>
                      <a:pt x="155" y="119"/>
                    </a:cubicBezTo>
                    <a:cubicBezTo>
                      <a:pt x="156" y="117"/>
                      <a:pt x="156" y="115"/>
                      <a:pt x="155" y="113"/>
                    </a:cubicBezTo>
                    <a:cubicBezTo>
                      <a:pt x="144" y="92"/>
                      <a:pt x="144" y="89"/>
                      <a:pt x="144" y="69"/>
                    </a:cubicBezTo>
                    <a:cubicBezTo>
                      <a:pt x="144" y="53"/>
                      <a:pt x="144" y="53"/>
                      <a:pt x="144" y="53"/>
                    </a:cubicBezTo>
                    <a:cubicBezTo>
                      <a:pt x="144" y="24"/>
                      <a:pt x="120" y="0"/>
                      <a:pt x="90" y="0"/>
                    </a:cubicBezTo>
                    <a:cubicBezTo>
                      <a:pt x="61" y="0"/>
                      <a:pt x="37" y="24"/>
                      <a:pt x="37" y="53"/>
                    </a:cubicBezTo>
                    <a:cubicBezTo>
                      <a:pt x="37" y="69"/>
                      <a:pt x="37" y="69"/>
                      <a:pt x="37" y="69"/>
                    </a:cubicBezTo>
                    <a:cubicBezTo>
                      <a:pt x="37" y="89"/>
                      <a:pt x="37" y="92"/>
                      <a:pt x="26" y="113"/>
                    </a:cubicBezTo>
                    <a:cubicBezTo>
                      <a:pt x="25" y="115"/>
                      <a:pt x="25" y="117"/>
                      <a:pt x="26" y="119"/>
                    </a:cubicBezTo>
                    <a:cubicBezTo>
                      <a:pt x="27" y="121"/>
                      <a:pt x="29" y="122"/>
                      <a:pt x="31" y="122"/>
                    </a:cubicBezTo>
                    <a:cubicBezTo>
                      <a:pt x="52" y="122"/>
                      <a:pt x="52" y="122"/>
                      <a:pt x="52" y="122"/>
                    </a:cubicBezTo>
                    <a:cubicBezTo>
                      <a:pt x="54" y="124"/>
                      <a:pt x="57" y="126"/>
                      <a:pt x="59" y="127"/>
                    </a:cubicBezTo>
                    <a:cubicBezTo>
                      <a:pt x="15" y="151"/>
                      <a:pt x="15" y="151"/>
                      <a:pt x="15" y="151"/>
                    </a:cubicBezTo>
                    <a:cubicBezTo>
                      <a:pt x="9" y="154"/>
                      <a:pt x="4" y="162"/>
                      <a:pt x="3" y="168"/>
                    </a:cubicBezTo>
                    <a:cubicBezTo>
                      <a:pt x="1" y="184"/>
                      <a:pt x="1" y="184"/>
                      <a:pt x="1" y="184"/>
                    </a:cubicBezTo>
                    <a:cubicBezTo>
                      <a:pt x="0" y="190"/>
                      <a:pt x="5" y="195"/>
                      <a:pt x="12" y="195"/>
                    </a:cubicBezTo>
                    <a:cubicBezTo>
                      <a:pt x="170" y="195"/>
                      <a:pt x="170" y="195"/>
                      <a:pt x="170" y="195"/>
                    </a:cubicBezTo>
                    <a:cubicBezTo>
                      <a:pt x="176" y="195"/>
                      <a:pt x="181" y="190"/>
                      <a:pt x="180" y="184"/>
                    </a:cubicBezTo>
                    <a:moveTo>
                      <a:pt x="53" y="74"/>
                    </a:moveTo>
                    <a:cubicBezTo>
                      <a:pt x="53" y="74"/>
                      <a:pt x="53" y="74"/>
                      <a:pt x="53" y="74"/>
                    </a:cubicBezTo>
                    <a:cubicBezTo>
                      <a:pt x="53" y="63"/>
                      <a:pt x="62" y="54"/>
                      <a:pt x="73" y="54"/>
                    </a:cubicBezTo>
                    <a:cubicBezTo>
                      <a:pt x="97" y="54"/>
                      <a:pt x="97" y="54"/>
                      <a:pt x="97" y="54"/>
                    </a:cubicBezTo>
                    <a:cubicBezTo>
                      <a:pt x="108" y="54"/>
                      <a:pt x="117" y="45"/>
                      <a:pt x="117" y="34"/>
                    </a:cubicBezTo>
                    <a:cubicBezTo>
                      <a:pt x="117" y="27"/>
                      <a:pt x="117" y="27"/>
                      <a:pt x="117" y="27"/>
                    </a:cubicBezTo>
                    <a:cubicBezTo>
                      <a:pt x="124" y="34"/>
                      <a:pt x="128" y="43"/>
                      <a:pt x="128" y="53"/>
                    </a:cubicBezTo>
                    <a:cubicBezTo>
                      <a:pt x="128" y="84"/>
                      <a:pt x="128" y="84"/>
                      <a:pt x="128" y="84"/>
                    </a:cubicBezTo>
                    <a:cubicBezTo>
                      <a:pt x="128" y="105"/>
                      <a:pt x="111" y="121"/>
                      <a:pt x="90" y="121"/>
                    </a:cubicBezTo>
                    <a:cubicBezTo>
                      <a:pt x="70" y="121"/>
                      <a:pt x="53" y="105"/>
                      <a:pt x="53" y="84"/>
                    </a:cubicBezTo>
                    <a:lnTo>
                      <a:pt x="53" y="74"/>
                    </a:lnTo>
                    <a:close/>
                  </a:path>
                </a:pathLst>
              </a:custGeom>
              <a:grpFill/>
              <a:ln>
                <a:noFill/>
              </a:ln>
            </p:spPr>
            <p:txBody>
              <a:bodyPr vert="horz" wrap="square" lIns="68580" tIns="34290" rIns="68580" bIns="34290" numCol="1" anchor="t" anchorCtr="0" compatLnSpc="1">
                <a:prstTxWarp prst="textNoShape">
                  <a:avLst/>
                </a:prstTxWarp>
              </a:bodyPr>
              <a:lstStyle/>
              <a:p>
                <a:pPr defTabSz="514350">
                  <a:defRPr/>
                </a:pPr>
                <a:endParaRPr lang="en-GB" sz="1013" kern="0" dirty="0">
                  <a:solidFill>
                    <a:srgbClr val="544F40"/>
                  </a:solidFill>
                </a:endParaRPr>
              </a:p>
            </p:txBody>
          </p:sp>
        </p:grpSp>
        <p:sp>
          <p:nvSpPr>
            <p:cNvPr id="24" name="TextBox 23"/>
            <p:cNvSpPr txBox="1"/>
            <p:nvPr/>
          </p:nvSpPr>
          <p:spPr>
            <a:xfrm>
              <a:off x="355600" y="1909389"/>
              <a:ext cx="4097515" cy="342652"/>
            </a:xfrm>
            <a:prstGeom prst="rect">
              <a:avLst/>
            </a:prstGeom>
            <a:noFill/>
          </p:spPr>
          <p:txBody>
            <a:bodyPr wrap="square" lIns="0" tIns="0" rIns="0" bIns="0" rtlCol="0">
              <a:noAutofit/>
            </a:bodyPr>
            <a:lstStyle/>
            <a:p>
              <a:pPr algn="ctr" defTabSz="514350">
                <a:buClr>
                  <a:srgbClr val="544F40"/>
                </a:buClr>
                <a:defRPr/>
              </a:pPr>
              <a:r>
                <a:rPr lang="en-GB" sz="1200" b="1" kern="0" dirty="0">
                  <a:solidFill>
                    <a:srgbClr val="FFFFFF"/>
                  </a:solidFill>
                </a:rPr>
                <a:t>Exclusion criteria*</a:t>
              </a:r>
            </a:p>
          </p:txBody>
        </p:sp>
      </p:grpSp>
      <p:sp>
        <p:nvSpPr>
          <p:cNvPr id="4" name="Slide Number Placeholder 4">
            <a:extLst>
              <a:ext uri="{FF2B5EF4-FFF2-40B4-BE49-F238E27FC236}">
                <a16:creationId xmlns:a16="http://schemas.microsoft.com/office/drawing/2014/main" id="{7DE9F358-E9E1-FD90-B54D-C4B65A07626E}"/>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5</a:t>
            </a:fld>
            <a:endParaRPr lang="en-GB" sz="1000" dirty="0">
              <a:solidFill>
                <a:srgbClr val="000000"/>
              </a:solidFill>
              <a:latin typeface="Arial"/>
              <a:cs typeface="Noto Sans"/>
            </a:endParaRPr>
          </a:p>
        </p:txBody>
      </p:sp>
    </p:spTree>
    <p:extLst>
      <p:ext uri="{BB962C8B-B14F-4D97-AF65-F5344CB8AC3E}">
        <p14:creationId xmlns:p14="http://schemas.microsoft.com/office/powerpoint/2010/main" val="3666551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065" y="622152"/>
            <a:ext cx="10102852" cy="338554"/>
          </a:xfrm>
        </p:spPr>
        <p:txBody>
          <a:bodyPr>
            <a:normAutofit fontScale="90000"/>
          </a:bodyPr>
          <a:lstStyle/>
          <a:p>
            <a:r>
              <a:rPr lang="en-GB" dirty="0"/>
              <a:t>FULFIL demographics and baseline characteristics</a:t>
            </a:r>
            <a:br>
              <a:rPr lang="en-GB" dirty="0"/>
            </a:br>
            <a:endParaRPr lang="en-US" dirty="0"/>
          </a:p>
        </p:txBody>
      </p:sp>
      <p:sp>
        <p:nvSpPr>
          <p:cNvPr id="12" name="Text Placeholder 11"/>
          <p:cNvSpPr>
            <a:spLocks noGrp="1"/>
          </p:cNvSpPr>
          <p:nvPr>
            <p:ph type="body" sz="quarter" idx="14"/>
          </p:nvPr>
        </p:nvSpPr>
        <p:spPr/>
        <p:txBody>
          <a:bodyPr/>
          <a:lstStyle/>
          <a:p>
            <a:r>
              <a:rPr lang="en-GB" dirty="0"/>
              <a:t> </a:t>
            </a:r>
          </a:p>
        </p:txBody>
      </p:sp>
      <p:sp>
        <p:nvSpPr>
          <p:cNvPr id="10" name="Text Placeholder 9"/>
          <p:cNvSpPr>
            <a:spLocks noGrp="1"/>
          </p:cNvSpPr>
          <p:nvPr>
            <p:ph type="body" sz="quarter" idx="19"/>
          </p:nvPr>
        </p:nvSpPr>
        <p:spPr>
          <a:xfrm>
            <a:off x="2292735" y="6222264"/>
            <a:ext cx="8171182" cy="494321"/>
          </a:xfrm>
        </p:spPr>
        <p:txBody>
          <a:bodyPr/>
          <a:lstStyle/>
          <a:p>
            <a:pPr algn="r"/>
            <a:r>
              <a:rPr lang="en-US" sz="1000" dirty="0">
                <a:latin typeface="Calibri" panose="020F0502020204030204" pitchFamily="34" charset="0"/>
                <a:cs typeface="Calibri" panose="020F0502020204030204" pitchFamily="34" charset="0"/>
              </a:rPr>
              <a:t>Lipson DA </a:t>
            </a:r>
            <a:r>
              <a:rPr lang="en-US" sz="1000" i="1" dirty="0">
                <a:latin typeface="Calibri" panose="020F0502020204030204" pitchFamily="34" charset="0"/>
                <a:cs typeface="Calibri" panose="020F0502020204030204" pitchFamily="34" charset="0"/>
              </a:rPr>
              <a:t>et al</a:t>
            </a:r>
            <a:r>
              <a:rPr lang="en-US" sz="1000" dirty="0">
                <a:latin typeface="Calibri" panose="020F0502020204030204" pitchFamily="34" charset="0"/>
                <a:cs typeface="Calibri" panose="020F0502020204030204" pitchFamily="34" charset="0"/>
              </a:rPr>
              <a:t>. </a:t>
            </a:r>
            <a:r>
              <a:rPr lang="en-US" sz="1000" i="1" dirty="0">
                <a:latin typeface="Calibri" panose="020F0502020204030204" pitchFamily="34" charset="0"/>
                <a:cs typeface="Calibri" panose="020F0502020204030204" pitchFamily="34" charset="0"/>
              </a:rPr>
              <a:t>Am J </a:t>
            </a:r>
            <a:r>
              <a:rPr lang="en-US" sz="1000" i="1" dirty="0" err="1">
                <a:latin typeface="Calibri" panose="020F0502020204030204" pitchFamily="34" charset="0"/>
                <a:cs typeface="Calibri" panose="020F0502020204030204" pitchFamily="34" charset="0"/>
              </a:rPr>
              <a:t>Resp</a:t>
            </a:r>
            <a:r>
              <a:rPr lang="en-US" sz="1000" i="1" dirty="0">
                <a:latin typeface="Calibri" panose="020F0502020204030204" pitchFamily="34" charset="0"/>
                <a:cs typeface="Calibri" panose="020F0502020204030204" pitchFamily="34" charset="0"/>
              </a:rPr>
              <a:t> </a:t>
            </a:r>
            <a:r>
              <a:rPr lang="en-US" sz="1000" i="1" dirty="0" err="1">
                <a:latin typeface="Calibri" panose="020F0502020204030204" pitchFamily="34" charset="0"/>
                <a:cs typeface="Calibri" panose="020F0502020204030204" pitchFamily="34" charset="0"/>
              </a:rPr>
              <a:t>Crit</a:t>
            </a:r>
            <a:r>
              <a:rPr lang="en-US" sz="1000" i="1" dirty="0">
                <a:latin typeface="Calibri" panose="020F0502020204030204" pitchFamily="34" charset="0"/>
                <a:cs typeface="Calibri" panose="020F0502020204030204" pitchFamily="34" charset="0"/>
              </a:rPr>
              <a:t> Care. </a:t>
            </a:r>
            <a:r>
              <a:rPr lang="en-US" sz="1000" dirty="0">
                <a:latin typeface="Calibri" panose="020F0502020204030204" pitchFamily="34" charset="0"/>
                <a:cs typeface="Calibri" panose="020F0502020204030204" pitchFamily="34" charset="0"/>
              </a:rPr>
              <a:t>2017; 196:438–446.</a:t>
            </a:r>
          </a:p>
        </p:txBody>
      </p:sp>
      <p:sp>
        <p:nvSpPr>
          <p:cNvPr id="9" name="Text Placeholder 8"/>
          <p:cNvSpPr>
            <a:spLocks noGrp="1"/>
          </p:cNvSpPr>
          <p:nvPr>
            <p:ph type="body" sz="quarter" idx="18"/>
          </p:nvPr>
        </p:nvSpPr>
        <p:spPr>
          <a:xfrm>
            <a:off x="1893568" y="5760084"/>
            <a:ext cx="8445820" cy="276096"/>
          </a:xfrm>
        </p:spPr>
        <p:txBody>
          <a:bodyPr/>
          <a:lstStyle/>
          <a:p>
            <a:r>
              <a:rPr lang="en-US" baseline="30000"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CV risk factors included, but were not limited to hypertension, hypercholesterolaemia, coronary heart disease and diabetes mellitus.</a:t>
            </a:r>
          </a:p>
        </p:txBody>
      </p:sp>
      <p:graphicFrame>
        <p:nvGraphicFramePr>
          <p:cNvPr id="17" name="Group 152"/>
          <p:cNvGraphicFramePr>
            <a:graphicFrameLocks noGrp="1"/>
          </p:cNvGraphicFramePr>
          <p:nvPr/>
        </p:nvGraphicFramePr>
        <p:xfrm>
          <a:off x="1892302" y="1190625"/>
          <a:ext cx="8416923" cy="4448174"/>
        </p:xfrm>
        <a:graphic>
          <a:graphicData uri="http://schemas.openxmlformats.org/drawingml/2006/table">
            <a:tbl>
              <a:tblPr/>
              <a:tblGrid>
                <a:gridCol w="3711911">
                  <a:extLst>
                    <a:ext uri="{9D8B030D-6E8A-4147-A177-3AD203B41FA5}">
                      <a16:colId xmlns:a16="http://schemas.microsoft.com/office/drawing/2014/main" val="20000"/>
                    </a:ext>
                  </a:extLst>
                </a:gridCol>
                <a:gridCol w="2352506">
                  <a:extLst>
                    <a:ext uri="{9D8B030D-6E8A-4147-A177-3AD203B41FA5}">
                      <a16:colId xmlns:a16="http://schemas.microsoft.com/office/drawing/2014/main" val="20001"/>
                    </a:ext>
                  </a:extLst>
                </a:gridCol>
                <a:gridCol w="2352506">
                  <a:extLst>
                    <a:ext uri="{9D8B030D-6E8A-4147-A177-3AD203B41FA5}">
                      <a16:colId xmlns:a16="http://schemas.microsoft.com/office/drawing/2014/main" val="20002"/>
                    </a:ext>
                  </a:extLst>
                </a:gridCol>
              </a:tblGrid>
              <a:tr h="835039">
                <a:tc>
                  <a:txBody>
                    <a:bodyPr/>
                    <a:lstStyle/>
                    <a:p>
                      <a:pPr marL="0" marR="0" lvl="0" indent="0" algn="l" defTabSz="1744663" rtl="0" eaLnBrk="1" fontAlgn="base" latinLnBrk="0" hangingPunct="1">
                        <a:lnSpc>
                          <a:spcPct val="100000"/>
                        </a:lnSpc>
                        <a:spcBef>
                          <a:spcPct val="20000"/>
                        </a:spcBef>
                        <a:spcAft>
                          <a:spcPct val="0"/>
                        </a:spcAft>
                        <a:buClrTx/>
                        <a:buSzTx/>
                        <a:buFontTx/>
                        <a:buNone/>
                        <a:tabLst/>
                      </a:pPr>
                      <a:r>
                        <a:rPr kumimoji="0" lang="en-GB" sz="1400" b="1" i="0" u="none" strike="noStrike" cap="none" normalizeH="0" baseline="0" dirty="0">
                          <a:ln>
                            <a:noFill/>
                          </a:ln>
                          <a:solidFill>
                            <a:schemeClr val="bg1"/>
                          </a:solidFill>
                          <a:effectLst/>
                          <a:latin typeface="+mn-lt"/>
                        </a:rPr>
                        <a:t>Characteristic</a:t>
                      </a:r>
                    </a:p>
                  </a:txBody>
                  <a:tcPr marL="76371" marR="76371" marT="11143" marB="91440" anchor="ctr" horzOverflow="overflow">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1744663" rtl="0" eaLnBrk="1" fontAlgn="base" latinLnBrk="0" hangingPunct="1">
                        <a:lnSpc>
                          <a:spcPct val="100000"/>
                        </a:lnSpc>
                        <a:spcBef>
                          <a:spcPct val="20000"/>
                        </a:spcBef>
                        <a:spcAft>
                          <a:spcPct val="0"/>
                        </a:spcAft>
                        <a:buClrTx/>
                        <a:buSzTx/>
                        <a:buFontTx/>
                        <a:buNone/>
                        <a:tabLst/>
                        <a:defRPr/>
                      </a:pPr>
                      <a:r>
                        <a:rPr kumimoji="0" lang="en-GB" sz="1400" b="1" i="0" u="none" strike="noStrike" cap="none" normalizeH="0" baseline="0" dirty="0">
                          <a:ln>
                            <a:noFill/>
                          </a:ln>
                          <a:solidFill>
                            <a:schemeClr val="bg1"/>
                          </a:solidFill>
                          <a:effectLst/>
                          <a:latin typeface="+mn-lt"/>
                        </a:rPr>
                        <a:t>FF/UMEC/VI</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400" b="1" i="0" u="none" strike="noStrike" cap="none" normalizeH="0" baseline="0" dirty="0">
                          <a:ln>
                            <a:noFill/>
                          </a:ln>
                          <a:solidFill>
                            <a:schemeClr val="bg1"/>
                          </a:solidFill>
                          <a:effectLst/>
                          <a:latin typeface="+mn-lt"/>
                        </a:rPr>
                        <a:t>100/62.5/</a:t>
                      </a:r>
                      <a:r>
                        <a:rPr kumimoji="0" lang="en-GB" sz="1400" b="1" i="0" u="none" strike="noStrike" kern="1200" cap="none" normalizeH="0" baseline="0" dirty="0">
                          <a:ln>
                            <a:noFill/>
                          </a:ln>
                          <a:solidFill>
                            <a:schemeClr val="bg1"/>
                          </a:solidFill>
                          <a:effectLst/>
                          <a:latin typeface="+mn-lt"/>
                          <a:ea typeface="+mn-ea"/>
                          <a:cs typeface="+mn-cs"/>
                        </a:rPr>
                        <a:t>25</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400" b="1" i="0" u="none" strike="noStrike" kern="1200" cap="none" normalizeH="0" baseline="0" dirty="0">
                          <a:ln>
                            <a:noFill/>
                          </a:ln>
                          <a:solidFill>
                            <a:schemeClr val="bg1"/>
                          </a:solidFill>
                          <a:effectLst/>
                          <a:latin typeface="+mn-lt"/>
                          <a:ea typeface="+mn-ea"/>
                          <a:cs typeface="+mn-cs"/>
                        </a:rPr>
                        <a:t>(n=911)</a:t>
                      </a:r>
                    </a:p>
                  </a:txBody>
                  <a:tcPr marL="76371" marR="76371" marT="11143" marB="91440" anchor="b"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400" b="1" i="0" u="none" strike="noStrike" kern="1200" cap="none" normalizeH="0" baseline="0" dirty="0">
                          <a:ln>
                            <a:noFill/>
                          </a:ln>
                          <a:solidFill>
                            <a:schemeClr val="bg1"/>
                          </a:solidFill>
                          <a:effectLst/>
                          <a:latin typeface="+mn-lt"/>
                          <a:ea typeface="+mn-ea"/>
                          <a:cs typeface="+mn-cs"/>
                        </a:rPr>
                        <a:t>BUD/FOR</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400" b="1" i="0" u="none" strike="noStrike" kern="1200" cap="none" normalizeH="0" baseline="0" dirty="0">
                          <a:ln>
                            <a:noFill/>
                          </a:ln>
                          <a:solidFill>
                            <a:schemeClr val="bg1"/>
                          </a:solidFill>
                          <a:effectLst/>
                          <a:latin typeface="+mn-lt"/>
                          <a:ea typeface="+mn-ea"/>
                          <a:cs typeface="+mn-cs"/>
                        </a:rPr>
                        <a:t>400/12</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400" b="1" i="0" u="none" strike="noStrike" kern="1200" cap="none" normalizeH="0" baseline="0" dirty="0">
                          <a:ln>
                            <a:noFill/>
                          </a:ln>
                          <a:solidFill>
                            <a:schemeClr val="bg1"/>
                          </a:solidFill>
                          <a:effectLst/>
                          <a:latin typeface="+mn-lt"/>
                          <a:ea typeface="+mn-ea"/>
                          <a:cs typeface="+mn-cs"/>
                        </a:rPr>
                        <a:t>(n=899)</a:t>
                      </a:r>
                    </a:p>
                  </a:txBody>
                  <a:tcPr marL="76371" marR="76371" marT="11143" marB="91440" anchor="b" horzOverflow="overflow">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298465">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Mean age, years (SD)</a:t>
                      </a:r>
                    </a:p>
                  </a:txBody>
                  <a:tcPr marL="76371" marR="76371" marT="11143" marB="11143" anchor="ctr" horzOverflow="overflow">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64.2 (8.56)</a:t>
                      </a:r>
                    </a:p>
                  </a:txBody>
                  <a:tcPr marL="68580" marR="6858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63.7 (8.71)</a:t>
                      </a:r>
                    </a:p>
                  </a:txBody>
                  <a:tcPr marL="68580" marR="68580" marT="0" marB="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extLst>
                  <a:ext uri="{0D108BD9-81ED-4DB2-BD59-A6C34878D82A}">
                    <a16:rowId xmlns:a16="http://schemas.microsoft.com/office/drawing/2014/main" val="10001"/>
                  </a:ext>
                </a:extLst>
              </a:tr>
              <a:tr h="298465">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Female, n (%)</a:t>
                      </a:r>
                    </a:p>
                  </a:txBody>
                  <a:tcPr marL="76371" marR="76371" marT="11143" marB="11143" anchor="ctr" horzOverflow="overflow">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233 (26)</a:t>
                      </a:r>
                    </a:p>
                  </a:txBody>
                  <a:tcPr marL="68580" marR="6858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236 (26)</a:t>
                      </a:r>
                    </a:p>
                  </a:txBody>
                  <a:tcPr marL="68580" marR="68580" marT="0" marB="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extLst>
                  <a:ext uri="{0D108BD9-81ED-4DB2-BD59-A6C34878D82A}">
                    <a16:rowId xmlns:a16="http://schemas.microsoft.com/office/drawing/2014/main" val="10002"/>
                  </a:ext>
                </a:extLst>
              </a:tr>
              <a:tr h="298465">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Current smokers, n (%)</a:t>
                      </a:r>
                    </a:p>
                  </a:txBody>
                  <a:tcPr marL="76371" marR="76371" marT="11143" marB="11143" anchor="ctr" horzOverflow="overflow">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400 (44)</a:t>
                      </a:r>
                    </a:p>
                  </a:txBody>
                  <a:tcPr marL="68580" marR="6858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394 (44)</a:t>
                      </a:r>
                    </a:p>
                  </a:txBody>
                  <a:tcPr marL="68580" marR="68580" marT="0" marB="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extLst>
                  <a:ext uri="{0D108BD9-81ED-4DB2-BD59-A6C34878D82A}">
                    <a16:rowId xmlns:a16="http://schemas.microsoft.com/office/drawing/2014/main" val="10003"/>
                  </a:ext>
                </a:extLst>
              </a:tr>
              <a:tr h="298465">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Mean smoking pack-years (SD)</a:t>
                      </a:r>
                    </a:p>
                  </a:txBody>
                  <a:tcPr marL="76371" marR="76371" marT="11143" marB="11143" anchor="ctr" horzOverflow="overflow">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39.5 (21.87)</a:t>
                      </a:r>
                    </a:p>
                  </a:txBody>
                  <a:tcPr marL="68580" marR="6858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39.2 (22.15)</a:t>
                      </a:r>
                    </a:p>
                  </a:txBody>
                  <a:tcPr marL="68580" marR="68580" marT="0" marB="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extLst>
                  <a:ext uri="{0D108BD9-81ED-4DB2-BD59-A6C34878D82A}">
                    <a16:rowId xmlns:a16="http://schemas.microsoft.com/office/drawing/2014/main" val="2792000021"/>
                  </a:ext>
                </a:extLst>
              </a:tr>
              <a:tr h="298465">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CV risk factors,</a:t>
                      </a:r>
                      <a:r>
                        <a:rPr lang="en-US" sz="1400" b="0" baseline="30000" dirty="0">
                          <a:solidFill>
                            <a:schemeClr val="tx1"/>
                          </a:solidFill>
                        </a:rPr>
                        <a:t>†</a:t>
                      </a:r>
                      <a:r>
                        <a:rPr kumimoji="0" lang="en-US" sz="1400" b="0" i="0" u="none" strike="noStrike" cap="none" normalizeH="0" baseline="0" dirty="0">
                          <a:ln>
                            <a:noFill/>
                          </a:ln>
                          <a:solidFill>
                            <a:schemeClr val="tx1"/>
                          </a:solidFill>
                          <a:effectLst/>
                          <a:latin typeface="+mn-lt"/>
                          <a:cs typeface="Times New Roman" pitchFamily="18" charset="0"/>
                        </a:rPr>
                        <a:t> n (%)</a:t>
                      </a:r>
                    </a:p>
                  </a:txBody>
                  <a:tcPr marL="76371" marR="76371" marT="11143" marB="11143" anchor="ctr" horzOverflow="overflow">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defRPr/>
                      </a:pPr>
                      <a:r>
                        <a:rPr kumimoji="0" lang="en-GB" sz="1400" b="0" i="0" u="none" strike="noStrike" kern="1200" cap="none" normalizeH="0" baseline="0" dirty="0">
                          <a:ln>
                            <a:noFill/>
                          </a:ln>
                          <a:solidFill>
                            <a:schemeClr val="tx1"/>
                          </a:solidFill>
                          <a:effectLst/>
                          <a:latin typeface="+mn-lt"/>
                          <a:ea typeface="+mn-ea"/>
                          <a:cs typeface="Times New Roman" pitchFamily="18" charset="0"/>
                        </a:rPr>
                        <a:t>599 (66)</a:t>
                      </a:r>
                    </a:p>
                  </a:txBody>
                  <a:tcPr marL="68580" marR="6858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defRPr/>
                      </a:pPr>
                      <a:r>
                        <a:rPr kumimoji="0" lang="en-GB" sz="1400" b="0" i="0" u="none" strike="noStrike" kern="1200" cap="none" normalizeH="0" baseline="0" dirty="0">
                          <a:ln>
                            <a:noFill/>
                          </a:ln>
                          <a:solidFill>
                            <a:schemeClr val="tx1"/>
                          </a:solidFill>
                          <a:effectLst/>
                          <a:latin typeface="+mn-lt"/>
                          <a:ea typeface="+mn-ea"/>
                          <a:cs typeface="Times New Roman" pitchFamily="18" charset="0"/>
                        </a:rPr>
                        <a:t>602 (67)</a:t>
                      </a:r>
                    </a:p>
                  </a:txBody>
                  <a:tcPr marL="68580" marR="68580" marT="0" marB="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extLst>
                  <a:ext uri="{0D108BD9-81ED-4DB2-BD59-A6C34878D82A}">
                    <a16:rowId xmlns:a16="http://schemas.microsoft.com/office/drawing/2014/main" val="2390606175"/>
                  </a:ext>
                </a:extLst>
              </a:tr>
              <a:tr h="92695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Moderate/severe COPD exacerbation in previous 12 months, n (%)</a:t>
                      </a:r>
                    </a:p>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1</a:t>
                      </a:r>
                    </a:p>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≥2</a:t>
                      </a:r>
                    </a:p>
                  </a:txBody>
                  <a:tcPr marL="76371" marR="76371" marT="11143" marB="11143" anchor="ctr" horzOverflow="overflow">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br>
                        <a:rPr kumimoji="0" lang="en-GB" sz="1400" b="0" i="0" u="none" strike="noStrike" kern="1200" cap="none" normalizeH="0" baseline="0" dirty="0">
                          <a:ln>
                            <a:noFill/>
                          </a:ln>
                          <a:solidFill>
                            <a:schemeClr val="tx1"/>
                          </a:solidFill>
                          <a:effectLst/>
                          <a:latin typeface="+mn-lt"/>
                          <a:ea typeface="+mn-ea"/>
                          <a:cs typeface="Times New Roman" pitchFamily="18" charset="0"/>
                        </a:rPr>
                      </a:br>
                      <a:endParaRPr kumimoji="0" lang="en-GB" sz="1400" b="0" i="0" u="none" strike="noStrike" kern="1200" cap="none" normalizeH="0" baseline="0" dirty="0">
                        <a:ln>
                          <a:noFill/>
                        </a:ln>
                        <a:solidFill>
                          <a:schemeClr val="tx1"/>
                        </a:solidFill>
                        <a:effectLst/>
                        <a:latin typeface="+mn-lt"/>
                        <a:ea typeface="+mn-ea"/>
                        <a:cs typeface="Times New Roman" pitchFamily="18" charset="0"/>
                      </a:endParaRPr>
                    </a:p>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252 (28)</a:t>
                      </a:r>
                    </a:p>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346 (38)</a:t>
                      </a:r>
                    </a:p>
                  </a:txBody>
                  <a:tcPr marL="68580" marR="6858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endParaRPr kumimoji="0" lang="en-GB" sz="1400" b="0" i="0" u="none" strike="noStrike" kern="1200" cap="none" normalizeH="0" baseline="0" dirty="0">
                        <a:ln>
                          <a:noFill/>
                        </a:ln>
                        <a:solidFill>
                          <a:schemeClr val="tx1"/>
                        </a:solidFill>
                        <a:effectLst/>
                        <a:latin typeface="+mn-lt"/>
                        <a:ea typeface="+mn-ea"/>
                        <a:cs typeface="Times New Roman" pitchFamily="18" charset="0"/>
                      </a:endParaRPr>
                    </a:p>
                    <a:p>
                      <a:pPr marL="0" marR="0" lvl="0" indent="0" algn="ctr" defTabSz="1189038" rtl="0" eaLnBrk="1" fontAlgn="base" latinLnBrk="0" hangingPunct="1">
                        <a:lnSpc>
                          <a:spcPct val="90000"/>
                        </a:lnSpc>
                        <a:spcBef>
                          <a:spcPts val="0"/>
                        </a:spcBef>
                        <a:spcAft>
                          <a:spcPct val="0"/>
                        </a:spcAft>
                        <a:buClrTx/>
                        <a:buSzTx/>
                        <a:buFontTx/>
                        <a:buNone/>
                        <a:tabLst/>
                      </a:pPr>
                      <a:endParaRPr kumimoji="0" lang="en-GB" sz="1400" b="0" i="0" u="none" strike="noStrike" kern="1200" cap="none" normalizeH="0" baseline="0" dirty="0">
                        <a:ln>
                          <a:noFill/>
                        </a:ln>
                        <a:solidFill>
                          <a:schemeClr val="tx1"/>
                        </a:solidFill>
                        <a:effectLst/>
                        <a:latin typeface="+mn-lt"/>
                        <a:ea typeface="+mn-ea"/>
                        <a:cs typeface="Times New Roman" pitchFamily="18" charset="0"/>
                      </a:endParaRPr>
                    </a:p>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253 (28)</a:t>
                      </a:r>
                    </a:p>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329 (37)</a:t>
                      </a:r>
                    </a:p>
                  </a:txBody>
                  <a:tcPr marL="68580" marR="68580" marT="0" marB="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extLst>
                  <a:ext uri="{0D108BD9-81ED-4DB2-BD59-A6C34878D82A}">
                    <a16:rowId xmlns:a16="http://schemas.microsoft.com/office/drawing/2014/main" val="10005"/>
                  </a:ext>
                </a:extLst>
              </a:tr>
              <a:tr h="298465">
                <a:tc>
                  <a:txBody>
                    <a:bodyPr/>
                    <a:lstStyle/>
                    <a:p>
                      <a:pPr marL="0" marR="0" lvl="0" indent="0" algn="l" defTabSz="1189038" rtl="0" eaLnBrk="1" fontAlgn="base" latinLnBrk="0" hangingPunct="1">
                        <a:lnSpc>
                          <a:spcPct val="100000"/>
                        </a:lnSpc>
                        <a:spcBef>
                          <a:spcPts val="0"/>
                        </a:spcBef>
                        <a:spcAft>
                          <a:spcPct val="0"/>
                        </a:spcAft>
                        <a:buClrTx/>
                        <a:buSzTx/>
                        <a:buFontTx/>
                        <a:buNone/>
                        <a:tabLst/>
                        <a:defRPr/>
                      </a:pPr>
                      <a:r>
                        <a:rPr kumimoji="0" lang="en-US" sz="1400" b="0" i="0" u="none" strike="noStrike" cap="none" normalizeH="0" baseline="0" dirty="0">
                          <a:ln>
                            <a:noFill/>
                          </a:ln>
                          <a:solidFill>
                            <a:schemeClr val="tx1"/>
                          </a:solidFill>
                          <a:effectLst/>
                          <a:latin typeface="+mn-lt"/>
                          <a:cs typeface="Times New Roman" pitchFamily="18" charset="0"/>
                        </a:rPr>
                        <a:t>History of pneumonia, n (%)</a:t>
                      </a:r>
                    </a:p>
                  </a:txBody>
                  <a:tcPr marL="76371" marR="76371" marT="11143" marB="11143" anchor="ctr" horzOverflow="overflow">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87 (10)</a:t>
                      </a:r>
                    </a:p>
                  </a:txBody>
                  <a:tcPr marL="68580" marR="6858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GB" sz="1400" b="0" i="0" u="none" strike="noStrike" kern="1200" cap="none" normalizeH="0" baseline="0" dirty="0">
                          <a:ln>
                            <a:noFill/>
                          </a:ln>
                          <a:solidFill>
                            <a:schemeClr val="tx1"/>
                          </a:solidFill>
                          <a:effectLst/>
                          <a:latin typeface="+mn-lt"/>
                          <a:ea typeface="+mn-ea"/>
                          <a:cs typeface="Times New Roman" pitchFamily="18" charset="0"/>
                        </a:rPr>
                        <a:t>99 (11)</a:t>
                      </a:r>
                    </a:p>
                  </a:txBody>
                  <a:tcPr marL="68580" marR="68580" marT="0" marB="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extLst>
                  <a:ext uri="{0D108BD9-81ED-4DB2-BD59-A6C34878D82A}">
                    <a16:rowId xmlns:a16="http://schemas.microsoft.com/office/drawing/2014/main" val="3649630836"/>
                  </a:ext>
                </a:extLst>
              </a:tr>
              <a:tr h="298465">
                <a:tc>
                  <a:txBody>
                    <a:bodyPr/>
                    <a:lstStyle/>
                    <a:p>
                      <a:pPr marL="0" marR="0" lvl="0" indent="0" algn="l" defTabSz="1189038" rtl="0" eaLnBrk="1" fontAlgn="base" latinLnBrk="0" hangingPunct="1">
                        <a:lnSpc>
                          <a:spcPct val="100000"/>
                        </a:lnSpc>
                        <a:spcBef>
                          <a:spcPts val="0"/>
                        </a:spcBef>
                        <a:spcAft>
                          <a:spcPct val="0"/>
                        </a:spcAft>
                        <a:buClrTx/>
                        <a:buSzTx/>
                        <a:buFontTx/>
                        <a:buNone/>
                        <a:tabLst/>
                        <a:defRPr/>
                      </a:pPr>
                      <a:r>
                        <a:rPr kumimoji="0" lang="en-US" sz="1400" b="0" i="0" u="none" strike="noStrike" cap="none" normalizeH="0" baseline="0" dirty="0">
                          <a:ln>
                            <a:noFill/>
                          </a:ln>
                          <a:solidFill>
                            <a:schemeClr val="tx1"/>
                          </a:solidFill>
                          <a:effectLst/>
                          <a:latin typeface="+mn-lt"/>
                          <a:cs typeface="Times New Roman" pitchFamily="18" charset="0"/>
                        </a:rPr>
                        <a:t>FEV</a:t>
                      </a:r>
                      <a:r>
                        <a:rPr kumimoji="0" lang="en-US" sz="1400" b="0" i="0" u="none" strike="noStrike" cap="none" normalizeH="0" baseline="-25000" dirty="0">
                          <a:ln>
                            <a:noFill/>
                          </a:ln>
                          <a:solidFill>
                            <a:schemeClr val="tx1"/>
                          </a:solidFill>
                          <a:effectLst/>
                          <a:latin typeface="+mn-lt"/>
                          <a:cs typeface="Times New Roman" pitchFamily="18" charset="0"/>
                        </a:rPr>
                        <a:t>1</a:t>
                      </a:r>
                      <a:r>
                        <a:rPr kumimoji="0" lang="en-US" sz="1400" b="0" i="0" u="none" strike="noStrike" cap="none" normalizeH="0" baseline="0" dirty="0">
                          <a:ln>
                            <a:noFill/>
                          </a:ln>
                          <a:solidFill>
                            <a:schemeClr val="tx1"/>
                          </a:solidFill>
                          <a:effectLst/>
                          <a:latin typeface="+mn-lt"/>
                          <a:cs typeface="Times New Roman" pitchFamily="18" charset="0"/>
                        </a:rPr>
                        <a:t> absolute, L (SD)</a:t>
                      </a:r>
                    </a:p>
                  </a:txBody>
                  <a:tcPr marL="76371" marR="76371" marT="11143" marB="11143" anchor="ctr" horzOverflow="overflow">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tc>
                  <a:txBody>
                    <a:bodyPr/>
                    <a:lstStyle/>
                    <a:p>
                      <a:pPr marL="0" marR="0" algn="ctr">
                        <a:spcBef>
                          <a:spcPts val="0"/>
                        </a:spcBef>
                        <a:spcAft>
                          <a:spcPts val="0"/>
                        </a:spcAft>
                      </a:pPr>
                      <a:r>
                        <a:rPr lang="en-GB" sz="1400" b="0" dirty="0">
                          <a:solidFill>
                            <a:schemeClr val="tx1"/>
                          </a:solidFill>
                        </a:rPr>
                        <a:t>1.349 (0.46)</a:t>
                      </a:r>
                      <a:endParaRPr lang="en-US" sz="1400" b="0" dirty="0">
                        <a:solidFill>
                          <a:schemeClr val="tx1"/>
                        </a:solidFill>
                        <a:latin typeface="Times New Roman"/>
                        <a:ea typeface="Times New Roman"/>
                      </a:endParaRPr>
                    </a:p>
                  </a:txBody>
                  <a:tcPr marL="68580" marR="6858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tc>
                  <a:txBody>
                    <a:bodyPr/>
                    <a:lstStyle/>
                    <a:p>
                      <a:pPr marL="0" marR="0" algn="ctr">
                        <a:spcBef>
                          <a:spcPts val="0"/>
                        </a:spcBef>
                        <a:spcAft>
                          <a:spcPts val="0"/>
                        </a:spcAft>
                      </a:pPr>
                      <a:r>
                        <a:rPr lang="en-GB" sz="1400" b="0" dirty="0">
                          <a:solidFill>
                            <a:schemeClr val="tx1"/>
                          </a:solidFill>
                        </a:rPr>
                        <a:t>1.339 (0.48) </a:t>
                      </a:r>
                      <a:endParaRPr lang="en-US" sz="1400" b="0" dirty="0">
                        <a:solidFill>
                          <a:schemeClr val="tx1"/>
                        </a:solidFill>
                        <a:latin typeface="Times New Roman"/>
                        <a:ea typeface="Times New Roman"/>
                      </a:endParaRPr>
                    </a:p>
                  </a:txBody>
                  <a:tcPr marL="68580" marR="68580" marT="0" marB="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DEFED"/>
                    </a:solidFill>
                  </a:tcPr>
                </a:tc>
                <a:extLst>
                  <a:ext uri="{0D108BD9-81ED-4DB2-BD59-A6C34878D82A}">
                    <a16:rowId xmlns:a16="http://schemas.microsoft.com/office/drawing/2014/main" val="1278779533"/>
                  </a:ext>
                </a:extLst>
              </a:tr>
              <a:tr h="298465">
                <a:tc>
                  <a:txBody>
                    <a:bodyPr/>
                    <a:lstStyle/>
                    <a:p>
                      <a:pPr marL="0" marR="0" lvl="0" indent="0" algn="l" defTabSz="1189038" rtl="0" eaLnBrk="1" fontAlgn="base" latinLnBrk="0" hangingPunct="1">
                        <a:lnSpc>
                          <a:spcPct val="100000"/>
                        </a:lnSpc>
                        <a:spcBef>
                          <a:spcPts val="0"/>
                        </a:spcBef>
                        <a:spcAft>
                          <a:spcPct val="0"/>
                        </a:spcAft>
                        <a:buClrTx/>
                        <a:buSzTx/>
                        <a:buFontTx/>
                        <a:buNone/>
                        <a:tabLst/>
                        <a:defRPr/>
                      </a:pPr>
                      <a:r>
                        <a:rPr kumimoji="0" lang="en-US" sz="1400" b="0" i="0" u="none" strike="noStrike" cap="none" normalizeH="0" baseline="0" dirty="0">
                          <a:ln>
                            <a:noFill/>
                          </a:ln>
                          <a:solidFill>
                            <a:schemeClr val="tx1"/>
                          </a:solidFill>
                          <a:effectLst/>
                          <a:latin typeface="+mn-lt"/>
                          <a:cs typeface="Times New Roman" pitchFamily="18" charset="0"/>
                        </a:rPr>
                        <a:t>FEV</a:t>
                      </a:r>
                      <a:r>
                        <a:rPr kumimoji="0" lang="en-US" sz="1400" b="0" i="0" u="none" strike="noStrike" cap="none" normalizeH="0" baseline="-25000" dirty="0">
                          <a:ln>
                            <a:noFill/>
                          </a:ln>
                          <a:solidFill>
                            <a:schemeClr val="tx1"/>
                          </a:solidFill>
                          <a:effectLst/>
                          <a:latin typeface="+mn-lt"/>
                          <a:cs typeface="Times New Roman" pitchFamily="18" charset="0"/>
                        </a:rPr>
                        <a:t>1</a:t>
                      </a:r>
                      <a:r>
                        <a:rPr kumimoji="0" lang="en-US" sz="1400" b="0" i="0" u="none" strike="noStrike" cap="none" normalizeH="0" baseline="0" dirty="0">
                          <a:ln>
                            <a:noFill/>
                          </a:ln>
                          <a:solidFill>
                            <a:schemeClr val="tx1"/>
                          </a:solidFill>
                          <a:effectLst/>
                          <a:latin typeface="+mn-lt"/>
                          <a:cs typeface="Times New Roman" pitchFamily="18" charset="0"/>
                        </a:rPr>
                        <a:t> predicted, % (SD)</a:t>
                      </a:r>
                    </a:p>
                  </a:txBody>
                  <a:tcPr marL="76371" marR="76371" marT="11143" marB="11143" anchor="ctr" horzOverflow="overflow">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tc>
                  <a:txBody>
                    <a:bodyPr/>
                    <a:lstStyle/>
                    <a:p>
                      <a:pPr marL="0" marR="0" algn="ctr">
                        <a:spcBef>
                          <a:spcPts val="0"/>
                        </a:spcBef>
                        <a:spcAft>
                          <a:spcPts val="0"/>
                        </a:spcAft>
                      </a:pPr>
                      <a:r>
                        <a:rPr lang="en-GB" sz="1400" b="0" dirty="0">
                          <a:solidFill>
                            <a:schemeClr val="tx1"/>
                          </a:solidFill>
                        </a:rPr>
                        <a:t>45.5 (12.97)</a:t>
                      </a:r>
                      <a:endParaRPr lang="en-US" sz="1400" b="0" dirty="0">
                        <a:solidFill>
                          <a:schemeClr val="tx1"/>
                        </a:solidFill>
                        <a:latin typeface="Times New Roman"/>
                        <a:ea typeface="Times New Roman"/>
                      </a:endParaRPr>
                    </a:p>
                  </a:txBody>
                  <a:tcPr marL="68580" marR="6858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tc>
                  <a:txBody>
                    <a:bodyPr/>
                    <a:lstStyle/>
                    <a:p>
                      <a:pPr marL="0" marR="0" algn="ctr">
                        <a:spcBef>
                          <a:spcPts val="0"/>
                        </a:spcBef>
                        <a:spcAft>
                          <a:spcPts val="0"/>
                        </a:spcAft>
                      </a:pPr>
                      <a:r>
                        <a:rPr lang="en-GB" sz="1400" b="0" dirty="0">
                          <a:solidFill>
                            <a:schemeClr val="tx1"/>
                          </a:solidFill>
                        </a:rPr>
                        <a:t>45.1 (13.64)</a:t>
                      </a:r>
                      <a:endParaRPr lang="en-US" sz="1400" b="0" dirty="0">
                        <a:solidFill>
                          <a:schemeClr val="tx1"/>
                        </a:solidFill>
                        <a:latin typeface="Times New Roman"/>
                        <a:ea typeface="Times New Roman"/>
                      </a:endParaRPr>
                    </a:p>
                  </a:txBody>
                  <a:tcPr marL="68580" marR="68580" marT="0" marB="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lnTlToBr>
                      <a:noFill/>
                    </a:lnTlToBr>
                    <a:lnBlToTr>
                      <a:noFill/>
                    </a:lnBlToTr>
                    <a:solidFill>
                      <a:srgbClr val="FAD3CD"/>
                    </a:solidFill>
                  </a:tcPr>
                </a:tc>
                <a:extLst>
                  <a:ext uri="{0D108BD9-81ED-4DB2-BD59-A6C34878D82A}">
                    <a16:rowId xmlns:a16="http://schemas.microsoft.com/office/drawing/2014/main" val="1459336156"/>
                  </a:ext>
                </a:extLst>
              </a:tr>
              <a:tr h="298465">
                <a:tc>
                  <a:txBody>
                    <a:bodyPr/>
                    <a:lstStyle/>
                    <a:p>
                      <a:pPr marL="0" marR="0" lvl="0" indent="0" algn="l" defTabSz="1189038" rtl="0" eaLnBrk="1" fontAlgn="base" latinLnBrk="0" hangingPunct="1">
                        <a:lnSpc>
                          <a:spcPct val="100000"/>
                        </a:lnSpc>
                        <a:spcBef>
                          <a:spcPts val="0"/>
                        </a:spcBef>
                        <a:spcAft>
                          <a:spcPct val="0"/>
                        </a:spcAft>
                        <a:buClrTx/>
                        <a:buSzTx/>
                        <a:buFontTx/>
                        <a:buNone/>
                        <a:tabLst/>
                        <a:defRPr/>
                      </a:pPr>
                      <a:r>
                        <a:rPr kumimoji="0" lang="en-US" sz="1400" b="0" i="0" u="none" strike="noStrike" cap="none" normalizeH="0" baseline="0" dirty="0">
                          <a:ln>
                            <a:noFill/>
                          </a:ln>
                          <a:solidFill>
                            <a:schemeClr val="tx1"/>
                          </a:solidFill>
                          <a:effectLst/>
                          <a:latin typeface="+mn-lt"/>
                          <a:cs typeface="Times New Roman" pitchFamily="18" charset="0"/>
                        </a:rPr>
                        <a:t>Reversibility, % (SD)</a:t>
                      </a:r>
                    </a:p>
                  </a:txBody>
                  <a:tcPr marL="76371" marR="76371" marT="11143" marB="11143" anchor="ctr" horzOverflow="overflow">
                    <a:lnL w="12700"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DEFED"/>
                    </a:solidFill>
                  </a:tcPr>
                </a:tc>
                <a:tc>
                  <a:txBody>
                    <a:bodyPr/>
                    <a:lstStyle/>
                    <a:p>
                      <a:pPr marL="0" marR="0" algn="ctr">
                        <a:spcBef>
                          <a:spcPts val="0"/>
                        </a:spcBef>
                        <a:spcAft>
                          <a:spcPts val="0"/>
                        </a:spcAft>
                      </a:pPr>
                      <a:r>
                        <a:rPr lang="en-GB" sz="1400" b="0" dirty="0">
                          <a:solidFill>
                            <a:schemeClr val="tx1"/>
                          </a:solidFill>
                        </a:rPr>
                        <a:t>8.17 (11.13)</a:t>
                      </a:r>
                      <a:endParaRPr lang="en-US" sz="1400" b="0" dirty="0">
                        <a:solidFill>
                          <a:schemeClr val="tx1"/>
                        </a:solidFill>
                        <a:latin typeface="Times New Roman"/>
                        <a:ea typeface="Times New Roman"/>
                      </a:endParaRPr>
                    </a:p>
                  </a:txBody>
                  <a:tcPr marL="68580" marR="68580" marT="0"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DEFED"/>
                    </a:solidFill>
                  </a:tcPr>
                </a:tc>
                <a:tc>
                  <a:txBody>
                    <a:bodyPr/>
                    <a:lstStyle/>
                    <a:p>
                      <a:pPr marL="0" marR="0" algn="ctr">
                        <a:spcBef>
                          <a:spcPts val="0"/>
                        </a:spcBef>
                        <a:spcAft>
                          <a:spcPts val="0"/>
                        </a:spcAft>
                      </a:pPr>
                      <a:r>
                        <a:rPr lang="en-GB" sz="1400" b="0" dirty="0">
                          <a:solidFill>
                            <a:schemeClr val="tx1"/>
                          </a:solidFill>
                        </a:rPr>
                        <a:t>9.20 (11.97)</a:t>
                      </a:r>
                      <a:endParaRPr lang="en-US" sz="1400" b="0" dirty="0">
                        <a:solidFill>
                          <a:schemeClr val="tx1"/>
                        </a:solidFill>
                        <a:latin typeface="Times New Roman"/>
                        <a:ea typeface="Times New Roman"/>
                      </a:endParaRPr>
                    </a:p>
                  </a:txBody>
                  <a:tcPr marL="68580" marR="68580" marT="0" marB="0" anchor="ctr">
                    <a:lnL w="952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solidFill>
                      <a:srgbClr val="FDEFED"/>
                    </a:solidFill>
                  </a:tcPr>
                </a:tc>
                <a:extLst>
                  <a:ext uri="{0D108BD9-81ED-4DB2-BD59-A6C34878D82A}">
                    <a16:rowId xmlns:a16="http://schemas.microsoft.com/office/drawing/2014/main" val="2364836391"/>
                  </a:ext>
                </a:extLst>
              </a:tr>
            </a:tbl>
          </a:graphicData>
        </a:graphic>
      </p:graphicFrame>
      <p:sp>
        <p:nvSpPr>
          <p:cNvPr id="3" name="Rectangle 2">
            <a:extLst>
              <a:ext uri="{FF2B5EF4-FFF2-40B4-BE49-F238E27FC236}">
                <a16:creationId xmlns:a16="http://schemas.microsoft.com/office/drawing/2014/main" id="{8F6E011F-C5C8-E4CA-6E31-D1C83932C12C}"/>
              </a:ext>
            </a:extLst>
          </p:cNvPr>
          <p:cNvSpPr/>
          <p:nvPr/>
        </p:nvSpPr>
        <p:spPr bwMode="auto">
          <a:xfrm>
            <a:off x="1510748" y="3975653"/>
            <a:ext cx="8953169" cy="429370"/>
          </a:xfrm>
          <a:prstGeom prst="rect">
            <a:avLst/>
          </a:prstGeom>
          <a:noFill/>
          <a:ln w="28575">
            <a:solidFill>
              <a:schemeClr val="accent3"/>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fr-FR" sz="1600" kern="0" dirty="0" err="1">
              <a:solidFill>
                <a:schemeClr val="tx1"/>
              </a:solidFill>
            </a:endParaRPr>
          </a:p>
        </p:txBody>
      </p:sp>
      <p:sp>
        <p:nvSpPr>
          <p:cNvPr id="4" name="Rectangle 3">
            <a:extLst>
              <a:ext uri="{FF2B5EF4-FFF2-40B4-BE49-F238E27FC236}">
                <a16:creationId xmlns:a16="http://schemas.microsoft.com/office/drawing/2014/main" id="{B1B397C9-AA9B-E1F6-0EA9-1E59C28C5FA6}"/>
              </a:ext>
            </a:extLst>
          </p:cNvPr>
          <p:cNvSpPr/>
          <p:nvPr/>
        </p:nvSpPr>
        <p:spPr>
          <a:xfrm>
            <a:off x="10617200" y="3928728"/>
            <a:ext cx="1123696" cy="523220"/>
          </a:xfrm>
          <a:prstGeom prst="rect">
            <a:avLst/>
          </a:prstGeom>
        </p:spPr>
        <p:txBody>
          <a:bodyPr wrap="square">
            <a:spAutoFit/>
          </a:bodyPr>
          <a:lstStyle/>
          <a:p>
            <a:pPr algn="ctr" defTabSz="914400">
              <a:defRPr/>
            </a:pPr>
            <a:r>
              <a:rPr lang="fr-FR" sz="1400" b="1" dirty="0">
                <a:solidFill>
                  <a:srgbClr val="00B050"/>
                </a:solidFill>
                <a:latin typeface="Arial"/>
                <a:ea typeface="Times New Roman" pitchFamily="18" charset="0"/>
                <a:cs typeface="Arial" charset="0"/>
              </a:rPr>
              <a:t>65 – 66% of patients</a:t>
            </a:r>
            <a:endParaRPr lang="en-GB" sz="1200" dirty="0">
              <a:solidFill>
                <a:srgbClr val="00B050"/>
              </a:solidFill>
              <a:latin typeface="Arial"/>
              <a:ea typeface="Times New Roman" pitchFamily="18" charset="0"/>
              <a:cs typeface="Arial" charset="0"/>
            </a:endParaRPr>
          </a:p>
        </p:txBody>
      </p:sp>
      <p:sp>
        <p:nvSpPr>
          <p:cNvPr id="5" name="Rectangle 4">
            <a:extLst>
              <a:ext uri="{FF2B5EF4-FFF2-40B4-BE49-F238E27FC236}">
                <a16:creationId xmlns:a16="http://schemas.microsoft.com/office/drawing/2014/main" id="{A8505A1C-6A37-18E9-3CF7-1CE2BE01A9BD}"/>
              </a:ext>
            </a:extLst>
          </p:cNvPr>
          <p:cNvSpPr/>
          <p:nvPr/>
        </p:nvSpPr>
        <p:spPr bwMode="auto">
          <a:xfrm>
            <a:off x="1510748" y="5055387"/>
            <a:ext cx="8953169" cy="330429"/>
          </a:xfrm>
          <a:prstGeom prst="rect">
            <a:avLst/>
          </a:prstGeom>
          <a:noFill/>
          <a:ln w="28575">
            <a:solidFill>
              <a:schemeClr val="accent3"/>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fr-FR" sz="1600" kern="0" dirty="0" err="1">
              <a:solidFill>
                <a:schemeClr val="tx1"/>
              </a:solidFill>
            </a:endParaRPr>
          </a:p>
        </p:txBody>
      </p:sp>
      <p:sp>
        <p:nvSpPr>
          <p:cNvPr id="6" name="Slide Number Placeholder 4">
            <a:extLst>
              <a:ext uri="{FF2B5EF4-FFF2-40B4-BE49-F238E27FC236}">
                <a16:creationId xmlns:a16="http://schemas.microsoft.com/office/drawing/2014/main" id="{0659DEC8-B532-656E-5786-C053C598D89D}"/>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6</a:t>
            </a:fld>
            <a:endParaRPr lang="en-GB" sz="1000" dirty="0">
              <a:solidFill>
                <a:srgbClr val="000000"/>
              </a:solidFill>
              <a:latin typeface="Arial"/>
              <a:cs typeface="Noto Sans"/>
            </a:endParaRPr>
          </a:p>
        </p:txBody>
      </p:sp>
    </p:spTree>
    <p:extLst>
      <p:ext uri="{BB962C8B-B14F-4D97-AF65-F5344CB8AC3E}">
        <p14:creationId xmlns:p14="http://schemas.microsoft.com/office/powerpoint/2010/main" val="2155205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546" y="1125285"/>
            <a:ext cx="10102852" cy="338554"/>
          </a:xfrm>
        </p:spPr>
        <p:txBody>
          <a:bodyPr vert="horz" lIns="0" tIns="0" rIns="0" bIns="720000" rtlCol="0" anchor="b" anchorCtr="0">
            <a:noAutofit/>
          </a:bodyPr>
          <a:lstStyle/>
          <a:p>
            <a:r>
              <a:rPr lang="en-US" sz="2400" dirty="0"/>
              <a:t>Once-daily single-inhaler triple therapy </a:t>
            </a:r>
            <a:r>
              <a:rPr lang="en-GB" sz="2400" dirty="0"/>
              <a:t>(FF/UMEC/VI) in COPD </a:t>
            </a:r>
            <a:r>
              <a:rPr lang="en-US" sz="2400" dirty="0"/>
              <a:t>significantly improved lung function versus BD </a:t>
            </a:r>
            <a:r>
              <a:rPr lang="en-GB" sz="2400" dirty="0"/>
              <a:t>BUD/FOR</a:t>
            </a:r>
          </a:p>
        </p:txBody>
      </p:sp>
      <p:sp>
        <p:nvSpPr>
          <p:cNvPr id="35" name="object 4">
            <a:extLst>
              <a:ext uri="{FF2B5EF4-FFF2-40B4-BE49-F238E27FC236}">
                <a16:creationId xmlns:a16="http://schemas.microsoft.com/office/drawing/2014/main" id="{EA06FD04-0F2A-1656-28D7-85ACEF4E21DB}"/>
              </a:ext>
            </a:extLst>
          </p:cNvPr>
          <p:cNvSpPr/>
          <p:nvPr/>
        </p:nvSpPr>
        <p:spPr>
          <a:xfrm>
            <a:off x="1864869" y="2288193"/>
            <a:ext cx="245745" cy="719455"/>
          </a:xfrm>
          <a:custGeom>
            <a:avLst/>
            <a:gdLst/>
            <a:ahLst/>
            <a:cxnLst/>
            <a:rect l="l" t="t" r="r" b="b"/>
            <a:pathLst>
              <a:path w="245744" h="719455">
                <a:moveTo>
                  <a:pt x="120904" y="0"/>
                </a:moveTo>
                <a:lnTo>
                  <a:pt x="97805" y="5099"/>
                </a:lnTo>
                <a:lnTo>
                  <a:pt x="79184" y="18796"/>
                </a:lnTo>
                <a:lnTo>
                  <a:pt x="66754" y="38683"/>
                </a:lnTo>
                <a:lnTo>
                  <a:pt x="62230" y="62357"/>
                </a:lnTo>
                <a:lnTo>
                  <a:pt x="62230" y="95376"/>
                </a:lnTo>
                <a:lnTo>
                  <a:pt x="63609" y="111182"/>
                </a:lnTo>
                <a:lnTo>
                  <a:pt x="67738" y="125237"/>
                </a:lnTo>
                <a:lnTo>
                  <a:pt x="74606" y="137221"/>
                </a:lnTo>
                <a:lnTo>
                  <a:pt x="84200" y="146812"/>
                </a:lnTo>
                <a:lnTo>
                  <a:pt x="11049" y="183514"/>
                </a:lnTo>
                <a:lnTo>
                  <a:pt x="11049" y="194563"/>
                </a:lnTo>
                <a:lnTo>
                  <a:pt x="0" y="389000"/>
                </a:lnTo>
                <a:lnTo>
                  <a:pt x="0" y="403733"/>
                </a:lnTo>
                <a:lnTo>
                  <a:pt x="2625" y="419943"/>
                </a:lnTo>
                <a:lnTo>
                  <a:pt x="10048" y="434451"/>
                </a:lnTo>
                <a:lnTo>
                  <a:pt x="21591" y="445506"/>
                </a:lnTo>
                <a:lnTo>
                  <a:pt x="36575" y="451358"/>
                </a:lnTo>
                <a:lnTo>
                  <a:pt x="36575" y="719327"/>
                </a:lnTo>
                <a:lnTo>
                  <a:pt x="76962" y="719327"/>
                </a:lnTo>
                <a:lnTo>
                  <a:pt x="84200" y="711962"/>
                </a:lnTo>
                <a:lnTo>
                  <a:pt x="84200" y="704596"/>
                </a:lnTo>
                <a:lnTo>
                  <a:pt x="113537" y="455040"/>
                </a:lnTo>
                <a:lnTo>
                  <a:pt x="205105" y="455040"/>
                </a:lnTo>
                <a:lnTo>
                  <a:pt x="205105" y="451358"/>
                </a:lnTo>
                <a:lnTo>
                  <a:pt x="220664" y="445506"/>
                </a:lnTo>
                <a:lnTo>
                  <a:pt x="226539" y="440436"/>
                </a:lnTo>
                <a:lnTo>
                  <a:pt x="36575" y="440436"/>
                </a:lnTo>
                <a:lnTo>
                  <a:pt x="26425" y="433647"/>
                </a:lnTo>
                <a:lnTo>
                  <a:pt x="18335" y="424799"/>
                </a:lnTo>
                <a:lnTo>
                  <a:pt x="12983" y="414593"/>
                </a:lnTo>
                <a:lnTo>
                  <a:pt x="11049" y="403733"/>
                </a:lnTo>
                <a:lnTo>
                  <a:pt x="245364" y="403733"/>
                </a:lnTo>
                <a:lnTo>
                  <a:pt x="245364" y="389000"/>
                </a:lnTo>
                <a:lnTo>
                  <a:pt x="230759" y="194563"/>
                </a:lnTo>
                <a:lnTo>
                  <a:pt x="230759" y="183514"/>
                </a:lnTo>
                <a:lnTo>
                  <a:pt x="227075" y="179832"/>
                </a:lnTo>
                <a:lnTo>
                  <a:pt x="168402" y="150495"/>
                </a:lnTo>
                <a:lnTo>
                  <a:pt x="157480" y="146812"/>
                </a:lnTo>
                <a:lnTo>
                  <a:pt x="161385" y="143128"/>
                </a:lnTo>
                <a:lnTo>
                  <a:pt x="120904" y="143128"/>
                </a:lnTo>
                <a:lnTo>
                  <a:pt x="102639" y="139811"/>
                </a:lnTo>
                <a:lnTo>
                  <a:pt x="87471" y="130301"/>
                </a:lnTo>
                <a:lnTo>
                  <a:pt x="77112" y="115268"/>
                </a:lnTo>
                <a:lnTo>
                  <a:pt x="73279" y="95376"/>
                </a:lnTo>
                <a:lnTo>
                  <a:pt x="73279" y="66039"/>
                </a:lnTo>
                <a:lnTo>
                  <a:pt x="75215" y="57945"/>
                </a:lnTo>
                <a:lnTo>
                  <a:pt x="80581" y="50911"/>
                </a:lnTo>
                <a:lnTo>
                  <a:pt x="88709" y="45948"/>
                </a:lnTo>
                <a:lnTo>
                  <a:pt x="98933" y="44069"/>
                </a:lnTo>
                <a:lnTo>
                  <a:pt x="150519" y="44069"/>
                </a:lnTo>
                <a:lnTo>
                  <a:pt x="154336" y="43090"/>
                </a:lnTo>
                <a:lnTo>
                  <a:pt x="161162" y="40386"/>
                </a:lnTo>
                <a:lnTo>
                  <a:pt x="178402" y="40386"/>
                </a:lnTo>
                <a:lnTo>
                  <a:pt x="178036" y="38683"/>
                </a:lnTo>
                <a:lnTo>
                  <a:pt x="164353" y="18796"/>
                </a:lnTo>
                <a:lnTo>
                  <a:pt x="144504" y="5099"/>
                </a:lnTo>
                <a:lnTo>
                  <a:pt x="120904" y="0"/>
                </a:lnTo>
                <a:close/>
              </a:path>
              <a:path w="245744" h="719455">
                <a:moveTo>
                  <a:pt x="205105" y="455040"/>
                </a:moveTo>
                <a:lnTo>
                  <a:pt x="128143" y="455040"/>
                </a:lnTo>
                <a:lnTo>
                  <a:pt x="157480" y="704596"/>
                </a:lnTo>
                <a:lnTo>
                  <a:pt x="161162" y="711962"/>
                </a:lnTo>
                <a:lnTo>
                  <a:pt x="168402" y="719327"/>
                </a:lnTo>
                <a:lnTo>
                  <a:pt x="205105" y="719327"/>
                </a:lnTo>
                <a:lnTo>
                  <a:pt x="205105" y="455040"/>
                </a:lnTo>
                <a:close/>
              </a:path>
              <a:path w="245744" h="719455">
                <a:moveTo>
                  <a:pt x="205105" y="403733"/>
                </a:moveTo>
                <a:lnTo>
                  <a:pt x="36575" y="403733"/>
                </a:lnTo>
                <a:lnTo>
                  <a:pt x="36575" y="440436"/>
                </a:lnTo>
                <a:lnTo>
                  <a:pt x="205105" y="440436"/>
                </a:lnTo>
                <a:lnTo>
                  <a:pt x="205105" y="403733"/>
                </a:lnTo>
                <a:close/>
              </a:path>
              <a:path w="245744" h="719455">
                <a:moveTo>
                  <a:pt x="245364" y="403733"/>
                </a:moveTo>
                <a:lnTo>
                  <a:pt x="230759" y="403733"/>
                </a:lnTo>
                <a:lnTo>
                  <a:pt x="228804" y="414593"/>
                </a:lnTo>
                <a:lnTo>
                  <a:pt x="223408" y="424799"/>
                </a:lnTo>
                <a:lnTo>
                  <a:pt x="215274" y="433647"/>
                </a:lnTo>
                <a:lnTo>
                  <a:pt x="205105" y="440436"/>
                </a:lnTo>
                <a:lnTo>
                  <a:pt x="226539" y="440436"/>
                </a:lnTo>
                <a:lnTo>
                  <a:pt x="233473" y="434451"/>
                </a:lnTo>
                <a:lnTo>
                  <a:pt x="242163" y="419943"/>
                </a:lnTo>
                <a:lnTo>
                  <a:pt x="245364" y="403733"/>
                </a:lnTo>
                <a:close/>
              </a:path>
              <a:path w="245744" h="719455">
                <a:moveTo>
                  <a:pt x="178402" y="40386"/>
                </a:moveTo>
                <a:lnTo>
                  <a:pt x="161162" y="40386"/>
                </a:lnTo>
                <a:lnTo>
                  <a:pt x="168402" y="44069"/>
                </a:lnTo>
                <a:lnTo>
                  <a:pt x="168402" y="95376"/>
                </a:lnTo>
                <a:lnTo>
                  <a:pt x="164570" y="115268"/>
                </a:lnTo>
                <a:lnTo>
                  <a:pt x="154225" y="130301"/>
                </a:lnTo>
                <a:lnTo>
                  <a:pt x="139094" y="139811"/>
                </a:lnTo>
                <a:lnTo>
                  <a:pt x="120904" y="143128"/>
                </a:lnTo>
                <a:lnTo>
                  <a:pt x="161385" y="143128"/>
                </a:lnTo>
                <a:lnTo>
                  <a:pt x="167649" y="137221"/>
                </a:lnTo>
                <a:lnTo>
                  <a:pt x="175783" y="125237"/>
                </a:lnTo>
                <a:lnTo>
                  <a:pt x="181179" y="111182"/>
                </a:lnTo>
                <a:lnTo>
                  <a:pt x="183134" y="95376"/>
                </a:lnTo>
                <a:lnTo>
                  <a:pt x="183134" y="62357"/>
                </a:lnTo>
                <a:lnTo>
                  <a:pt x="178402" y="40386"/>
                </a:lnTo>
                <a:close/>
              </a:path>
              <a:path w="245744" h="719455">
                <a:moveTo>
                  <a:pt x="150519" y="44069"/>
                </a:moveTo>
                <a:lnTo>
                  <a:pt x="98933" y="44069"/>
                </a:lnTo>
                <a:lnTo>
                  <a:pt x="106172" y="47751"/>
                </a:lnTo>
                <a:lnTo>
                  <a:pt x="120904" y="47751"/>
                </a:lnTo>
                <a:lnTo>
                  <a:pt x="133873" y="47118"/>
                </a:lnTo>
                <a:lnTo>
                  <a:pt x="145129" y="45450"/>
                </a:lnTo>
                <a:lnTo>
                  <a:pt x="150519" y="44069"/>
                </a:lnTo>
                <a:close/>
              </a:path>
            </a:pathLst>
          </a:custGeom>
          <a:solidFill>
            <a:srgbClr val="EB6636"/>
          </a:solidFill>
        </p:spPr>
        <p:txBody>
          <a:bodyPr wrap="square" lIns="0" tIns="0" rIns="0" bIns="0" rtlCol="0"/>
          <a:lstStyle/>
          <a:p>
            <a:endParaRPr/>
          </a:p>
        </p:txBody>
      </p:sp>
      <p:sp>
        <p:nvSpPr>
          <p:cNvPr id="37" name="object 5">
            <a:extLst>
              <a:ext uri="{FF2B5EF4-FFF2-40B4-BE49-F238E27FC236}">
                <a16:creationId xmlns:a16="http://schemas.microsoft.com/office/drawing/2014/main" id="{DE455C1C-E6AD-7A9E-B41C-9F1B053C0302}"/>
              </a:ext>
            </a:extLst>
          </p:cNvPr>
          <p:cNvSpPr/>
          <p:nvPr/>
        </p:nvSpPr>
        <p:spPr>
          <a:xfrm>
            <a:off x="2157478" y="2419256"/>
            <a:ext cx="246379" cy="719455"/>
          </a:xfrm>
          <a:custGeom>
            <a:avLst/>
            <a:gdLst/>
            <a:ahLst/>
            <a:cxnLst/>
            <a:rect l="l" t="t" r="r" b="b"/>
            <a:pathLst>
              <a:path w="246380" h="719455">
                <a:moveTo>
                  <a:pt x="117601" y="543179"/>
                </a:moveTo>
                <a:lnTo>
                  <a:pt x="58800" y="543179"/>
                </a:lnTo>
                <a:lnTo>
                  <a:pt x="80898" y="704596"/>
                </a:lnTo>
                <a:lnTo>
                  <a:pt x="80898" y="711962"/>
                </a:lnTo>
                <a:lnTo>
                  <a:pt x="88264" y="719327"/>
                </a:lnTo>
                <a:lnTo>
                  <a:pt x="117601" y="719327"/>
                </a:lnTo>
                <a:lnTo>
                  <a:pt x="117601" y="543179"/>
                </a:lnTo>
                <a:close/>
              </a:path>
              <a:path w="246380" h="719455">
                <a:moveTo>
                  <a:pt x="191134" y="543179"/>
                </a:moveTo>
                <a:lnTo>
                  <a:pt x="132333" y="543179"/>
                </a:lnTo>
                <a:lnTo>
                  <a:pt x="132333" y="719327"/>
                </a:lnTo>
                <a:lnTo>
                  <a:pt x="157987" y="719327"/>
                </a:lnTo>
                <a:lnTo>
                  <a:pt x="165353" y="711962"/>
                </a:lnTo>
                <a:lnTo>
                  <a:pt x="169036" y="704596"/>
                </a:lnTo>
                <a:lnTo>
                  <a:pt x="191134" y="543179"/>
                </a:lnTo>
                <a:close/>
              </a:path>
              <a:path w="246380" h="719455">
                <a:moveTo>
                  <a:pt x="124967" y="0"/>
                </a:moveTo>
                <a:lnTo>
                  <a:pt x="78120" y="18796"/>
                </a:lnTo>
                <a:lnTo>
                  <a:pt x="58800" y="62357"/>
                </a:lnTo>
                <a:lnTo>
                  <a:pt x="58720" y="88137"/>
                </a:lnTo>
                <a:lnTo>
                  <a:pt x="58628" y="96579"/>
                </a:lnTo>
                <a:lnTo>
                  <a:pt x="57419" y="108267"/>
                </a:lnTo>
                <a:lnTo>
                  <a:pt x="54139" y="119955"/>
                </a:lnTo>
                <a:lnTo>
                  <a:pt x="47751" y="135762"/>
                </a:lnTo>
                <a:lnTo>
                  <a:pt x="47751" y="143129"/>
                </a:lnTo>
                <a:lnTo>
                  <a:pt x="51434" y="146812"/>
                </a:lnTo>
                <a:lnTo>
                  <a:pt x="84581" y="146812"/>
                </a:lnTo>
                <a:lnTo>
                  <a:pt x="84581" y="150495"/>
                </a:lnTo>
                <a:lnTo>
                  <a:pt x="36702" y="172465"/>
                </a:lnTo>
                <a:lnTo>
                  <a:pt x="29463" y="176149"/>
                </a:lnTo>
                <a:lnTo>
                  <a:pt x="22097" y="183514"/>
                </a:lnTo>
                <a:lnTo>
                  <a:pt x="22097" y="190881"/>
                </a:lnTo>
                <a:lnTo>
                  <a:pt x="0" y="389000"/>
                </a:lnTo>
                <a:lnTo>
                  <a:pt x="1956" y="402619"/>
                </a:lnTo>
                <a:lnTo>
                  <a:pt x="7366" y="415178"/>
                </a:lnTo>
                <a:lnTo>
                  <a:pt x="15537" y="425666"/>
                </a:lnTo>
                <a:lnTo>
                  <a:pt x="25781" y="433070"/>
                </a:lnTo>
                <a:lnTo>
                  <a:pt x="3682" y="532130"/>
                </a:lnTo>
                <a:lnTo>
                  <a:pt x="3682" y="539496"/>
                </a:lnTo>
                <a:lnTo>
                  <a:pt x="7365" y="543179"/>
                </a:lnTo>
                <a:lnTo>
                  <a:pt x="238886" y="543179"/>
                </a:lnTo>
                <a:lnTo>
                  <a:pt x="246252" y="539496"/>
                </a:lnTo>
                <a:lnTo>
                  <a:pt x="242569" y="532130"/>
                </a:lnTo>
                <a:lnTo>
                  <a:pt x="220471" y="433070"/>
                </a:lnTo>
                <a:lnTo>
                  <a:pt x="232787" y="425666"/>
                </a:lnTo>
                <a:lnTo>
                  <a:pt x="238979" y="418338"/>
                </a:lnTo>
                <a:lnTo>
                  <a:pt x="25781" y="418338"/>
                </a:lnTo>
                <a:lnTo>
                  <a:pt x="22097" y="414655"/>
                </a:lnTo>
                <a:lnTo>
                  <a:pt x="19393" y="410700"/>
                </a:lnTo>
                <a:lnTo>
                  <a:pt x="17033" y="404637"/>
                </a:lnTo>
                <a:lnTo>
                  <a:pt x="15365" y="397170"/>
                </a:lnTo>
                <a:lnTo>
                  <a:pt x="14731" y="389000"/>
                </a:lnTo>
                <a:lnTo>
                  <a:pt x="18414" y="359663"/>
                </a:lnTo>
                <a:lnTo>
                  <a:pt x="242980" y="359663"/>
                </a:lnTo>
                <a:lnTo>
                  <a:pt x="224154" y="190881"/>
                </a:lnTo>
                <a:lnTo>
                  <a:pt x="224154" y="179832"/>
                </a:lnTo>
                <a:lnTo>
                  <a:pt x="220471" y="176149"/>
                </a:lnTo>
                <a:lnTo>
                  <a:pt x="213232" y="172465"/>
                </a:lnTo>
                <a:lnTo>
                  <a:pt x="161670" y="150495"/>
                </a:lnTo>
                <a:lnTo>
                  <a:pt x="124967" y="150495"/>
                </a:lnTo>
                <a:lnTo>
                  <a:pt x="104501" y="146583"/>
                </a:lnTo>
                <a:lnTo>
                  <a:pt x="88191" y="135762"/>
                </a:lnTo>
                <a:lnTo>
                  <a:pt x="77426" y="119473"/>
                </a:lnTo>
                <a:lnTo>
                  <a:pt x="73532" y="99060"/>
                </a:lnTo>
                <a:lnTo>
                  <a:pt x="73532" y="88137"/>
                </a:lnTo>
                <a:lnTo>
                  <a:pt x="75487" y="78470"/>
                </a:lnTo>
                <a:lnTo>
                  <a:pt x="80883" y="71564"/>
                </a:lnTo>
                <a:lnTo>
                  <a:pt x="89017" y="67421"/>
                </a:lnTo>
                <a:lnTo>
                  <a:pt x="99186" y="66039"/>
                </a:lnTo>
                <a:lnTo>
                  <a:pt x="132333" y="66039"/>
                </a:lnTo>
                <a:lnTo>
                  <a:pt x="140448" y="64085"/>
                </a:lnTo>
                <a:lnTo>
                  <a:pt x="147526" y="58689"/>
                </a:lnTo>
                <a:lnTo>
                  <a:pt x="152532" y="50555"/>
                </a:lnTo>
                <a:lnTo>
                  <a:pt x="154431" y="40386"/>
                </a:lnTo>
                <a:lnTo>
                  <a:pt x="154431" y="25654"/>
                </a:lnTo>
                <a:lnTo>
                  <a:pt x="173330" y="25654"/>
                </a:lnTo>
                <a:lnTo>
                  <a:pt x="168592" y="18796"/>
                </a:lnTo>
                <a:lnTo>
                  <a:pt x="148661" y="5099"/>
                </a:lnTo>
                <a:lnTo>
                  <a:pt x="124967" y="0"/>
                </a:lnTo>
                <a:close/>
              </a:path>
              <a:path w="246380" h="719455">
                <a:moveTo>
                  <a:pt x="205866" y="359663"/>
                </a:moveTo>
                <a:lnTo>
                  <a:pt x="40385" y="359663"/>
                </a:lnTo>
                <a:lnTo>
                  <a:pt x="29463" y="418338"/>
                </a:lnTo>
                <a:lnTo>
                  <a:pt x="220471" y="418338"/>
                </a:lnTo>
                <a:lnTo>
                  <a:pt x="205866" y="359663"/>
                </a:lnTo>
                <a:close/>
              </a:path>
              <a:path w="246380" h="719455">
                <a:moveTo>
                  <a:pt x="242980" y="359663"/>
                </a:moveTo>
                <a:lnTo>
                  <a:pt x="227837" y="359663"/>
                </a:lnTo>
                <a:lnTo>
                  <a:pt x="231520" y="389000"/>
                </a:lnTo>
                <a:lnTo>
                  <a:pt x="232441" y="397170"/>
                </a:lnTo>
                <a:lnTo>
                  <a:pt x="230600" y="404637"/>
                </a:lnTo>
                <a:lnTo>
                  <a:pt x="227377" y="410700"/>
                </a:lnTo>
                <a:lnTo>
                  <a:pt x="224154" y="414655"/>
                </a:lnTo>
                <a:lnTo>
                  <a:pt x="224154" y="418338"/>
                </a:lnTo>
                <a:lnTo>
                  <a:pt x="238979" y="418338"/>
                </a:lnTo>
                <a:lnTo>
                  <a:pt x="241649" y="415178"/>
                </a:lnTo>
                <a:lnTo>
                  <a:pt x="246368" y="402619"/>
                </a:lnTo>
                <a:lnTo>
                  <a:pt x="246252" y="389000"/>
                </a:lnTo>
                <a:lnTo>
                  <a:pt x="242980" y="359663"/>
                </a:lnTo>
                <a:close/>
              </a:path>
              <a:path w="246380" h="719455">
                <a:moveTo>
                  <a:pt x="173330" y="25654"/>
                </a:moveTo>
                <a:lnTo>
                  <a:pt x="154431" y="25654"/>
                </a:lnTo>
                <a:lnTo>
                  <a:pt x="161897" y="32442"/>
                </a:lnTo>
                <a:lnTo>
                  <a:pt x="167671" y="41290"/>
                </a:lnTo>
                <a:lnTo>
                  <a:pt x="171398" y="51496"/>
                </a:lnTo>
                <a:lnTo>
                  <a:pt x="172719" y="62357"/>
                </a:lnTo>
                <a:lnTo>
                  <a:pt x="172719" y="99060"/>
                </a:lnTo>
                <a:lnTo>
                  <a:pt x="168884" y="119473"/>
                </a:lnTo>
                <a:lnTo>
                  <a:pt x="158511" y="135778"/>
                </a:lnTo>
                <a:lnTo>
                  <a:pt x="143305" y="146583"/>
                </a:lnTo>
                <a:lnTo>
                  <a:pt x="124967" y="150495"/>
                </a:lnTo>
                <a:lnTo>
                  <a:pt x="161670" y="150495"/>
                </a:lnTo>
                <a:lnTo>
                  <a:pt x="165353" y="146812"/>
                </a:lnTo>
                <a:lnTo>
                  <a:pt x="194817" y="146812"/>
                </a:lnTo>
                <a:lnTo>
                  <a:pt x="202183" y="139446"/>
                </a:lnTo>
                <a:lnTo>
                  <a:pt x="187624" y="100204"/>
                </a:lnTo>
                <a:lnTo>
                  <a:pt x="187451" y="62357"/>
                </a:lnTo>
                <a:lnTo>
                  <a:pt x="182332" y="38683"/>
                </a:lnTo>
                <a:lnTo>
                  <a:pt x="173330" y="25654"/>
                </a:lnTo>
                <a:close/>
              </a:path>
            </a:pathLst>
          </a:custGeom>
          <a:solidFill>
            <a:srgbClr val="EB6636"/>
          </a:solidFill>
        </p:spPr>
        <p:txBody>
          <a:bodyPr wrap="square" lIns="0" tIns="0" rIns="0" bIns="0" rtlCol="0"/>
          <a:lstStyle/>
          <a:p>
            <a:endParaRPr/>
          </a:p>
        </p:txBody>
      </p:sp>
      <p:graphicFrame>
        <p:nvGraphicFramePr>
          <p:cNvPr id="38" name="object 6">
            <a:extLst>
              <a:ext uri="{FF2B5EF4-FFF2-40B4-BE49-F238E27FC236}">
                <a16:creationId xmlns:a16="http://schemas.microsoft.com/office/drawing/2014/main" id="{4D9996E5-DDB7-3AFD-AB68-9A19947716F6}"/>
              </a:ext>
            </a:extLst>
          </p:cNvPr>
          <p:cNvGraphicFramePr>
            <a:graphicFrameLocks noGrp="1"/>
          </p:cNvGraphicFramePr>
          <p:nvPr/>
        </p:nvGraphicFramePr>
        <p:xfrm>
          <a:off x="1706882" y="1695356"/>
          <a:ext cx="8357868" cy="4250065"/>
        </p:xfrm>
        <a:graphic>
          <a:graphicData uri="http://schemas.openxmlformats.org/drawingml/2006/table">
            <a:tbl>
              <a:tblPr firstRow="1" bandRow="1">
                <a:tableStyleId>{2D5ABB26-0587-4C30-8999-92F81FD0307C}</a:tableStyleId>
              </a:tblPr>
              <a:tblGrid>
                <a:gridCol w="828040">
                  <a:extLst>
                    <a:ext uri="{9D8B030D-6E8A-4147-A177-3AD203B41FA5}">
                      <a16:colId xmlns:a16="http://schemas.microsoft.com/office/drawing/2014/main" val="20000"/>
                    </a:ext>
                  </a:extLst>
                </a:gridCol>
                <a:gridCol w="3790950">
                  <a:extLst>
                    <a:ext uri="{9D8B030D-6E8A-4147-A177-3AD203B41FA5}">
                      <a16:colId xmlns:a16="http://schemas.microsoft.com/office/drawing/2014/main" val="20001"/>
                    </a:ext>
                  </a:extLst>
                </a:gridCol>
                <a:gridCol w="806450">
                  <a:extLst>
                    <a:ext uri="{9D8B030D-6E8A-4147-A177-3AD203B41FA5}">
                      <a16:colId xmlns:a16="http://schemas.microsoft.com/office/drawing/2014/main" val="20002"/>
                    </a:ext>
                  </a:extLst>
                </a:gridCol>
                <a:gridCol w="1537969">
                  <a:extLst>
                    <a:ext uri="{9D8B030D-6E8A-4147-A177-3AD203B41FA5}">
                      <a16:colId xmlns:a16="http://schemas.microsoft.com/office/drawing/2014/main" val="20003"/>
                    </a:ext>
                  </a:extLst>
                </a:gridCol>
                <a:gridCol w="1394459">
                  <a:extLst>
                    <a:ext uri="{9D8B030D-6E8A-4147-A177-3AD203B41FA5}">
                      <a16:colId xmlns:a16="http://schemas.microsoft.com/office/drawing/2014/main" val="20004"/>
                    </a:ext>
                  </a:extLst>
                </a:gridCol>
              </a:tblGrid>
              <a:tr h="559435">
                <a:tc rowSpan="3">
                  <a:txBody>
                    <a:bodyPr/>
                    <a:lstStyle/>
                    <a:p>
                      <a:pPr>
                        <a:lnSpc>
                          <a:spcPct val="100000"/>
                        </a:lnSpc>
                      </a:pPr>
                      <a:endParaRPr sz="1300" dirty="0">
                        <a:latin typeface="Times New Roman"/>
                        <a:cs typeface="Times New Roman"/>
                      </a:endParaRPr>
                    </a:p>
                  </a:txBody>
                  <a:tcPr marL="0" marR="0" marT="0" marB="0">
                    <a:lnR w="12700">
                      <a:solidFill>
                        <a:srgbClr val="000000"/>
                      </a:solidFill>
                      <a:prstDash val="solid"/>
                    </a:lnR>
                    <a:lnB w="28575">
                      <a:solidFill>
                        <a:srgbClr val="F36633"/>
                      </a:solidFill>
                      <a:prstDash val="solid"/>
                    </a:lnB>
                  </a:tcPr>
                </a:tc>
                <a:tc gridSpan="2">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4D1CE"/>
                    </a:solidFill>
                  </a:tcPr>
                </a:tc>
                <a:tc hMerge="1">
                  <a:txBody>
                    <a:bodyPr/>
                    <a:lstStyle/>
                    <a:p>
                      <a:endParaRPr/>
                    </a:p>
                  </a:txBody>
                  <a:tcPr marL="0" marR="0" marT="0" marB="0"/>
                </a:tc>
                <a:tc>
                  <a:txBody>
                    <a:bodyPr/>
                    <a:lstStyle/>
                    <a:p>
                      <a:pPr marL="41275" algn="ctr">
                        <a:lnSpc>
                          <a:spcPts val="1920"/>
                        </a:lnSpc>
                        <a:spcBef>
                          <a:spcPts val="365"/>
                        </a:spcBef>
                      </a:pPr>
                      <a:r>
                        <a:rPr sz="1600" spc="-5" dirty="0">
                          <a:latin typeface="Arial MT"/>
                          <a:cs typeface="Arial MT"/>
                        </a:rPr>
                        <a:t>ITT</a:t>
                      </a:r>
                      <a:endParaRPr sz="1600">
                        <a:latin typeface="Arial MT"/>
                        <a:cs typeface="Arial MT"/>
                      </a:endParaRPr>
                    </a:p>
                    <a:p>
                      <a:pPr marL="36195" algn="ctr">
                        <a:lnSpc>
                          <a:spcPts val="1680"/>
                        </a:lnSpc>
                      </a:pPr>
                      <a:r>
                        <a:rPr sz="1400" dirty="0">
                          <a:latin typeface="Arial MT"/>
                          <a:cs typeface="Arial MT"/>
                        </a:rPr>
                        <a:t>(n</a:t>
                      </a:r>
                      <a:r>
                        <a:rPr sz="1400" spc="-50" dirty="0">
                          <a:latin typeface="Arial MT"/>
                          <a:cs typeface="Arial MT"/>
                        </a:rPr>
                        <a:t> </a:t>
                      </a:r>
                      <a:r>
                        <a:rPr sz="1400" dirty="0">
                          <a:latin typeface="Arial MT"/>
                          <a:cs typeface="Arial MT"/>
                        </a:rPr>
                        <a:t>=</a:t>
                      </a:r>
                      <a:r>
                        <a:rPr sz="1400" spc="-35" dirty="0">
                          <a:latin typeface="Arial MT"/>
                          <a:cs typeface="Arial MT"/>
                        </a:rPr>
                        <a:t> </a:t>
                      </a:r>
                      <a:r>
                        <a:rPr sz="1400" dirty="0">
                          <a:latin typeface="Arial MT"/>
                          <a:cs typeface="Arial MT"/>
                        </a:rPr>
                        <a:t>1810)</a:t>
                      </a:r>
                      <a:endParaRPr sz="1400">
                        <a:latin typeface="Arial MT"/>
                        <a:cs typeface="Arial MT"/>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4D1CE"/>
                    </a:solidFill>
                  </a:tcPr>
                </a:tc>
                <a:tc>
                  <a:txBody>
                    <a:bodyPr/>
                    <a:lstStyle/>
                    <a:p>
                      <a:pPr marL="39370" algn="ctr">
                        <a:lnSpc>
                          <a:spcPts val="1920"/>
                        </a:lnSpc>
                        <a:spcBef>
                          <a:spcPts val="365"/>
                        </a:spcBef>
                      </a:pPr>
                      <a:r>
                        <a:rPr sz="1600" spc="-5" dirty="0">
                          <a:latin typeface="Arial MT"/>
                          <a:cs typeface="Arial MT"/>
                        </a:rPr>
                        <a:t>EXT</a:t>
                      </a:r>
                      <a:endParaRPr sz="1600">
                        <a:latin typeface="Arial MT"/>
                        <a:cs typeface="Arial MT"/>
                      </a:endParaRPr>
                    </a:p>
                    <a:p>
                      <a:pPr marL="37465" algn="ctr">
                        <a:lnSpc>
                          <a:spcPts val="1680"/>
                        </a:lnSpc>
                      </a:pPr>
                      <a:r>
                        <a:rPr sz="1400" dirty="0">
                          <a:latin typeface="Arial MT"/>
                          <a:cs typeface="Arial MT"/>
                        </a:rPr>
                        <a:t>(n=430)</a:t>
                      </a:r>
                      <a:endParaRPr sz="1400">
                        <a:latin typeface="Arial MT"/>
                        <a:cs typeface="Arial MT"/>
                      </a:endParaRPr>
                    </a:p>
                  </a:txBody>
                  <a:tcPr marL="0" marR="0" marT="463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4D1CE"/>
                    </a:solidFill>
                  </a:tcPr>
                </a:tc>
                <a:extLst>
                  <a:ext uri="{0D108BD9-81ED-4DB2-BD59-A6C34878D82A}">
                    <a16:rowId xmlns:a16="http://schemas.microsoft.com/office/drawing/2014/main" val="10000"/>
                  </a:ext>
                </a:extLst>
              </a:tr>
              <a:tr h="493775">
                <a:tc vMerge="1">
                  <a:txBody>
                    <a:bodyPr/>
                    <a:lstStyle/>
                    <a:p>
                      <a:endParaRPr/>
                    </a:p>
                  </a:txBody>
                  <a:tcPr marL="0" marR="0" marT="0" marB="0">
                    <a:lnR w="12700">
                      <a:solidFill>
                        <a:srgbClr val="000000"/>
                      </a:solidFill>
                      <a:prstDash val="solid"/>
                    </a:lnR>
                    <a:lnB w="28575">
                      <a:solidFill>
                        <a:srgbClr val="F36633"/>
                      </a:solidFill>
                      <a:prstDash val="solid"/>
                    </a:lnB>
                  </a:tcPr>
                </a:tc>
                <a:tc gridSpan="2">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 Mean age, years (SD)</a:t>
                      </a:r>
                    </a:p>
                  </a:txBody>
                  <a:tcPr marL="0" marR="0" marT="135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EEDEC"/>
                    </a:solidFill>
                  </a:tcPr>
                </a:tc>
                <a:tc hMerge="1">
                  <a:txBody>
                    <a:bodyPr/>
                    <a:lstStyle/>
                    <a:p>
                      <a:endParaRPr/>
                    </a:p>
                  </a:txBody>
                  <a:tcPr marL="0" marR="0" marT="0" marB="0"/>
                </a:tc>
                <a:tc>
                  <a:txBody>
                    <a:bodyPr/>
                    <a:lstStyle/>
                    <a:p>
                      <a:pPr marL="1270" algn="ctr">
                        <a:lnSpc>
                          <a:spcPct val="100000"/>
                        </a:lnSpc>
                        <a:spcBef>
                          <a:spcPts val="944"/>
                        </a:spcBef>
                      </a:pPr>
                      <a:r>
                        <a:rPr sz="1600" spc="-5" dirty="0">
                          <a:latin typeface="Arial MT"/>
                          <a:cs typeface="Arial MT"/>
                        </a:rPr>
                        <a:t>63.9</a:t>
                      </a:r>
                      <a:r>
                        <a:rPr sz="1600" spc="-85" dirty="0">
                          <a:latin typeface="Arial MT"/>
                          <a:cs typeface="Arial MT"/>
                        </a:rPr>
                        <a:t> </a:t>
                      </a:r>
                      <a:r>
                        <a:rPr sz="1400" dirty="0">
                          <a:latin typeface="Arial MT"/>
                          <a:cs typeface="Arial MT"/>
                        </a:rPr>
                        <a:t>(8.64)</a:t>
                      </a:r>
                      <a:endParaRPr sz="1400">
                        <a:latin typeface="Arial MT"/>
                        <a:cs typeface="Arial MT"/>
                      </a:endParaRPr>
                    </a:p>
                  </a:txBody>
                  <a:tcPr marL="0" marR="0" marT="1200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EEDEC"/>
                    </a:solidFill>
                  </a:tcPr>
                </a:tc>
                <a:tc>
                  <a:txBody>
                    <a:bodyPr/>
                    <a:lstStyle/>
                    <a:p>
                      <a:pPr marL="635" algn="ctr">
                        <a:lnSpc>
                          <a:spcPct val="100000"/>
                        </a:lnSpc>
                        <a:spcBef>
                          <a:spcPts val="944"/>
                        </a:spcBef>
                      </a:pPr>
                      <a:r>
                        <a:rPr sz="1600" spc="-5" dirty="0">
                          <a:latin typeface="Arial MT"/>
                          <a:cs typeface="Arial MT"/>
                        </a:rPr>
                        <a:t>63.5</a:t>
                      </a:r>
                      <a:r>
                        <a:rPr sz="1600" spc="-85" dirty="0">
                          <a:latin typeface="Arial MT"/>
                          <a:cs typeface="Arial MT"/>
                        </a:rPr>
                        <a:t> </a:t>
                      </a:r>
                      <a:r>
                        <a:rPr sz="1400" dirty="0">
                          <a:latin typeface="Arial MT"/>
                          <a:cs typeface="Arial MT"/>
                        </a:rPr>
                        <a:t>(8.10)</a:t>
                      </a:r>
                      <a:endParaRPr sz="1400">
                        <a:latin typeface="Arial MT"/>
                        <a:cs typeface="Arial MT"/>
                      </a:endParaRPr>
                    </a:p>
                  </a:txBody>
                  <a:tcPr marL="0" marR="0" marT="12001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EEEDEC"/>
                    </a:solidFill>
                  </a:tcPr>
                </a:tc>
                <a:extLst>
                  <a:ext uri="{0D108BD9-81ED-4DB2-BD59-A6C34878D82A}">
                    <a16:rowId xmlns:a16="http://schemas.microsoft.com/office/drawing/2014/main" val="10001"/>
                  </a:ext>
                </a:extLst>
              </a:tr>
              <a:tr h="488315">
                <a:tc vMerge="1">
                  <a:txBody>
                    <a:bodyPr/>
                    <a:lstStyle/>
                    <a:p>
                      <a:endParaRPr/>
                    </a:p>
                  </a:txBody>
                  <a:tcPr marL="0" marR="0" marT="0" marB="0">
                    <a:lnR w="12700">
                      <a:solidFill>
                        <a:srgbClr val="000000"/>
                      </a:solidFill>
                      <a:prstDash val="solid"/>
                    </a:lnR>
                    <a:lnB w="28575">
                      <a:solidFill>
                        <a:srgbClr val="F36633"/>
                      </a:solidFill>
                      <a:prstDash val="solid"/>
                    </a:lnB>
                  </a:tcPr>
                </a:tc>
                <a:tc gridSpan="2">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 Male, n (%)</a:t>
                      </a:r>
                    </a:p>
                  </a:txBody>
                  <a:tcPr marL="0" marR="0" marT="134620" marB="0">
                    <a:lnL w="12700">
                      <a:solidFill>
                        <a:srgbClr val="000000"/>
                      </a:solidFill>
                      <a:prstDash val="solid"/>
                    </a:lnL>
                    <a:lnR w="12700">
                      <a:solidFill>
                        <a:srgbClr val="000000"/>
                      </a:solidFill>
                      <a:prstDash val="solid"/>
                    </a:lnR>
                    <a:lnT w="12700">
                      <a:solidFill>
                        <a:srgbClr val="000000"/>
                      </a:solidFill>
                      <a:prstDash val="solid"/>
                    </a:lnT>
                    <a:lnB w="28575">
                      <a:solidFill>
                        <a:srgbClr val="F36633"/>
                      </a:solidFill>
                      <a:prstDash val="solid"/>
                    </a:lnB>
                    <a:solidFill>
                      <a:srgbClr val="F7F7F6"/>
                    </a:solidFill>
                  </a:tcPr>
                </a:tc>
                <a:tc hMerge="1">
                  <a:txBody>
                    <a:bodyPr/>
                    <a:lstStyle/>
                    <a:p>
                      <a:endParaRPr/>
                    </a:p>
                  </a:txBody>
                  <a:tcPr marL="0" marR="0" marT="0" marB="0"/>
                </a:tc>
                <a:tc>
                  <a:txBody>
                    <a:bodyPr/>
                    <a:lstStyle/>
                    <a:p>
                      <a:pPr marL="2540" algn="ctr">
                        <a:lnSpc>
                          <a:spcPct val="100000"/>
                        </a:lnSpc>
                        <a:spcBef>
                          <a:spcPts val="944"/>
                        </a:spcBef>
                      </a:pPr>
                      <a:r>
                        <a:rPr sz="1600" spc="-5" dirty="0">
                          <a:latin typeface="Arial MT"/>
                          <a:cs typeface="Arial MT"/>
                        </a:rPr>
                        <a:t>74%</a:t>
                      </a:r>
                      <a:r>
                        <a:rPr sz="1600" spc="-95" dirty="0">
                          <a:latin typeface="Arial MT"/>
                          <a:cs typeface="Arial MT"/>
                        </a:rPr>
                        <a:t> </a:t>
                      </a:r>
                      <a:r>
                        <a:rPr sz="1400" dirty="0">
                          <a:latin typeface="Arial MT"/>
                          <a:cs typeface="Arial MT"/>
                        </a:rPr>
                        <a:t>(1341)</a:t>
                      </a:r>
                      <a:endParaRPr sz="1400">
                        <a:latin typeface="Arial MT"/>
                        <a:cs typeface="Arial MT"/>
                      </a:endParaRPr>
                    </a:p>
                  </a:txBody>
                  <a:tcPr marL="0" marR="0" marT="120014" marB="0">
                    <a:lnL w="12700">
                      <a:solidFill>
                        <a:srgbClr val="000000"/>
                      </a:solidFill>
                      <a:prstDash val="solid"/>
                    </a:lnL>
                    <a:lnR w="12700">
                      <a:solidFill>
                        <a:srgbClr val="000000"/>
                      </a:solidFill>
                      <a:prstDash val="solid"/>
                    </a:lnR>
                    <a:lnT w="12700">
                      <a:solidFill>
                        <a:srgbClr val="000000"/>
                      </a:solidFill>
                      <a:prstDash val="solid"/>
                    </a:lnT>
                    <a:lnB w="28575">
                      <a:solidFill>
                        <a:srgbClr val="F36633"/>
                      </a:solidFill>
                      <a:prstDash val="solid"/>
                    </a:lnB>
                    <a:solidFill>
                      <a:srgbClr val="F7F7F6"/>
                    </a:solidFill>
                  </a:tcPr>
                </a:tc>
                <a:tc>
                  <a:txBody>
                    <a:bodyPr/>
                    <a:lstStyle/>
                    <a:p>
                      <a:pPr marL="635" algn="ctr">
                        <a:lnSpc>
                          <a:spcPct val="100000"/>
                        </a:lnSpc>
                        <a:spcBef>
                          <a:spcPts val="944"/>
                        </a:spcBef>
                      </a:pPr>
                      <a:r>
                        <a:rPr sz="1600" spc="-5" dirty="0">
                          <a:latin typeface="Arial MT"/>
                          <a:cs typeface="Arial MT"/>
                        </a:rPr>
                        <a:t>74%</a:t>
                      </a:r>
                      <a:r>
                        <a:rPr sz="1600" spc="-95" dirty="0">
                          <a:latin typeface="Arial MT"/>
                          <a:cs typeface="Arial MT"/>
                        </a:rPr>
                        <a:t> </a:t>
                      </a:r>
                      <a:r>
                        <a:rPr sz="1400" dirty="0">
                          <a:latin typeface="Arial MT"/>
                          <a:cs typeface="Arial MT"/>
                        </a:rPr>
                        <a:t>(319)</a:t>
                      </a:r>
                    </a:p>
                  </a:txBody>
                  <a:tcPr marL="0" marR="0" marT="120014" marB="0">
                    <a:lnL w="12700">
                      <a:solidFill>
                        <a:srgbClr val="000000"/>
                      </a:solidFill>
                      <a:prstDash val="solid"/>
                    </a:lnL>
                    <a:lnR w="12700">
                      <a:solidFill>
                        <a:srgbClr val="000000"/>
                      </a:solidFill>
                      <a:prstDash val="solid"/>
                    </a:lnR>
                    <a:lnT w="12700">
                      <a:solidFill>
                        <a:srgbClr val="000000"/>
                      </a:solidFill>
                      <a:prstDash val="solid"/>
                    </a:lnT>
                    <a:lnB w="28575">
                      <a:solidFill>
                        <a:srgbClr val="F36633"/>
                      </a:solidFill>
                      <a:prstDash val="solid"/>
                    </a:lnB>
                    <a:solidFill>
                      <a:srgbClr val="F7F7F6"/>
                    </a:solidFill>
                  </a:tcPr>
                </a:tc>
                <a:extLst>
                  <a:ext uri="{0D108BD9-81ED-4DB2-BD59-A6C34878D82A}">
                    <a16:rowId xmlns:a16="http://schemas.microsoft.com/office/drawing/2014/main" val="10002"/>
                  </a:ext>
                </a:extLst>
              </a:tr>
              <a:tr h="499109">
                <a:tc rowSpan="2">
                  <a:txBody>
                    <a:bodyPr/>
                    <a:lstStyle/>
                    <a:p>
                      <a:pPr>
                        <a:lnSpc>
                          <a:spcPct val="100000"/>
                        </a:lnSpc>
                      </a:pPr>
                      <a:endParaRPr sz="1300">
                        <a:latin typeface="Times New Roman"/>
                        <a:cs typeface="Times New Roman"/>
                      </a:endParaRPr>
                    </a:p>
                  </a:txBody>
                  <a:tcPr marL="0" marR="0" marT="0" marB="0">
                    <a:lnR w="12700">
                      <a:solidFill>
                        <a:srgbClr val="000000"/>
                      </a:solidFill>
                      <a:prstDash val="solid"/>
                    </a:lnR>
                    <a:lnT w="28575">
                      <a:solidFill>
                        <a:srgbClr val="F36633"/>
                      </a:solidFill>
                      <a:prstDash val="solid"/>
                    </a:lnT>
                    <a:lnB w="28575">
                      <a:solidFill>
                        <a:srgbClr val="F36633"/>
                      </a:solidFill>
                      <a:prstDash val="solid"/>
                    </a:lnB>
                  </a:tcPr>
                </a:tc>
                <a:tc gridSpan="2">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 Current smokers, n (%)</a:t>
                      </a:r>
                    </a:p>
                  </a:txBody>
                  <a:tcPr marL="0" marR="0" marT="140335" marB="0">
                    <a:lnL w="12700">
                      <a:solidFill>
                        <a:srgbClr val="000000"/>
                      </a:solidFill>
                      <a:prstDash val="solid"/>
                    </a:lnL>
                    <a:lnR w="12700">
                      <a:solidFill>
                        <a:srgbClr val="000000"/>
                      </a:solidFill>
                      <a:prstDash val="solid"/>
                    </a:lnR>
                    <a:lnT w="28575">
                      <a:solidFill>
                        <a:srgbClr val="F36633"/>
                      </a:solidFill>
                      <a:prstDash val="solid"/>
                    </a:lnT>
                    <a:lnB w="12700">
                      <a:solidFill>
                        <a:srgbClr val="000000"/>
                      </a:solidFill>
                      <a:prstDash val="solid"/>
                    </a:lnB>
                    <a:solidFill>
                      <a:srgbClr val="EEEDEC"/>
                    </a:solidFill>
                  </a:tcPr>
                </a:tc>
                <a:tc hMerge="1">
                  <a:txBody>
                    <a:bodyPr/>
                    <a:lstStyle/>
                    <a:p>
                      <a:endParaRPr/>
                    </a:p>
                  </a:txBody>
                  <a:tcPr marL="0" marR="0" marT="0" marB="0"/>
                </a:tc>
                <a:tc>
                  <a:txBody>
                    <a:bodyPr/>
                    <a:lstStyle/>
                    <a:p>
                      <a:pPr marL="1270" algn="ctr">
                        <a:lnSpc>
                          <a:spcPct val="100000"/>
                        </a:lnSpc>
                        <a:spcBef>
                          <a:spcPts val="990"/>
                        </a:spcBef>
                      </a:pPr>
                      <a:r>
                        <a:rPr sz="1600" spc="-5" dirty="0">
                          <a:latin typeface="Arial MT"/>
                          <a:cs typeface="Arial MT"/>
                        </a:rPr>
                        <a:t>44%</a:t>
                      </a:r>
                      <a:r>
                        <a:rPr sz="1600" spc="-95" dirty="0">
                          <a:latin typeface="Arial MT"/>
                          <a:cs typeface="Arial MT"/>
                        </a:rPr>
                        <a:t> </a:t>
                      </a:r>
                      <a:r>
                        <a:rPr sz="1400" dirty="0">
                          <a:latin typeface="Arial MT"/>
                          <a:cs typeface="Arial MT"/>
                        </a:rPr>
                        <a:t>(794)</a:t>
                      </a:r>
                      <a:endParaRPr sz="1400">
                        <a:latin typeface="Arial MT"/>
                        <a:cs typeface="Arial MT"/>
                      </a:endParaRPr>
                    </a:p>
                  </a:txBody>
                  <a:tcPr marL="0" marR="0" marT="125730" marB="0">
                    <a:lnL w="12700">
                      <a:solidFill>
                        <a:srgbClr val="000000"/>
                      </a:solidFill>
                      <a:prstDash val="solid"/>
                    </a:lnL>
                    <a:lnR w="12700">
                      <a:solidFill>
                        <a:srgbClr val="000000"/>
                      </a:solidFill>
                      <a:prstDash val="solid"/>
                    </a:lnR>
                    <a:lnT w="28575">
                      <a:solidFill>
                        <a:srgbClr val="F36633"/>
                      </a:solidFill>
                      <a:prstDash val="solid"/>
                    </a:lnT>
                    <a:lnB w="12700">
                      <a:solidFill>
                        <a:srgbClr val="000000"/>
                      </a:solidFill>
                      <a:prstDash val="solid"/>
                    </a:lnB>
                    <a:solidFill>
                      <a:srgbClr val="EEEDEC"/>
                    </a:solidFill>
                  </a:tcPr>
                </a:tc>
                <a:tc>
                  <a:txBody>
                    <a:bodyPr/>
                    <a:lstStyle/>
                    <a:p>
                      <a:pPr marL="635" algn="ctr">
                        <a:lnSpc>
                          <a:spcPct val="100000"/>
                        </a:lnSpc>
                        <a:spcBef>
                          <a:spcPts val="990"/>
                        </a:spcBef>
                      </a:pPr>
                      <a:r>
                        <a:rPr sz="1600" spc="-5" dirty="0">
                          <a:latin typeface="Arial MT"/>
                          <a:cs typeface="Arial MT"/>
                        </a:rPr>
                        <a:t>45%</a:t>
                      </a:r>
                      <a:r>
                        <a:rPr sz="1600" spc="-95" dirty="0">
                          <a:latin typeface="Arial MT"/>
                          <a:cs typeface="Arial MT"/>
                        </a:rPr>
                        <a:t> </a:t>
                      </a:r>
                      <a:r>
                        <a:rPr sz="1400" dirty="0">
                          <a:latin typeface="Arial MT"/>
                          <a:cs typeface="Arial MT"/>
                        </a:rPr>
                        <a:t>(192)</a:t>
                      </a:r>
                      <a:endParaRPr sz="1400">
                        <a:latin typeface="Arial MT"/>
                        <a:cs typeface="Arial MT"/>
                      </a:endParaRPr>
                    </a:p>
                  </a:txBody>
                  <a:tcPr marL="0" marR="0" marT="125730" marB="0">
                    <a:lnL w="12700">
                      <a:solidFill>
                        <a:srgbClr val="000000"/>
                      </a:solidFill>
                      <a:prstDash val="solid"/>
                    </a:lnL>
                    <a:lnR w="12700">
                      <a:solidFill>
                        <a:srgbClr val="000000"/>
                      </a:solidFill>
                      <a:prstDash val="solid"/>
                    </a:lnR>
                    <a:lnT w="28575">
                      <a:solidFill>
                        <a:srgbClr val="F36633"/>
                      </a:solidFill>
                      <a:prstDash val="solid"/>
                    </a:lnT>
                    <a:lnB w="12700">
                      <a:solidFill>
                        <a:srgbClr val="000000"/>
                      </a:solidFill>
                      <a:prstDash val="solid"/>
                    </a:lnB>
                    <a:solidFill>
                      <a:srgbClr val="EEEDEC"/>
                    </a:solidFill>
                  </a:tcPr>
                </a:tc>
                <a:extLst>
                  <a:ext uri="{0D108BD9-81ED-4DB2-BD59-A6C34878D82A}">
                    <a16:rowId xmlns:a16="http://schemas.microsoft.com/office/drawing/2014/main" val="10003"/>
                  </a:ext>
                </a:extLst>
              </a:tr>
              <a:tr h="491236">
                <a:tc vMerge="1">
                  <a:txBody>
                    <a:bodyPr/>
                    <a:lstStyle/>
                    <a:p>
                      <a:endParaRPr/>
                    </a:p>
                  </a:txBody>
                  <a:tcPr marL="0" marR="0" marT="0" marB="0">
                    <a:lnR w="12700">
                      <a:solidFill>
                        <a:srgbClr val="000000"/>
                      </a:solidFill>
                      <a:prstDash val="solid"/>
                    </a:lnR>
                    <a:lnT w="28575">
                      <a:solidFill>
                        <a:srgbClr val="F36633"/>
                      </a:solidFill>
                      <a:prstDash val="solid"/>
                    </a:lnT>
                    <a:lnB w="28575">
                      <a:solidFill>
                        <a:srgbClr val="F36633"/>
                      </a:solidFill>
                      <a:prstDash val="solid"/>
                    </a:lnB>
                  </a:tcPr>
                </a:tc>
                <a:tc gridSpan="2">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400" b="0" i="0" u="none" strike="noStrike" cap="none" normalizeH="0" baseline="0" dirty="0">
                          <a:ln>
                            <a:noFill/>
                          </a:ln>
                          <a:solidFill>
                            <a:schemeClr val="tx1"/>
                          </a:solidFill>
                          <a:effectLst/>
                          <a:latin typeface="+mn-lt"/>
                          <a:cs typeface="Times New Roman" pitchFamily="18" charset="0"/>
                        </a:rPr>
                        <a:t> Mean smoking pack-years (SD)</a:t>
                      </a:r>
                    </a:p>
                  </a:txBody>
                  <a:tcPr marL="0" marR="0" marT="135255" marB="0">
                    <a:lnL w="12700">
                      <a:solidFill>
                        <a:srgbClr val="000000"/>
                      </a:solidFill>
                      <a:prstDash val="solid"/>
                    </a:lnL>
                    <a:lnR w="12700">
                      <a:solidFill>
                        <a:srgbClr val="000000"/>
                      </a:solidFill>
                      <a:prstDash val="solid"/>
                    </a:lnR>
                    <a:lnT w="12700">
                      <a:solidFill>
                        <a:srgbClr val="000000"/>
                      </a:solidFill>
                      <a:prstDash val="solid"/>
                    </a:lnT>
                    <a:lnB w="28575">
                      <a:solidFill>
                        <a:srgbClr val="F36633"/>
                      </a:solidFill>
                      <a:prstDash val="solid"/>
                    </a:lnB>
                    <a:solidFill>
                      <a:srgbClr val="F7F7F6"/>
                    </a:solidFill>
                  </a:tcPr>
                </a:tc>
                <a:tc hMerge="1">
                  <a:txBody>
                    <a:bodyPr/>
                    <a:lstStyle/>
                    <a:p>
                      <a:endParaRPr/>
                    </a:p>
                  </a:txBody>
                  <a:tcPr marL="0" marR="0" marT="0" marB="0"/>
                </a:tc>
                <a:tc>
                  <a:txBody>
                    <a:bodyPr/>
                    <a:lstStyle/>
                    <a:p>
                      <a:pPr marL="635" algn="ctr">
                        <a:lnSpc>
                          <a:spcPct val="100000"/>
                        </a:lnSpc>
                        <a:spcBef>
                          <a:spcPts val="944"/>
                        </a:spcBef>
                      </a:pPr>
                      <a:r>
                        <a:rPr sz="1600" spc="-5" dirty="0">
                          <a:latin typeface="Arial MT"/>
                          <a:cs typeface="Arial MT"/>
                        </a:rPr>
                        <a:t>39.4</a:t>
                      </a:r>
                      <a:r>
                        <a:rPr sz="1600" spc="-85" dirty="0">
                          <a:latin typeface="Arial MT"/>
                          <a:cs typeface="Arial MT"/>
                        </a:rPr>
                        <a:t> </a:t>
                      </a:r>
                      <a:r>
                        <a:rPr sz="1400" dirty="0">
                          <a:latin typeface="Arial MT"/>
                          <a:cs typeface="Arial MT"/>
                        </a:rPr>
                        <a:t>(22.0)</a:t>
                      </a:r>
                      <a:endParaRPr sz="1400">
                        <a:latin typeface="Arial MT"/>
                        <a:cs typeface="Arial MT"/>
                      </a:endParaRPr>
                    </a:p>
                  </a:txBody>
                  <a:tcPr marL="0" marR="0" marT="120014" marB="0">
                    <a:lnL w="12700">
                      <a:solidFill>
                        <a:srgbClr val="000000"/>
                      </a:solidFill>
                      <a:prstDash val="solid"/>
                    </a:lnL>
                    <a:lnR w="12700">
                      <a:solidFill>
                        <a:srgbClr val="000000"/>
                      </a:solidFill>
                      <a:prstDash val="solid"/>
                    </a:lnR>
                    <a:lnT w="12700">
                      <a:solidFill>
                        <a:srgbClr val="000000"/>
                      </a:solidFill>
                      <a:prstDash val="solid"/>
                    </a:lnT>
                    <a:lnB w="28575">
                      <a:solidFill>
                        <a:srgbClr val="F36633"/>
                      </a:solidFill>
                      <a:prstDash val="solid"/>
                    </a:lnB>
                    <a:solidFill>
                      <a:srgbClr val="F7F7F6"/>
                    </a:solidFill>
                  </a:tcPr>
                </a:tc>
                <a:tc>
                  <a:txBody>
                    <a:bodyPr/>
                    <a:lstStyle/>
                    <a:p>
                      <a:pPr marL="1905" algn="ctr">
                        <a:lnSpc>
                          <a:spcPct val="100000"/>
                        </a:lnSpc>
                        <a:spcBef>
                          <a:spcPts val="944"/>
                        </a:spcBef>
                      </a:pPr>
                      <a:r>
                        <a:rPr sz="1600" spc="-5" dirty="0">
                          <a:latin typeface="Arial MT"/>
                          <a:cs typeface="Arial MT"/>
                        </a:rPr>
                        <a:t>39.7</a:t>
                      </a:r>
                      <a:r>
                        <a:rPr sz="1600" spc="-85" dirty="0">
                          <a:latin typeface="Arial MT"/>
                          <a:cs typeface="Arial MT"/>
                        </a:rPr>
                        <a:t> </a:t>
                      </a:r>
                      <a:r>
                        <a:rPr sz="1400" dirty="0">
                          <a:latin typeface="Arial MT"/>
                          <a:cs typeface="Arial MT"/>
                        </a:rPr>
                        <a:t>(21.59)</a:t>
                      </a:r>
                      <a:endParaRPr sz="1400">
                        <a:latin typeface="Arial MT"/>
                        <a:cs typeface="Arial MT"/>
                      </a:endParaRPr>
                    </a:p>
                  </a:txBody>
                  <a:tcPr marL="0" marR="0" marT="120014" marB="0">
                    <a:lnL w="12700">
                      <a:solidFill>
                        <a:srgbClr val="000000"/>
                      </a:solidFill>
                      <a:prstDash val="solid"/>
                    </a:lnL>
                    <a:lnR w="12700">
                      <a:solidFill>
                        <a:srgbClr val="000000"/>
                      </a:solidFill>
                      <a:prstDash val="solid"/>
                    </a:lnR>
                    <a:lnT w="12700">
                      <a:solidFill>
                        <a:srgbClr val="000000"/>
                      </a:solidFill>
                      <a:prstDash val="solid"/>
                    </a:lnT>
                    <a:lnB w="28575">
                      <a:solidFill>
                        <a:srgbClr val="F36633"/>
                      </a:solidFill>
                      <a:prstDash val="solid"/>
                    </a:lnB>
                    <a:solidFill>
                      <a:srgbClr val="F7F7F6"/>
                    </a:solidFill>
                  </a:tcPr>
                </a:tc>
                <a:extLst>
                  <a:ext uri="{0D108BD9-81ED-4DB2-BD59-A6C34878D82A}">
                    <a16:rowId xmlns:a16="http://schemas.microsoft.com/office/drawing/2014/main" val="10004"/>
                  </a:ext>
                </a:extLst>
              </a:tr>
              <a:tr h="642493">
                <a:tc rowSpan="4">
                  <a:txBody>
                    <a:bodyPr/>
                    <a:lstStyle/>
                    <a:p>
                      <a:pPr>
                        <a:lnSpc>
                          <a:spcPct val="100000"/>
                        </a:lnSpc>
                      </a:pPr>
                      <a:endParaRPr sz="1300">
                        <a:latin typeface="Times New Roman"/>
                        <a:cs typeface="Times New Roman"/>
                      </a:endParaRPr>
                    </a:p>
                  </a:txBody>
                  <a:tcPr marL="0" marR="0" marT="0" marB="0">
                    <a:lnR w="12700">
                      <a:solidFill>
                        <a:srgbClr val="000000"/>
                      </a:solidFill>
                      <a:prstDash val="solid"/>
                    </a:lnR>
                    <a:lnT w="28575">
                      <a:solidFill>
                        <a:srgbClr val="F36633"/>
                      </a:solidFill>
                      <a:prstDash val="solid"/>
                    </a:lnT>
                    <a:lnB w="28575">
                      <a:solidFill>
                        <a:srgbClr val="F36633"/>
                      </a:solidFill>
                      <a:prstDash val="solid"/>
                    </a:lnB>
                  </a:tcPr>
                </a:tc>
                <a:tc gridSpan="2">
                  <a:txBody>
                    <a:bodyPr/>
                    <a:lstStyle/>
                    <a:p>
                      <a:pPr>
                        <a:lnSpc>
                          <a:spcPct val="100000"/>
                        </a:lnSpc>
                        <a:spcBef>
                          <a:spcPts val="50"/>
                        </a:spcBef>
                      </a:pPr>
                      <a:endParaRPr sz="1400" dirty="0">
                        <a:latin typeface="Times New Roman"/>
                        <a:cs typeface="Times New Roman"/>
                      </a:endParaRPr>
                    </a:p>
                    <a:p>
                      <a:pPr marL="0" marR="0" lvl="0" indent="0" algn="l" defTabSz="1189038" rtl="0" eaLnBrk="1" fontAlgn="base" latinLnBrk="0" hangingPunct="1">
                        <a:lnSpc>
                          <a:spcPct val="100000"/>
                        </a:lnSpc>
                        <a:spcBef>
                          <a:spcPts val="0"/>
                        </a:spcBef>
                        <a:spcAft>
                          <a:spcPct val="0"/>
                        </a:spcAft>
                        <a:buClrTx/>
                        <a:buSzTx/>
                        <a:buFontTx/>
                        <a:buNone/>
                        <a:tabLst/>
                        <a:defRPr/>
                      </a:pPr>
                      <a:r>
                        <a:rPr kumimoji="0" lang="en-US" sz="1400" b="0" i="0" u="none" strike="noStrike" cap="none" normalizeH="0" baseline="0" dirty="0">
                          <a:ln>
                            <a:noFill/>
                          </a:ln>
                          <a:solidFill>
                            <a:schemeClr val="tx1"/>
                          </a:solidFill>
                          <a:effectLst/>
                          <a:latin typeface="+mn-lt"/>
                          <a:cs typeface="Times New Roman" pitchFamily="18" charset="0"/>
                        </a:rPr>
                        <a:t>FEV</a:t>
                      </a:r>
                      <a:r>
                        <a:rPr kumimoji="0" lang="en-US" sz="1400" b="0" i="0" u="none" strike="noStrike" cap="none" normalizeH="0" baseline="-25000" dirty="0">
                          <a:ln>
                            <a:noFill/>
                          </a:ln>
                          <a:solidFill>
                            <a:schemeClr val="tx1"/>
                          </a:solidFill>
                          <a:effectLst/>
                          <a:latin typeface="+mn-lt"/>
                          <a:cs typeface="Times New Roman" pitchFamily="18" charset="0"/>
                        </a:rPr>
                        <a:t>1</a:t>
                      </a:r>
                      <a:r>
                        <a:rPr kumimoji="0" lang="en-US" sz="1400" b="0" i="0" u="none" strike="noStrike" cap="none" normalizeH="0" baseline="0" dirty="0">
                          <a:ln>
                            <a:noFill/>
                          </a:ln>
                          <a:solidFill>
                            <a:schemeClr val="tx1"/>
                          </a:solidFill>
                          <a:effectLst/>
                          <a:latin typeface="+mn-lt"/>
                          <a:cs typeface="Times New Roman" pitchFamily="18" charset="0"/>
                        </a:rPr>
                        <a:t> predicted, % (SD)</a:t>
                      </a:r>
                    </a:p>
                  </a:txBody>
                  <a:tcPr marL="0" marR="0" marT="6350" marB="0">
                    <a:lnL w="12700">
                      <a:solidFill>
                        <a:srgbClr val="000000"/>
                      </a:solidFill>
                      <a:prstDash val="solid"/>
                    </a:lnL>
                    <a:lnR w="12700">
                      <a:solidFill>
                        <a:srgbClr val="000000"/>
                      </a:solidFill>
                      <a:prstDash val="solid"/>
                    </a:lnR>
                    <a:lnT w="28575">
                      <a:solidFill>
                        <a:srgbClr val="F36633"/>
                      </a:solidFill>
                      <a:prstDash val="solid"/>
                    </a:lnT>
                    <a:lnB w="12700">
                      <a:solidFill>
                        <a:srgbClr val="000000"/>
                      </a:solidFill>
                      <a:prstDash val="solid"/>
                    </a:lnB>
                    <a:solidFill>
                      <a:srgbClr val="EEEDEC"/>
                    </a:solidFill>
                  </a:tcPr>
                </a:tc>
                <a:tc hMerge="1">
                  <a:txBody>
                    <a:bodyPr/>
                    <a:lstStyle/>
                    <a:p>
                      <a:endParaRPr/>
                    </a:p>
                  </a:txBody>
                  <a:tcPr marL="0" marR="0" marT="0" marB="0"/>
                </a:tc>
                <a:tc>
                  <a:txBody>
                    <a:bodyPr/>
                    <a:lstStyle/>
                    <a:p>
                      <a:pPr marL="635" algn="ctr">
                        <a:lnSpc>
                          <a:spcPct val="100000"/>
                        </a:lnSpc>
                        <a:spcBef>
                          <a:spcPts val="1545"/>
                        </a:spcBef>
                      </a:pPr>
                      <a:r>
                        <a:rPr sz="1600" spc="-5" dirty="0">
                          <a:latin typeface="Arial MT"/>
                          <a:cs typeface="Arial MT"/>
                        </a:rPr>
                        <a:t>45.3%</a:t>
                      </a:r>
                      <a:r>
                        <a:rPr sz="1600" spc="-90" dirty="0">
                          <a:latin typeface="Arial MT"/>
                          <a:cs typeface="Arial MT"/>
                        </a:rPr>
                        <a:t> </a:t>
                      </a:r>
                      <a:r>
                        <a:rPr sz="1400" dirty="0">
                          <a:latin typeface="Arial MT"/>
                          <a:cs typeface="Arial MT"/>
                        </a:rPr>
                        <a:t>(13.3)</a:t>
                      </a:r>
                      <a:endParaRPr sz="1400">
                        <a:latin typeface="Arial MT"/>
                        <a:cs typeface="Arial MT"/>
                      </a:endParaRPr>
                    </a:p>
                  </a:txBody>
                  <a:tcPr marL="0" marR="0" marT="196215" marB="0">
                    <a:lnL w="12700">
                      <a:solidFill>
                        <a:srgbClr val="000000"/>
                      </a:solidFill>
                      <a:prstDash val="solid"/>
                    </a:lnL>
                    <a:lnR w="12700">
                      <a:solidFill>
                        <a:srgbClr val="000000"/>
                      </a:solidFill>
                      <a:prstDash val="solid"/>
                    </a:lnR>
                    <a:lnT w="28575">
                      <a:solidFill>
                        <a:srgbClr val="F36633"/>
                      </a:solidFill>
                      <a:prstDash val="solid"/>
                    </a:lnT>
                    <a:lnB w="12700">
                      <a:solidFill>
                        <a:srgbClr val="000000"/>
                      </a:solidFill>
                      <a:prstDash val="solid"/>
                    </a:lnB>
                    <a:solidFill>
                      <a:srgbClr val="EEEDEC"/>
                    </a:solidFill>
                  </a:tcPr>
                </a:tc>
                <a:tc>
                  <a:txBody>
                    <a:bodyPr/>
                    <a:lstStyle/>
                    <a:p>
                      <a:pPr marL="1905" algn="ctr">
                        <a:lnSpc>
                          <a:spcPct val="100000"/>
                        </a:lnSpc>
                        <a:spcBef>
                          <a:spcPts val="1545"/>
                        </a:spcBef>
                      </a:pPr>
                      <a:r>
                        <a:rPr sz="1600" spc="-5" dirty="0">
                          <a:latin typeface="Arial MT"/>
                          <a:cs typeface="Arial MT"/>
                        </a:rPr>
                        <a:t>46.2%</a:t>
                      </a:r>
                      <a:r>
                        <a:rPr sz="1600" spc="-90" dirty="0">
                          <a:latin typeface="Arial MT"/>
                          <a:cs typeface="Arial MT"/>
                        </a:rPr>
                        <a:t> </a:t>
                      </a:r>
                      <a:r>
                        <a:rPr sz="1400" dirty="0">
                          <a:latin typeface="Arial MT"/>
                          <a:cs typeface="Arial MT"/>
                        </a:rPr>
                        <a:t>(14.13)</a:t>
                      </a:r>
                      <a:endParaRPr sz="1400">
                        <a:latin typeface="Arial MT"/>
                        <a:cs typeface="Arial MT"/>
                      </a:endParaRPr>
                    </a:p>
                  </a:txBody>
                  <a:tcPr marL="0" marR="0" marT="196215" marB="0">
                    <a:lnL w="12700">
                      <a:solidFill>
                        <a:srgbClr val="000000"/>
                      </a:solidFill>
                      <a:prstDash val="solid"/>
                    </a:lnL>
                    <a:lnR w="12700">
                      <a:solidFill>
                        <a:srgbClr val="000000"/>
                      </a:solidFill>
                      <a:prstDash val="solid"/>
                    </a:lnR>
                    <a:lnT w="28575">
                      <a:solidFill>
                        <a:srgbClr val="F36633"/>
                      </a:solidFill>
                      <a:prstDash val="solid"/>
                    </a:lnT>
                    <a:lnB w="12700">
                      <a:solidFill>
                        <a:srgbClr val="000000"/>
                      </a:solidFill>
                      <a:prstDash val="solid"/>
                    </a:lnB>
                    <a:solidFill>
                      <a:srgbClr val="EEEDEC"/>
                    </a:solidFill>
                  </a:tcPr>
                </a:tc>
                <a:extLst>
                  <a:ext uri="{0D108BD9-81ED-4DB2-BD59-A6C34878D82A}">
                    <a16:rowId xmlns:a16="http://schemas.microsoft.com/office/drawing/2014/main" val="10005"/>
                  </a:ext>
                </a:extLst>
              </a:tr>
              <a:tr h="300342">
                <a:tc vMerge="1">
                  <a:txBody>
                    <a:bodyPr/>
                    <a:lstStyle/>
                    <a:p>
                      <a:endParaRPr/>
                    </a:p>
                  </a:txBody>
                  <a:tcPr marL="0" marR="0" marT="0" marB="0">
                    <a:lnR w="12700">
                      <a:solidFill>
                        <a:srgbClr val="000000"/>
                      </a:solidFill>
                      <a:prstDash val="solid"/>
                    </a:lnR>
                    <a:lnT w="28575">
                      <a:solidFill>
                        <a:srgbClr val="F36633"/>
                      </a:solidFill>
                      <a:prstDash val="solid"/>
                    </a:lnT>
                    <a:lnB w="28575">
                      <a:solidFill>
                        <a:srgbClr val="F36633"/>
                      </a:solidFill>
                      <a:prstDash val="solid"/>
                    </a:lnB>
                  </a:tcPr>
                </a:tc>
                <a:tc>
                  <a:txBody>
                    <a:bodyPr/>
                    <a:lstStyle/>
                    <a:p>
                      <a:pPr marL="0" marR="0" lvl="0" indent="0" algn="l" defTabSz="1189038" rtl="0" eaLnBrk="1" fontAlgn="base" latinLnBrk="0" hangingPunct="1">
                        <a:lnSpc>
                          <a:spcPct val="100000"/>
                        </a:lnSpc>
                        <a:spcBef>
                          <a:spcPts val="0"/>
                        </a:spcBef>
                        <a:spcAft>
                          <a:spcPct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Arial"/>
                          <a:ea typeface="+mn-ea"/>
                          <a:cs typeface="Times New Roman" pitchFamily="18" charset="0"/>
                        </a:rPr>
                        <a:t>Moderate/severe COPD exacerbation in previous 12 months, n (%)</a:t>
                      </a:r>
                      <a:endParaRPr kumimoji="0" lang="en-US" sz="1400" b="0" i="0" u="none" strike="noStrike" kern="1200" cap="none" spc="0" normalizeH="0" baseline="0" noProof="0" dirty="0">
                        <a:ln>
                          <a:noFill/>
                        </a:ln>
                        <a:solidFill>
                          <a:srgbClr val="000000"/>
                        </a:solidFill>
                        <a:effectLst/>
                        <a:uLnTx/>
                        <a:uFillTx/>
                        <a:latin typeface="Arial"/>
                        <a:ea typeface="+mn-ea"/>
                        <a:cs typeface="Times New Roman" pitchFamily="18" charset="0"/>
                      </a:endParaRPr>
                    </a:p>
                  </a:txBody>
                  <a:tcPr marL="0" marR="0" marT="108585" marB="0">
                    <a:lnL w="12700">
                      <a:solidFill>
                        <a:srgbClr val="000000"/>
                      </a:solidFill>
                      <a:prstDash val="solid"/>
                    </a:lnL>
                    <a:lnR w="12700">
                      <a:solidFill>
                        <a:srgbClr val="000000"/>
                      </a:solidFill>
                      <a:prstDash val="solid"/>
                    </a:lnR>
                    <a:lnT w="12700">
                      <a:solidFill>
                        <a:srgbClr val="000000"/>
                      </a:solidFill>
                      <a:prstDash val="solid"/>
                    </a:lnT>
                    <a:solidFill>
                      <a:srgbClr val="F7F7F6"/>
                    </a:solidFill>
                  </a:tcPr>
                </a:tc>
                <a:tc>
                  <a:txBody>
                    <a:bodyPr/>
                    <a:lstStyle/>
                    <a:p>
                      <a:pPr marL="90170">
                        <a:lnSpc>
                          <a:spcPts val="1895"/>
                        </a:lnSpc>
                        <a:spcBef>
                          <a:spcPts val="370"/>
                        </a:spcBef>
                      </a:pPr>
                      <a:r>
                        <a:rPr sz="1600" dirty="0">
                          <a:latin typeface="Arial MT"/>
                          <a:cs typeface="Arial MT"/>
                        </a:rPr>
                        <a:t>0</a:t>
                      </a:r>
                      <a:endParaRPr sz="1600">
                        <a:latin typeface="Arial MT"/>
                        <a:cs typeface="Arial MT"/>
                      </a:endParaRPr>
                    </a:p>
                  </a:txBody>
                  <a:tcPr marL="0" marR="0" marT="46990" marB="0">
                    <a:lnL w="12700">
                      <a:solidFill>
                        <a:srgbClr val="000000"/>
                      </a:solidFill>
                      <a:prstDash val="solid"/>
                    </a:lnL>
                    <a:lnR w="12700">
                      <a:solidFill>
                        <a:srgbClr val="000000"/>
                      </a:solidFill>
                      <a:prstDash val="solid"/>
                    </a:lnR>
                    <a:lnT w="12700">
                      <a:solidFill>
                        <a:srgbClr val="000000"/>
                      </a:solidFill>
                      <a:prstDash val="solid"/>
                    </a:lnT>
                    <a:solidFill>
                      <a:srgbClr val="F7F7F6"/>
                    </a:solidFill>
                  </a:tcPr>
                </a:tc>
                <a:tc>
                  <a:txBody>
                    <a:bodyPr/>
                    <a:lstStyle/>
                    <a:p>
                      <a:pPr marL="1270" algn="ctr">
                        <a:lnSpc>
                          <a:spcPts val="1895"/>
                        </a:lnSpc>
                        <a:spcBef>
                          <a:spcPts val="370"/>
                        </a:spcBef>
                      </a:pPr>
                      <a:r>
                        <a:rPr sz="1600" spc="-5" dirty="0">
                          <a:latin typeface="Arial MT"/>
                          <a:cs typeface="Arial MT"/>
                        </a:rPr>
                        <a:t>35%</a:t>
                      </a:r>
                      <a:r>
                        <a:rPr sz="1600" spc="-95" dirty="0">
                          <a:latin typeface="Arial MT"/>
                          <a:cs typeface="Arial MT"/>
                        </a:rPr>
                        <a:t> </a:t>
                      </a:r>
                      <a:r>
                        <a:rPr sz="1400" dirty="0">
                          <a:latin typeface="Arial MT"/>
                          <a:cs typeface="Arial MT"/>
                        </a:rPr>
                        <a:t>(630)</a:t>
                      </a:r>
                      <a:endParaRPr sz="1400">
                        <a:latin typeface="Arial MT"/>
                        <a:cs typeface="Arial MT"/>
                      </a:endParaRPr>
                    </a:p>
                  </a:txBody>
                  <a:tcPr marL="0" marR="0" marT="46990" marB="0">
                    <a:lnL w="12700">
                      <a:solidFill>
                        <a:srgbClr val="000000"/>
                      </a:solidFill>
                      <a:prstDash val="solid"/>
                    </a:lnL>
                    <a:lnR w="12700">
                      <a:solidFill>
                        <a:srgbClr val="000000"/>
                      </a:solidFill>
                      <a:prstDash val="solid"/>
                    </a:lnR>
                    <a:lnT w="12700">
                      <a:solidFill>
                        <a:srgbClr val="000000"/>
                      </a:solidFill>
                      <a:prstDash val="solid"/>
                    </a:lnT>
                    <a:solidFill>
                      <a:srgbClr val="F7F7F6"/>
                    </a:solidFill>
                  </a:tcPr>
                </a:tc>
                <a:tc>
                  <a:txBody>
                    <a:bodyPr/>
                    <a:lstStyle/>
                    <a:p>
                      <a:pPr marL="1270" algn="ctr">
                        <a:lnSpc>
                          <a:spcPts val="1895"/>
                        </a:lnSpc>
                        <a:spcBef>
                          <a:spcPts val="370"/>
                        </a:spcBef>
                      </a:pPr>
                      <a:r>
                        <a:rPr sz="1600" spc="-5" dirty="0">
                          <a:latin typeface="Arial MT"/>
                          <a:cs typeface="Arial MT"/>
                        </a:rPr>
                        <a:t>31%</a:t>
                      </a:r>
                      <a:r>
                        <a:rPr sz="1600" spc="-95" dirty="0">
                          <a:latin typeface="Arial MT"/>
                          <a:cs typeface="Arial MT"/>
                        </a:rPr>
                        <a:t> </a:t>
                      </a:r>
                      <a:r>
                        <a:rPr sz="1400" dirty="0">
                          <a:latin typeface="Arial MT"/>
                          <a:cs typeface="Arial MT"/>
                        </a:rPr>
                        <a:t>(134)</a:t>
                      </a:r>
                      <a:endParaRPr sz="1400">
                        <a:latin typeface="Arial MT"/>
                        <a:cs typeface="Arial MT"/>
                      </a:endParaRPr>
                    </a:p>
                  </a:txBody>
                  <a:tcPr marL="0" marR="0" marT="46990" marB="0">
                    <a:lnL w="12700">
                      <a:solidFill>
                        <a:srgbClr val="000000"/>
                      </a:solidFill>
                      <a:prstDash val="solid"/>
                    </a:lnL>
                    <a:lnR w="12700">
                      <a:solidFill>
                        <a:srgbClr val="000000"/>
                      </a:solidFill>
                      <a:prstDash val="solid"/>
                    </a:lnR>
                    <a:lnT w="12700">
                      <a:solidFill>
                        <a:srgbClr val="000000"/>
                      </a:solidFill>
                      <a:prstDash val="solid"/>
                    </a:lnT>
                    <a:solidFill>
                      <a:srgbClr val="F7F7F6"/>
                    </a:solidFill>
                  </a:tcPr>
                </a:tc>
                <a:extLst>
                  <a:ext uri="{0D108BD9-81ED-4DB2-BD59-A6C34878D82A}">
                    <a16:rowId xmlns:a16="http://schemas.microsoft.com/office/drawing/2014/main" val="10006"/>
                  </a:ext>
                </a:extLst>
              </a:tr>
              <a:tr h="245846">
                <a:tc vMerge="1">
                  <a:txBody>
                    <a:bodyPr/>
                    <a:lstStyle/>
                    <a:p>
                      <a:endParaRPr/>
                    </a:p>
                  </a:txBody>
                  <a:tcPr marL="0" marR="0" marT="0" marB="0">
                    <a:lnR w="12700">
                      <a:solidFill>
                        <a:srgbClr val="000000"/>
                      </a:solidFill>
                      <a:prstDash val="solid"/>
                    </a:lnR>
                    <a:lnT w="28575">
                      <a:solidFill>
                        <a:srgbClr val="F36633"/>
                      </a:solidFill>
                      <a:prstDash val="solid"/>
                    </a:lnT>
                    <a:lnB w="28575">
                      <a:solidFill>
                        <a:srgbClr val="F36633"/>
                      </a:solidFill>
                      <a:prstDash val="solid"/>
                    </a:lnB>
                  </a:tcPr>
                </a:tc>
                <a:tc>
                  <a:txBody>
                    <a:bodyPr/>
                    <a:lstStyle/>
                    <a:p>
                      <a:pPr marL="0" marR="0" lvl="0" indent="0" algn="l" defTabSz="1189038" rtl="0" eaLnBrk="1" fontAlgn="base" latinLnBrk="0" hangingPunct="1">
                        <a:lnSpc>
                          <a:spcPct val="100000"/>
                        </a:lnSpc>
                        <a:spcBef>
                          <a:spcPts val="0"/>
                        </a:spcBef>
                        <a:spcAft>
                          <a:spcPct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Arial"/>
                        <a:ea typeface="+mn-ea"/>
                        <a:cs typeface="Times New Roman" pitchFamily="18" charset="0"/>
                      </a:endParaRPr>
                    </a:p>
                  </a:txBody>
                  <a:tcPr marL="0" marR="0" marT="0" marB="0">
                    <a:lnL w="12700">
                      <a:solidFill>
                        <a:srgbClr val="000000"/>
                      </a:solidFill>
                      <a:prstDash val="solid"/>
                    </a:lnL>
                    <a:lnR w="12700">
                      <a:solidFill>
                        <a:srgbClr val="000000"/>
                      </a:solidFill>
                      <a:prstDash val="solid"/>
                    </a:lnR>
                    <a:solidFill>
                      <a:srgbClr val="F7F7F6"/>
                    </a:solidFill>
                  </a:tcPr>
                </a:tc>
                <a:tc>
                  <a:txBody>
                    <a:bodyPr/>
                    <a:lstStyle/>
                    <a:p>
                      <a:pPr marL="90170">
                        <a:lnSpc>
                          <a:spcPts val="1835"/>
                        </a:lnSpc>
                      </a:pPr>
                      <a:r>
                        <a:rPr sz="1600" dirty="0">
                          <a:latin typeface="Arial MT"/>
                          <a:cs typeface="Arial MT"/>
                        </a:rPr>
                        <a:t>1</a:t>
                      </a:r>
                      <a:endParaRPr sz="1600">
                        <a:latin typeface="Arial MT"/>
                        <a:cs typeface="Arial MT"/>
                      </a:endParaRPr>
                    </a:p>
                  </a:txBody>
                  <a:tcPr marL="0" marR="0" marT="0" marB="0">
                    <a:lnL w="12700">
                      <a:solidFill>
                        <a:srgbClr val="000000"/>
                      </a:solidFill>
                      <a:prstDash val="solid"/>
                    </a:lnL>
                    <a:lnR w="12700">
                      <a:solidFill>
                        <a:srgbClr val="000000"/>
                      </a:solidFill>
                      <a:prstDash val="solid"/>
                    </a:lnR>
                    <a:solidFill>
                      <a:srgbClr val="F7F7F6"/>
                    </a:solidFill>
                  </a:tcPr>
                </a:tc>
                <a:tc>
                  <a:txBody>
                    <a:bodyPr/>
                    <a:lstStyle/>
                    <a:p>
                      <a:pPr marL="1270" algn="ctr">
                        <a:lnSpc>
                          <a:spcPts val="1835"/>
                        </a:lnSpc>
                      </a:pPr>
                      <a:r>
                        <a:rPr sz="1600" spc="-5" dirty="0">
                          <a:latin typeface="Arial MT"/>
                          <a:cs typeface="Arial MT"/>
                        </a:rPr>
                        <a:t>28%</a:t>
                      </a:r>
                      <a:r>
                        <a:rPr sz="1600" spc="-95" dirty="0">
                          <a:latin typeface="Arial MT"/>
                          <a:cs typeface="Arial MT"/>
                        </a:rPr>
                        <a:t> </a:t>
                      </a:r>
                      <a:r>
                        <a:rPr sz="1400" dirty="0">
                          <a:latin typeface="Arial MT"/>
                          <a:cs typeface="Arial MT"/>
                        </a:rPr>
                        <a:t>(505)</a:t>
                      </a:r>
                      <a:endParaRPr sz="1400">
                        <a:latin typeface="Arial MT"/>
                        <a:cs typeface="Arial MT"/>
                      </a:endParaRPr>
                    </a:p>
                  </a:txBody>
                  <a:tcPr marL="0" marR="0" marT="0" marB="0">
                    <a:lnL w="12700">
                      <a:solidFill>
                        <a:srgbClr val="000000"/>
                      </a:solidFill>
                      <a:prstDash val="solid"/>
                    </a:lnL>
                    <a:lnR w="12700">
                      <a:solidFill>
                        <a:srgbClr val="000000"/>
                      </a:solidFill>
                      <a:prstDash val="solid"/>
                    </a:lnR>
                    <a:solidFill>
                      <a:srgbClr val="F7F7F6"/>
                    </a:solidFill>
                  </a:tcPr>
                </a:tc>
                <a:tc>
                  <a:txBody>
                    <a:bodyPr/>
                    <a:lstStyle/>
                    <a:p>
                      <a:pPr marL="635" algn="ctr">
                        <a:lnSpc>
                          <a:spcPts val="1835"/>
                        </a:lnSpc>
                      </a:pPr>
                      <a:r>
                        <a:rPr sz="1600" spc="-5" dirty="0">
                          <a:latin typeface="Arial MT"/>
                          <a:cs typeface="Arial MT"/>
                        </a:rPr>
                        <a:t>36%</a:t>
                      </a:r>
                      <a:r>
                        <a:rPr sz="1600" spc="-95" dirty="0">
                          <a:latin typeface="Arial MT"/>
                          <a:cs typeface="Arial MT"/>
                        </a:rPr>
                        <a:t> </a:t>
                      </a:r>
                      <a:r>
                        <a:rPr sz="1400" dirty="0">
                          <a:latin typeface="Arial MT"/>
                          <a:cs typeface="Arial MT"/>
                        </a:rPr>
                        <a:t>(156)</a:t>
                      </a:r>
                      <a:endParaRPr sz="1400">
                        <a:latin typeface="Arial MT"/>
                        <a:cs typeface="Arial MT"/>
                      </a:endParaRPr>
                    </a:p>
                  </a:txBody>
                  <a:tcPr marL="0" marR="0" marT="0" marB="0">
                    <a:lnL w="12700">
                      <a:solidFill>
                        <a:srgbClr val="000000"/>
                      </a:solidFill>
                      <a:prstDash val="solid"/>
                    </a:lnL>
                    <a:lnR w="12700">
                      <a:solidFill>
                        <a:srgbClr val="000000"/>
                      </a:solidFill>
                      <a:prstDash val="solid"/>
                    </a:lnR>
                    <a:solidFill>
                      <a:srgbClr val="F7F7F6"/>
                    </a:solidFill>
                  </a:tcPr>
                </a:tc>
                <a:extLst>
                  <a:ext uri="{0D108BD9-81ED-4DB2-BD59-A6C34878D82A}">
                    <a16:rowId xmlns:a16="http://schemas.microsoft.com/office/drawing/2014/main" val="10007"/>
                  </a:ext>
                </a:extLst>
              </a:tr>
              <a:tr h="294551">
                <a:tc vMerge="1">
                  <a:txBody>
                    <a:bodyPr/>
                    <a:lstStyle/>
                    <a:p>
                      <a:endParaRPr/>
                    </a:p>
                  </a:txBody>
                  <a:tcPr marL="0" marR="0" marT="0" marB="0">
                    <a:lnR w="12700">
                      <a:solidFill>
                        <a:srgbClr val="000000"/>
                      </a:solidFill>
                      <a:prstDash val="solid"/>
                    </a:lnR>
                    <a:lnT w="28575">
                      <a:solidFill>
                        <a:srgbClr val="F36633"/>
                      </a:solidFill>
                      <a:prstDash val="solid"/>
                    </a:lnT>
                    <a:lnB w="28575">
                      <a:solidFill>
                        <a:srgbClr val="F36633"/>
                      </a:solidFill>
                      <a:prstDash val="solid"/>
                    </a:lnB>
                  </a:tcPr>
                </a:tc>
                <a:tc>
                  <a:txBody>
                    <a:bodyPr/>
                    <a:lstStyle/>
                    <a:p>
                      <a:pPr marR="3175">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B w="28575">
                      <a:solidFill>
                        <a:srgbClr val="F36633"/>
                      </a:solidFill>
                      <a:prstDash val="solid"/>
                    </a:lnB>
                    <a:solidFill>
                      <a:srgbClr val="F7F7F6"/>
                    </a:solidFill>
                  </a:tcPr>
                </a:tc>
                <a:tc>
                  <a:txBody>
                    <a:bodyPr/>
                    <a:lstStyle/>
                    <a:p>
                      <a:pPr marL="90170">
                        <a:lnSpc>
                          <a:spcPts val="1835"/>
                        </a:lnSpc>
                      </a:pPr>
                      <a:r>
                        <a:rPr sz="1600" dirty="0">
                          <a:latin typeface="Arial MT"/>
                          <a:cs typeface="Arial MT"/>
                        </a:rPr>
                        <a:t>&gt;2</a:t>
                      </a:r>
                      <a:endParaRPr sz="1600">
                        <a:latin typeface="Arial MT"/>
                        <a:cs typeface="Arial MT"/>
                      </a:endParaRPr>
                    </a:p>
                  </a:txBody>
                  <a:tcPr marL="0" marR="0" marT="0" marB="0">
                    <a:lnL w="12700">
                      <a:solidFill>
                        <a:srgbClr val="000000"/>
                      </a:solidFill>
                      <a:prstDash val="solid"/>
                    </a:lnL>
                    <a:lnR w="12700">
                      <a:solidFill>
                        <a:srgbClr val="000000"/>
                      </a:solidFill>
                      <a:prstDash val="solid"/>
                    </a:lnR>
                    <a:lnB w="28575">
                      <a:solidFill>
                        <a:srgbClr val="F36633"/>
                      </a:solidFill>
                      <a:prstDash val="solid"/>
                    </a:lnB>
                    <a:solidFill>
                      <a:srgbClr val="F7F7F6"/>
                    </a:solidFill>
                  </a:tcPr>
                </a:tc>
                <a:tc>
                  <a:txBody>
                    <a:bodyPr/>
                    <a:lstStyle/>
                    <a:p>
                      <a:pPr marL="1270" algn="ctr">
                        <a:lnSpc>
                          <a:spcPts val="1835"/>
                        </a:lnSpc>
                      </a:pPr>
                      <a:r>
                        <a:rPr sz="1600" spc="-5" dirty="0">
                          <a:latin typeface="Arial MT"/>
                          <a:cs typeface="Arial MT"/>
                        </a:rPr>
                        <a:t>37%</a:t>
                      </a:r>
                      <a:r>
                        <a:rPr sz="1600" spc="-95" dirty="0">
                          <a:latin typeface="Arial MT"/>
                          <a:cs typeface="Arial MT"/>
                        </a:rPr>
                        <a:t> </a:t>
                      </a:r>
                      <a:r>
                        <a:rPr sz="1400" dirty="0">
                          <a:latin typeface="Arial MT"/>
                          <a:cs typeface="Arial MT"/>
                        </a:rPr>
                        <a:t>(675)</a:t>
                      </a:r>
                      <a:endParaRPr sz="1400">
                        <a:latin typeface="Arial MT"/>
                        <a:cs typeface="Arial MT"/>
                      </a:endParaRPr>
                    </a:p>
                  </a:txBody>
                  <a:tcPr marL="0" marR="0" marT="0" marB="0">
                    <a:lnL w="12700">
                      <a:solidFill>
                        <a:srgbClr val="000000"/>
                      </a:solidFill>
                      <a:prstDash val="solid"/>
                    </a:lnL>
                    <a:lnR w="12700">
                      <a:solidFill>
                        <a:srgbClr val="000000"/>
                      </a:solidFill>
                      <a:prstDash val="solid"/>
                    </a:lnR>
                    <a:lnB w="28575">
                      <a:solidFill>
                        <a:srgbClr val="F36633"/>
                      </a:solidFill>
                      <a:prstDash val="solid"/>
                    </a:lnB>
                    <a:solidFill>
                      <a:srgbClr val="F7F7F6"/>
                    </a:solidFill>
                  </a:tcPr>
                </a:tc>
                <a:tc>
                  <a:txBody>
                    <a:bodyPr/>
                    <a:lstStyle/>
                    <a:p>
                      <a:pPr marL="635" algn="ctr">
                        <a:lnSpc>
                          <a:spcPts val="1835"/>
                        </a:lnSpc>
                      </a:pPr>
                      <a:r>
                        <a:rPr sz="1600" spc="-5" dirty="0">
                          <a:latin typeface="Arial MT"/>
                          <a:cs typeface="Arial MT"/>
                        </a:rPr>
                        <a:t>33%</a:t>
                      </a:r>
                      <a:r>
                        <a:rPr sz="1600" spc="-95" dirty="0">
                          <a:latin typeface="Arial MT"/>
                          <a:cs typeface="Arial MT"/>
                        </a:rPr>
                        <a:t> </a:t>
                      </a:r>
                      <a:r>
                        <a:rPr sz="1400" dirty="0">
                          <a:latin typeface="Arial MT"/>
                          <a:cs typeface="Arial MT"/>
                        </a:rPr>
                        <a:t>(140)</a:t>
                      </a:r>
                    </a:p>
                  </a:txBody>
                  <a:tcPr marL="0" marR="0" marT="0" marB="0">
                    <a:lnL w="12700">
                      <a:solidFill>
                        <a:srgbClr val="000000"/>
                      </a:solidFill>
                      <a:prstDash val="solid"/>
                    </a:lnL>
                    <a:lnR w="12700">
                      <a:solidFill>
                        <a:srgbClr val="000000"/>
                      </a:solidFill>
                      <a:prstDash val="solid"/>
                    </a:lnR>
                    <a:lnB w="28575">
                      <a:solidFill>
                        <a:srgbClr val="F36633"/>
                      </a:solidFill>
                      <a:prstDash val="solid"/>
                    </a:lnB>
                    <a:solidFill>
                      <a:srgbClr val="F7F7F6"/>
                    </a:solidFill>
                  </a:tcPr>
                </a:tc>
                <a:extLst>
                  <a:ext uri="{0D108BD9-81ED-4DB2-BD59-A6C34878D82A}">
                    <a16:rowId xmlns:a16="http://schemas.microsoft.com/office/drawing/2014/main" val="10008"/>
                  </a:ext>
                </a:extLst>
              </a:tr>
            </a:tbl>
          </a:graphicData>
        </a:graphic>
      </p:graphicFrame>
      <p:grpSp>
        <p:nvGrpSpPr>
          <p:cNvPr id="39" name="object 7">
            <a:extLst>
              <a:ext uri="{FF2B5EF4-FFF2-40B4-BE49-F238E27FC236}">
                <a16:creationId xmlns:a16="http://schemas.microsoft.com/office/drawing/2014/main" id="{229BA936-A4B2-30AE-1905-C1FD3C964E97}"/>
              </a:ext>
            </a:extLst>
          </p:cNvPr>
          <p:cNvGrpSpPr/>
          <p:nvPr/>
        </p:nvGrpSpPr>
        <p:grpSpPr>
          <a:xfrm>
            <a:off x="1703326" y="3397665"/>
            <a:ext cx="736600" cy="554990"/>
            <a:chOff x="1769364" y="2974848"/>
            <a:chExt cx="736600" cy="554990"/>
          </a:xfrm>
        </p:grpSpPr>
        <p:sp>
          <p:nvSpPr>
            <p:cNvPr id="40" name="object 8">
              <a:extLst>
                <a:ext uri="{FF2B5EF4-FFF2-40B4-BE49-F238E27FC236}">
                  <a16:creationId xmlns:a16="http://schemas.microsoft.com/office/drawing/2014/main" id="{4C34A4FC-B70C-4D62-A065-01A42699B06C}"/>
                </a:ext>
              </a:extLst>
            </p:cNvPr>
            <p:cNvSpPr/>
            <p:nvPr/>
          </p:nvSpPr>
          <p:spPr>
            <a:xfrm>
              <a:off x="1779270" y="3416046"/>
              <a:ext cx="195580" cy="102235"/>
            </a:xfrm>
            <a:custGeom>
              <a:avLst/>
              <a:gdLst/>
              <a:ahLst/>
              <a:cxnLst/>
              <a:rect l="l" t="t" r="r" b="b"/>
              <a:pathLst>
                <a:path w="195580" h="102235">
                  <a:moveTo>
                    <a:pt x="195071" y="0"/>
                  </a:moveTo>
                  <a:lnTo>
                    <a:pt x="0" y="0"/>
                  </a:lnTo>
                  <a:lnTo>
                    <a:pt x="0" y="102108"/>
                  </a:lnTo>
                  <a:lnTo>
                    <a:pt x="195071" y="102108"/>
                  </a:lnTo>
                  <a:lnTo>
                    <a:pt x="195071" y="0"/>
                  </a:lnTo>
                  <a:close/>
                </a:path>
              </a:pathLst>
            </a:custGeom>
            <a:solidFill>
              <a:srgbClr val="F36633"/>
            </a:solidFill>
          </p:spPr>
          <p:txBody>
            <a:bodyPr wrap="square" lIns="0" tIns="0" rIns="0" bIns="0" rtlCol="0"/>
            <a:lstStyle/>
            <a:p>
              <a:endParaRPr/>
            </a:p>
          </p:txBody>
        </p:sp>
        <p:sp>
          <p:nvSpPr>
            <p:cNvPr id="41" name="object 9">
              <a:extLst>
                <a:ext uri="{FF2B5EF4-FFF2-40B4-BE49-F238E27FC236}">
                  <a16:creationId xmlns:a16="http://schemas.microsoft.com/office/drawing/2014/main" id="{F4ABD844-00AC-FE81-EC6B-B0DAA37848EC}"/>
                </a:ext>
              </a:extLst>
            </p:cNvPr>
            <p:cNvSpPr/>
            <p:nvPr/>
          </p:nvSpPr>
          <p:spPr>
            <a:xfrm>
              <a:off x="1779270" y="3416046"/>
              <a:ext cx="612775" cy="102235"/>
            </a:xfrm>
            <a:custGeom>
              <a:avLst/>
              <a:gdLst/>
              <a:ahLst/>
              <a:cxnLst/>
              <a:rect l="l" t="t" r="r" b="b"/>
              <a:pathLst>
                <a:path w="612775" h="102235">
                  <a:moveTo>
                    <a:pt x="0" y="102108"/>
                  </a:moveTo>
                  <a:lnTo>
                    <a:pt x="195071" y="102108"/>
                  </a:lnTo>
                  <a:lnTo>
                    <a:pt x="195071" y="0"/>
                  </a:lnTo>
                  <a:lnTo>
                    <a:pt x="0" y="0"/>
                  </a:lnTo>
                  <a:lnTo>
                    <a:pt x="0" y="102108"/>
                  </a:lnTo>
                  <a:close/>
                </a:path>
                <a:path w="612775" h="102235">
                  <a:moveTo>
                    <a:pt x="195072" y="102108"/>
                  </a:moveTo>
                  <a:lnTo>
                    <a:pt x="612648" y="102108"/>
                  </a:lnTo>
                  <a:lnTo>
                    <a:pt x="612648" y="0"/>
                  </a:lnTo>
                  <a:lnTo>
                    <a:pt x="195072" y="0"/>
                  </a:lnTo>
                  <a:lnTo>
                    <a:pt x="195072" y="102108"/>
                  </a:lnTo>
                  <a:close/>
                </a:path>
              </a:pathLst>
            </a:custGeom>
            <a:ln w="19812">
              <a:solidFill>
                <a:srgbClr val="F36633"/>
              </a:solidFill>
            </a:ln>
          </p:spPr>
          <p:txBody>
            <a:bodyPr wrap="square" lIns="0" tIns="0" rIns="0" bIns="0" rtlCol="0"/>
            <a:lstStyle/>
            <a:p>
              <a:endParaRPr/>
            </a:p>
          </p:txBody>
        </p:sp>
        <p:sp>
          <p:nvSpPr>
            <p:cNvPr id="42" name="object 10">
              <a:extLst>
                <a:ext uri="{FF2B5EF4-FFF2-40B4-BE49-F238E27FC236}">
                  <a16:creationId xmlns:a16="http://schemas.microsoft.com/office/drawing/2014/main" id="{4C4A69BD-7B2C-3CE1-B683-40E68808D06D}"/>
                </a:ext>
              </a:extLst>
            </p:cNvPr>
            <p:cNvSpPr/>
            <p:nvPr/>
          </p:nvSpPr>
          <p:spPr>
            <a:xfrm>
              <a:off x="2169461" y="2984754"/>
              <a:ext cx="320040" cy="384175"/>
            </a:xfrm>
            <a:custGeom>
              <a:avLst/>
              <a:gdLst/>
              <a:ahLst/>
              <a:cxnLst/>
              <a:rect l="l" t="t" r="r" b="b"/>
              <a:pathLst>
                <a:path w="320039" h="384175">
                  <a:moveTo>
                    <a:pt x="2365" y="4572"/>
                  </a:moveTo>
                  <a:lnTo>
                    <a:pt x="498" y="58179"/>
                  </a:lnTo>
                  <a:lnTo>
                    <a:pt x="0" y="108727"/>
                  </a:lnTo>
                  <a:lnTo>
                    <a:pt x="2240" y="153108"/>
                  </a:lnTo>
                  <a:lnTo>
                    <a:pt x="18329" y="211458"/>
                  </a:lnTo>
                  <a:lnTo>
                    <a:pt x="73104" y="240284"/>
                  </a:lnTo>
                  <a:lnTo>
                    <a:pt x="156035" y="245808"/>
                  </a:lnTo>
                  <a:lnTo>
                    <a:pt x="201549" y="246213"/>
                  </a:lnTo>
                  <a:lnTo>
                    <a:pt x="235918" y="249428"/>
                  </a:lnTo>
                  <a:lnTo>
                    <a:pt x="271583" y="272198"/>
                  </a:lnTo>
                  <a:lnTo>
                    <a:pt x="278709" y="310223"/>
                  </a:lnTo>
                  <a:lnTo>
                    <a:pt x="278399" y="341804"/>
                  </a:lnTo>
                  <a:lnTo>
                    <a:pt x="276852" y="369266"/>
                  </a:lnTo>
                  <a:lnTo>
                    <a:pt x="275923" y="381000"/>
                  </a:lnTo>
                </a:path>
                <a:path w="320039" h="384175">
                  <a:moveTo>
                    <a:pt x="44021" y="0"/>
                  </a:moveTo>
                  <a:lnTo>
                    <a:pt x="42997" y="46204"/>
                  </a:lnTo>
                  <a:lnTo>
                    <a:pt x="42687" y="89598"/>
                  </a:lnTo>
                  <a:lnTo>
                    <a:pt x="43807" y="127373"/>
                  </a:lnTo>
                  <a:lnTo>
                    <a:pt x="50452" y="175224"/>
                  </a:lnTo>
                  <a:lnTo>
                    <a:pt x="113502" y="195548"/>
                  </a:lnTo>
                  <a:lnTo>
                    <a:pt x="157495" y="194310"/>
                  </a:lnTo>
                  <a:lnTo>
                    <a:pt x="202060" y="192690"/>
                  </a:lnTo>
                  <a:lnTo>
                    <a:pt x="236553" y="193548"/>
                  </a:lnTo>
                  <a:lnTo>
                    <a:pt x="279737" y="209067"/>
                  </a:lnTo>
                  <a:lnTo>
                    <a:pt x="305387" y="242141"/>
                  </a:lnTo>
                  <a:lnTo>
                    <a:pt x="318871" y="299340"/>
                  </a:lnTo>
                  <a:lnTo>
                    <a:pt x="319913" y="325643"/>
                  </a:lnTo>
                  <a:lnTo>
                    <a:pt x="319787" y="354256"/>
                  </a:lnTo>
                  <a:lnTo>
                    <a:pt x="319103" y="384048"/>
                  </a:lnTo>
                </a:path>
              </a:pathLst>
            </a:custGeom>
            <a:ln w="19812">
              <a:solidFill>
                <a:srgbClr val="F36633"/>
              </a:solidFill>
            </a:ln>
          </p:spPr>
          <p:txBody>
            <a:bodyPr wrap="square" lIns="0" tIns="0" rIns="0" bIns="0" rtlCol="0"/>
            <a:lstStyle/>
            <a:p>
              <a:endParaRPr/>
            </a:p>
          </p:txBody>
        </p:sp>
        <p:pic>
          <p:nvPicPr>
            <p:cNvPr id="61" name="object 11">
              <a:extLst>
                <a:ext uri="{FF2B5EF4-FFF2-40B4-BE49-F238E27FC236}">
                  <a16:creationId xmlns:a16="http://schemas.microsoft.com/office/drawing/2014/main" id="{1706F20F-8EB7-0FF5-495C-52C32123D732}"/>
                </a:ext>
              </a:extLst>
            </p:cNvPr>
            <p:cNvPicPr/>
            <p:nvPr/>
          </p:nvPicPr>
          <p:blipFill>
            <a:blip r:embed="rId3" cstate="print"/>
            <a:stretch>
              <a:fillRect/>
            </a:stretch>
          </p:blipFill>
          <p:spPr>
            <a:xfrm>
              <a:off x="2423160" y="3400044"/>
              <a:ext cx="82296" cy="129540"/>
            </a:xfrm>
            <a:prstGeom prst="rect">
              <a:avLst/>
            </a:prstGeom>
          </p:spPr>
        </p:pic>
      </p:grpSp>
      <p:sp>
        <p:nvSpPr>
          <p:cNvPr id="5" name="Text Placeholder 8">
            <a:extLst>
              <a:ext uri="{FF2B5EF4-FFF2-40B4-BE49-F238E27FC236}">
                <a16:creationId xmlns:a16="http://schemas.microsoft.com/office/drawing/2014/main" id="{23DBBC81-12B1-8EA3-6141-D4BEEF410250}"/>
              </a:ext>
            </a:extLst>
          </p:cNvPr>
          <p:cNvSpPr txBox="1">
            <a:spLocks/>
          </p:cNvSpPr>
          <p:nvPr/>
        </p:nvSpPr>
        <p:spPr>
          <a:xfrm>
            <a:off x="2103423" y="6275855"/>
            <a:ext cx="8171182" cy="494321"/>
          </a:xfrm>
          <a:prstGeom prst="rect">
            <a:avLst/>
          </a:prstGeom>
        </p:spPr>
        <p:txBody>
          <a:bodyPr vert="horz" wrap="square" lIns="180000" tIns="180000" rIns="180000" bIns="180000" rtlCol="0" anchor="b" anchorCtr="0">
            <a:spAutoFit/>
          </a:bodyPr>
          <a:lstStyle>
            <a:lvl1pPr marL="0" indent="0" algn="l" defTabSz="1219170" rtl="0" eaLnBrk="1" latinLnBrk="0" hangingPunct="1">
              <a:lnSpc>
                <a:spcPct val="85000"/>
              </a:lnSpc>
              <a:spcBef>
                <a:spcPts val="300"/>
              </a:spcBef>
              <a:spcAft>
                <a:spcPts val="0"/>
              </a:spcAft>
              <a:buClr>
                <a:schemeClr val="tx2"/>
              </a:buClr>
              <a:buSzPct val="110000"/>
              <a:buFont typeface="Arial" panose="020B0604020202020204" pitchFamily="34" charset="0"/>
              <a:buNone/>
              <a:defRPr sz="800" kern="1200" baseline="0">
                <a:solidFill>
                  <a:schemeClr val="tx1"/>
                </a:solidFill>
                <a:latin typeface="+mn-lt"/>
                <a:ea typeface="+mn-ea"/>
                <a:cs typeface="+mn-cs"/>
              </a:defRPr>
            </a:lvl1pPr>
            <a:lvl2pPr marL="268163" indent="0" algn="l" defTabSz="1219170" rtl="0" eaLnBrk="1" latinLnBrk="0" hangingPunct="1">
              <a:spcBef>
                <a:spcPts val="300"/>
              </a:spcBef>
              <a:spcAft>
                <a:spcPts val="300"/>
              </a:spcAft>
              <a:buClr>
                <a:schemeClr val="tx1"/>
              </a:buClr>
              <a:buFont typeface="Arial" panose="020B0604020202020204" pitchFamily="34" charset="0"/>
              <a:buNone/>
              <a:defRPr sz="800" kern="1200">
                <a:solidFill>
                  <a:schemeClr val="tx1"/>
                </a:solidFill>
                <a:latin typeface="+mn-lt"/>
                <a:ea typeface="+mn-ea"/>
                <a:cs typeface="+mn-cs"/>
              </a:defRPr>
            </a:lvl2pPr>
            <a:lvl3pPr marL="540000" indent="0" algn="l" defTabSz="1219170" rtl="0" eaLnBrk="1" latinLnBrk="0" hangingPunct="1">
              <a:spcBef>
                <a:spcPts val="300"/>
              </a:spcBef>
              <a:spcAft>
                <a:spcPts val="300"/>
              </a:spcAft>
              <a:buClr>
                <a:schemeClr val="tx1"/>
              </a:buClr>
              <a:buFont typeface="Arial" panose="020B0604020202020204" pitchFamily="34" charset="0"/>
              <a:buNone/>
              <a:defRPr sz="800" kern="1200">
                <a:solidFill>
                  <a:schemeClr val="tx1"/>
                </a:solidFill>
                <a:latin typeface="+mn-lt"/>
                <a:ea typeface="+mn-ea"/>
                <a:cs typeface="+mn-cs"/>
              </a:defRPr>
            </a:lvl3pPr>
            <a:lvl4pPr marL="811088" indent="0" algn="l" defTabSz="1219170" rtl="0" eaLnBrk="1" latinLnBrk="0" hangingPunct="1">
              <a:spcBef>
                <a:spcPts val="300"/>
              </a:spcBef>
              <a:spcAft>
                <a:spcPts val="300"/>
              </a:spcAft>
              <a:buClr>
                <a:schemeClr val="tx1"/>
              </a:buClr>
              <a:buFont typeface="Arial" panose="020B0604020202020204" pitchFamily="34" charset="0"/>
              <a:buNone/>
              <a:defRPr sz="800" kern="1200">
                <a:solidFill>
                  <a:schemeClr val="tx1"/>
                </a:solidFill>
                <a:latin typeface="+mn-lt"/>
                <a:ea typeface="+mn-ea"/>
                <a:cs typeface="+mn-cs"/>
              </a:defRPr>
            </a:lvl4pPr>
            <a:lvl5pPr marL="1080000" indent="0" algn="l" defTabSz="1219170" rtl="0" eaLnBrk="1" latinLnBrk="0" hangingPunct="1">
              <a:spcBef>
                <a:spcPts val="300"/>
              </a:spcBef>
              <a:spcAft>
                <a:spcPts val="300"/>
              </a:spcAft>
              <a:buClr>
                <a:schemeClr val="tx1"/>
              </a:buClr>
              <a:buFont typeface="Arial" panose="020B0604020202020204" pitchFamily="34" charset="0"/>
              <a:buNone/>
              <a:defRPr sz="8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algn="r"/>
            <a:r>
              <a:rPr lang="en-US" sz="1000" dirty="0">
                <a:latin typeface="Calibri" panose="020F0502020204030204" pitchFamily="34" charset="0"/>
                <a:cs typeface="Calibri" panose="020F0502020204030204" pitchFamily="34" charset="0"/>
              </a:rPr>
              <a:t>Lipson DA et al. Am J Resp Crit Care. 2017; 196:438–446.</a:t>
            </a:r>
            <a:endParaRPr lang="en-GB" sz="1000" dirty="0">
              <a:latin typeface="Calibri" panose="020F0502020204030204" pitchFamily="34" charset="0"/>
              <a:cs typeface="Calibri" panose="020F0502020204030204" pitchFamily="34" charset="0"/>
            </a:endParaRPr>
          </a:p>
        </p:txBody>
      </p:sp>
      <p:sp>
        <p:nvSpPr>
          <p:cNvPr id="3" name="Slide Number Placeholder 4">
            <a:extLst>
              <a:ext uri="{FF2B5EF4-FFF2-40B4-BE49-F238E27FC236}">
                <a16:creationId xmlns:a16="http://schemas.microsoft.com/office/drawing/2014/main" id="{D4A74FF9-945D-C50A-41F8-B490E05A4872}"/>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7</a:t>
            </a:fld>
            <a:endParaRPr lang="en-GB" sz="1000" dirty="0">
              <a:solidFill>
                <a:srgbClr val="000000"/>
              </a:solidFill>
              <a:latin typeface="Arial"/>
              <a:cs typeface="Noto Sans"/>
            </a:endParaRPr>
          </a:p>
        </p:txBody>
      </p:sp>
      <p:sp>
        <p:nvSpPr>
          <p:cNvPr id="4" name="object 13">
            <a:extLst>
              <a:ext uri="{FF2B5EF4-FFF2-40B4-BE49-F238E27FC236}">
                <a16:creationId xmlns:a16="http://schemas.microsoft.com/office/drawing/2014/main" id="{1DB5623F-5DDC-E964-9C42-33684A27725B}"/>
              </a:ext>
            </a:extLst>
          </p:cNvPr>
          <p:cNvSpPr/>
          <p:nvPr/>
        </p:nvSpPr>
        <p:spPr>
          <a:xfrm>
            <a:off x="1712559" y="4529996"/>
            <a:ext cx="742315" cy="656590"/>
          </a:xfrm>
          <a:custGeom>
            <a:avLst/>
            <a:gdLst/>
            <a:ahLst/>
            <a:cxnLst/>
            <a:rect l="l" t="t" r="r" b="b"/>
            <a:pathLst>
              <a:path w="742314" h="656589">
                <a:moveTo>
                  <a:pt x="742010" y="534530"/>
                </a:moveTo>
                <a:lnTo>
                  <a:pt x="735368" y="482092"/>
                </a:lnTo>
                <a:lnTo>
                  <a:pt x="722731" y="426986"/>
                </a:lnTo>
                <a:lnTo>
                  <a:pt x="705827" y="370420"/>
                </a:lnTo>
                <a:lnTo>
                  <a:pt x="685368" y="314134"/>
                </a:lnTo>
                <a:lnTo>
                  <a:pt x="662089" y="259854"/>
                </a:lnTo>
                <a:lnTo>
                  <a:pt x="636714" y="209334"/>
                </a:lnTo>
                <a:lnTo>
                  <a:pt x="609981" y="164312"/>
                </a:lnTo>
                <a:lnTo>
                  <a:pt x="582612" y="126517"/>
                </a:lnTo>
                <a:lnTo>
                  <a:pt x="555332" y="97688"/>
                </a:lnTo>
                <a:lnTo>
                  <a:pt x="503974" y="73914"/>
                </a:lnTo>
                <a:lnTo>
                  <a:pt x="470154" y="82727"/>
                </a:lnTo>
                <a:lnTo>
                  <a:pt x="447090" y="107543"/>
                </a:lnTo>
                <a:lnTo>
                  <a:pt x="432866" y="145910"/>
                </a:lnTo>
                <a:lnTo>
                  <a:pt x="425589" y="195402"/>
                </a:lnTo>
                <a:lnTo>
                  <a:pt x="423926" y="239128"/>
                </a:lnTo>
                <a:lnTo>
                  <a:pt x="397675" y="213131"/>
                </a:lnTo>
                <a:lnTo>
                  <a:pt x="397675" y="26924"/>
                </a:lnTo>
                <a:lnTo>
                  <a:pt x="395643" y="16243"/>
                </a:lnTo>
                <a:lnTo>
                  <a:pt x="390055" y="7708"/>
                </a:lnTo>
                <a:lnTo>
                  <a:pt x="381596" y="2057"/>
                </a:lnTo>
                <a:lnTo>
                  <a:pt x="371005" y="0"/>
                </a:lnTo>
                <a:lnTo>
                  <a:pt x="360400" y="2057"/>
                </a:lnTo>
                <a:lnTo>
                  <a:pt x="351955" y="7708"/>
                </a:lnTo>
                <a:lnTo>
                  <a:pt x="346354" y="16243"/>
                </a:lnTo>
                <a:lnTo>
                  <a:pt x="344335" y="26924"/>
                </a:lnTo>
                <a:lnTo>
                  <a:pt x="344335" y="214630"/>
                </a:lnTo>
                <a:lnTo>
                  <a:pt x="320662" y="238074"/>
                </a:lnTo>
                <a:lnTo>
                  <a:pt x="319836" y="195402"/>
                </a:lnTo>
                <a:lnTo>
                  <a:pt x="313194" y="145910"/>
                </a:lnTo>
                <a:lnTo>
                  <a:pt x="299262" y="107543"/>
                </a:lnTo>
                <a:lnTo>
                  <a:pt x="242354" y="73914"/>
                </a:lnTo>
                <a:lnTo>
                  <a:pt x="217398" y="79578"/>
                </a:lnTo>
                <a:lnTo>
                  <a:pt x="163461" y="126517"/>
                </a:lnTo>
                <a:lnTo>
                  <a:pt x="135890" y="164312"/>
                </a:lnTo>
                <a:lnTo>
                  <a:pt x="108864" y="209334"/>
                </a:lnTo>
                <a:lnTo>
                  <a:pt x="83096" y="259854"/>
                </a:lnTo>
                <a:lnTo>
                  <a:pt x="59283" y="314134"/>
                </a:lnTo>
                <a:lnTo>
                  <a:pt x="38125" y="370420"/>
                </a:lnTo>
                <a:lnTo>
                  <a:pt x="20345" y="426986"/>
                </a:lnTo>
                <a:lnTo>
                  <a:pt x="6642" y="482092"/>
                </a:lnTo>
                <a:lnTo>
                  <a:pt x="0" y="534530"/>
                </a:lnTo>
                <a:lnTo>
                  <a:pt x="4762" y="577430"/>
                </a:lnTo>
                <a:lnTo>
                  <a:pt x="19494" y="610946"/>
                </a:lnTo>
                <a:lnTo>
                  <a:pt x="42786" y="635190"/>
                </a:lnTo>
                <a:lnTo>
                  <a:pt x="73190" y="650328"/>
                </a:lnTo>
                <a:lnTo>
                  <a:pt x="109308" y="656475"/>
                </a:lnTo>
                <a:lnTo>
                  <a:pt x="149694" y="653783"/>
                </a:lnTo>
                <a:lnTo>
                  <a:pt x="192951" y="642366"/>
                </a:lnTo>
                <a:lnTo>
                  <a:pt x="230924" y="622935"/>
                </a:lnTo>
                <a:lnTo>
                  <a:pt x="260134" y="594347"/>
                </a:lnTo>
                <a:lnTo>
                  <a:pt x="281762" y="558177"/>
                </a:lnTo>
                <a:lnTo>
                  <a:pt x="297027" y="515962"/>
                </a:lnTo>
                <a:lnTo>
                  <a:pt x="307111" y="469277"/>
                </a:lnTo>
                <a:lnTo>
                  <a:pt x="313245" y="419684"/>
                </a:lnTo>
                <a:lnTo>
                  <a:pt x="316611" y="368744"/>
                </a:lnTo>
                <a:lnTo>
                  <a:pt x="318427" y="318008"/>
                </a:lnTo>
                <a:lnTo>
                  <a:pt x="318528" y="315239"/>
                </a:lnTo>
                <a:lnTo>
                  <a:pt x="371767" y="261874"/>
                </a:lnTo>
                <a:lnTo>
                  <a:pt x="424268" y="313740"/>
                </a:lnTo>
                <a:lnTo>
                  <a:pt x="424345" y="318008"/>
                </a:lnTo>
                <a:lnTo>
                  <a:pt x="426135" y="368744"/>
                </a:lnTo>
                <a:lnTo>
                  <a:pt x="429488" y="419684"/>
                </a:lnTo>
                <a:lnTo>
                  <a:pt x="435597" y="469277"/>
                </a:lnTo>
                <a:lnTo>
                  <a:pt x="445655" y="515962"/>
                </a:lnTo>
                <a:lnTo>
                  <a:pt x="460883" y="558177"/>
                </a:lnTo>
                <a:lnTo>
                  <a:pt x="482473" y="594347"/>
                </a:lnTo>
                <a:lnTo>
                  <a:pt x="511632" y="622935"/>
                </a:lnTo>
                <a:lnTo>
                  <a:pt x="549567" y="642366"/>
                </a:lnTo>
                <a:lnTo>
                  <a:pt x="592709" y="653783"/>
                </a:lnTo>
                <a:lnTo>
                  <a:pt x="633006" y="656475"/>
                </a:lnTo>
                <a:lnTo>
                  <a:pt x="669036" y="650328"/>
                </a:lnTo>
                <a:lnTo>
                  <a:pt x="699376" y="635190"/>
                </a:lnTo>
                <a:lnTo>
                  <a:pt x="722591" y="610946"/>
                </a:lnTo>
                <a:lnTo>
                  <a:pt x="737285" y="577430"/>
                </a:lnTo>
                <a:lnTo>
                  <a:pt x="742010" y="534530"/>
                </a:lnTo>
                <a:close/>
              </a:path>
            </a:pathLst>
          </a:custGeom>
          <a:solidFill>
            <a:srgbClr val="E75C28"/>
          </a:solidFill>
        </p:spPr>
        <p:txBody>
          <a:bodyPr wrap="square" lIns="0" tIns="0" rIns="0" bIns="0" rtlCol="0"/>
          <a:lstStyle/>
          <a:p>
            <a:endParaRPr/>
          </a:p>
        </p:txBody>
      </p:sp>
    </p:spTree>
    <p:extLst>
      <p:ext uri="{BB962C8B-B14F-4D97-AF65-F5344CB8AC3E}">
        <p14:creationId xmlns:p14="http://schemas.microsoft.com/office/powerpoint/2010/main" val="467466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2423179044"/>
              </p:ext>
            </p:extLst>
          </p:nvPr>
        </p:nvGraphicFramePr>
        <p:xfrm>
          <a:off x="2080927" y="1078992"/>
          <a:ext cx="7788165" cy="4061461"/>
        </p:xfrm>
        <a:graphic>
          <a:graphicData uri="http://schemas.openxmlformats.org/drawingml/2006/table">
            <a:tbl>
              <a:tblPr firstRow="1" bandRow="1">
                <a:tableStyleId>{00A15C55-8517-42AA-B614-E9B94910E393}</a:tableStyleId>
              </a:tblPr>
              <a:tblGrid>
                <a:gridCol w="2663988">
                  <a:extLst>
                    <a:ext uri="{9D8B030D-6E8A-4147-A177-3AD203B41FA5}">
                      <a16:colId xmlns:a16="http://schemas.microsoft.com/office/drawing/2014/main" val="20000"/>
                    </a:ext>
                  </a:extLst>
                </a:gridCol>
                <a:gridCol w="1912269">
                  <a:extLst>
                    <a:ext uri="{9D8B030D-6E8A-4147-A177-3AD203B41FA5}">
                      <a16:colId xmlns:a16="http://schemas.microsoft.com/office/drawing/2014/main" val="20001"/>
                    </a:ext>
                  </a:extLst>
                </a:gridCol>
                <a:gridCol w="1620166">
                  <a:extLst>
                    <a:ext uri="{9D8B030D-6E8A-4147-A177-3AD203B41FA5}">
                      <a16:colId xmlns:a16="http://schemas.microsoft.com/office/drawing/2014/main" val="20002"/>
                    </a:ext>
                  </a:extLst>
                </a:gridCol>
                <a:gridCol w="1591742">
                  <a:extLst>
                    <a:ext uri="{9D8B030D-6E8A-4147-A177-3AD203B41FA5}">
                      <a16:colId xmlns:a16="http://schemas.microsoft.com/office/drawing/2014/main" val="20003"/>
                    </a:ext>
                  </a:extLst>
                </a:gridCol>
              </a:tblGrid>
              <a:tr h="667238">
                <a:tc>
                  <a:txBody>
                    <a:bodyPr/>
                    <a:lstStyle/>
                    <a:p>
                      <a:pPr>
                        <a:spcAft>
                          <a:spcPts val="0"/>
                        </a:spcAft>
                      </a:pPr>
                      <a:r>
                        <a:rPr lang="en-GB" sz="1400" kern="1200" baseline="0" dirty="0">
                          <a:solidFill>
                            <a:schemeClr val="bg1"/>
                          </a:solidFill>
                        </a:rPr>
                        <a:t>Medication Combination [1]</a:t>
                      </a:r>
                      <a:endParaRPr lang="en-GB" sz="1400" dirty="0">
                        <a:solidFill>
                          <a:schemeClr val="bg1"/>
                        </a:solidFill>
                        <a:latin typeface="+mn-lt"/>
                        <a:ea typeface="Times New Roman"/>
                        <a:cs typeface="Arial Narrow"/>
                      </a:endParaRPr>
                    </a:p>
                  </a:txBody>
                  <a:tcPr marL="68580" marR="68580" marT="0" marB="0" anchor="ctr"/>
                </a:tc>
                <a:tc>
                  <a:txBody>
                    <a:bodyPr/>
                    <a:lstStyle/>
                    <a:p>
                      <a:pPr algn="ctr">
                        <a:spcAft>
                          <a:spcPts val="0"/>
                        </a:spcAft>
                      </a:pPr>
                      <a:r>
                        <a:rPr lang="en-GB" sz="1400" b="1" dirty="0">
                          <a:solidFill>
                            <a:schemeClr val="bg1"/>
                          </a:solidFill>
                        </a:rPr>
                        <a:t>FF/UMEC/VI</a:t>
                      </a:r>
                      <a:endParaRPr lang="en-GB" sz="1400" dirty="0">
                        <a:solidFill>
                          <a:schemeClr val="bg1"/>
                        </a:solidFill>
                      </a:endParaRPr>
                    </a:p>
                    <a:p>
                      <a:pPr algn="ctr">
                        <a:spcAft>
                          <a:spcPts val="0"/>
                        </a:spcAft>
                      </a:pPr>
                      <a:r>
                        <a:rPr lang="en-GB" sz="1400" b="1" dirty="0">
                          <a:solidFill>
                            <a:schemeClr val="bg1"/>
                          </a:solidFill>
                        </a:rPr>
                        <a:t>100/62.5/25</a:t>
                      </a:r>
                      <a:endParaRPr lang="en-GB" sz="1400" dirty="0">
                        <a:solidFill>
                          <a:schemeClr val="bg1"/>
                        </a:solidFill>
                      </a:endParaRPr>
                    </a:p>
                    <a:p>
                      <a:pPr algn="ctr">
                        <a:spcAft>
                          <a:spcPts val="0"/>
                        </a:spcAft>
                      </a:pPr>
                      <a:r>
                        <a:rPr lang="en-GB" sz="1400" b="1" dirty="0">
                          <a:solidFill>
                            <a:schemeClr val="bg1"/>
                          </a:solidFill>
                        </a:rPr>
                        <a:t>N=911</a:t>
                      </a:r>
                      <a:endParaRPr lang="en-GB" sz="1400" dirty="0">
                        <a:solidFill>
                          <a:schemeClr val="bg1"/>
                        </a:solidFill>
                        <a:latin typeface="+mn-lt"/>
                        <a:ea typeface="Times New Roman"/>
                        <a:cs typeface="Arial Narrow"/>
                      </a:endParaRPr>
                    </a:p>
                  </a:txBody>
                  <a:tcPr marL="68580" marR="68580" marT="0" marB="0"/>
                </a:tc>
                <a:tc>
                  <a:txBody>
                    <a:bodyPr/>
                    <a:lstStyle/>
                    <a:p>
                      <a:pPr algn="ctr">
                        <a:spcAft>
                          <a:spcPts val="0"/>
                        </a:spcAft>
                      </a:pPr>
                      <a:r>
                        <a:rPr lang="en-GB" sz="1400" b="1" dirty="0">
                          <a:solidFill>
                            <a:schemeClr val="bg1"/>
                          </a:solidFill>
                        </a:rPr>
                        <a:t>BUD/FOR</a:t>
                      </a:r>
                      <a:endParaRPr lang="en-GB" sz="1400" dirty="0">
                        <a:solidFill>
                          <a:schemeClr val="bg1"/>
                        </a:solidFill>
                      </a:endParaRPr>
                    </a:p>
                    <a:p>
                      <a:pPr algn="ctr">
                        <a:spcAft>
                          <a:spcPts val="0"/>
                        </a:spcAft>
                      </a:pPr>
                      <a:r>
                        <a:rPr lang="en-GB" sz="1400" b="1" dirty="0">
                          <a:solidFill>
                            <a:schemeClr val="bg1"/>
                          </a:solidFill>
                        </a:rPr>
                        <a:t>400/12</a:t>
                      </a:r>
                      <a:endParaRPr lang="en-GB" sz="1400" dirty="0">
                        <a:solidFill>
                          <a:schemeClr val="bg1"/>
                        </a:solidFill>
                      </a:endParaRPr>
                    </a:p>
                    <a:p>
                      <a:pPr algn="ctr">
                        <a:spcAft>
                          <a:spcPts val="0"/>
                        </a:spcAft>
                      </a:pPr>
                      <a:r>
                        <a:rPr lang="en-GB" sz="1400" b="1" dirty="0">
                          <a:solidFill>
                            <a:schemeClr val="bg1"/>
                          </a:solidFill>
                        </a:rPr>
                        <a:t>N=899</a:t>
                      </a:r>
                      <a:endParaRPr lang="en-GB" sz="1400" dirty="0">
                        <a:solidFill>
                          <a:schemeClr val="bg1"/>
                        </a:solidFill>
                        <a:latin typeface="+mn-lt"/>
                        <a:ea typeface="Times New Roman"/>
                        <a:cs typeface="Arial Narrow"/>
                      </a:endParaRPr>
                    </a:p>
                  </a:txBody>
                  <a:tcPr marL="68580" marR="68580" marT="0" marB="0"/>
                </a:tc>
                <a:tc>
                  <a:txBody>
                    <a:bodyPr/>
                    <a:lstStyle/>
                    <a:p>
                      <a:pPr algn="ctr">
                        <a:spcAft>
                          <a:spcPts val="0"/>
                        </a:spcAft>
                      </a:pPr>
                      <a:r>
                        <a:rPr lang="en-GB" sz="1400" b="1" dirty="0">
                          <a:solidFill>
                            <a:schemeClr val="bg1"/>
                          </a:solidFill>
                        </a:rPr>
                        <a:t>Total</a:t>
                      </a:r>
                      <a:endParaRPr lang="en-GB" sz="1400" dirty="0">
                        <a:solidFill>
                          <a:schemeClr val="bg1"/>
                        </a:solidFill>
                      </a:endParaRPr>
                    </a:p>
                    <a:p>
                      <a:pPr algn="ctr">
                        <a:spcAft>
                          <a:spcPts val="0"/>
                        </a:spcAft>
                      </a:pPr>
                      <a:r>
                        <a:rPr lang="en-GB" sz="1400" b="1" dirty="0">
                          <a:solidFill>
                            <a:schemeClr val="bg1"/>
                          </a:solidFill>
                        </a:rPr>
                        <a:t>N=1810</a:t>
                      </a:r>
                      <a:endParaRPr lang="en-GB" sz="1400" dirty="0">
                        <a:solidFill>
                          <a:schemeClr val="bg1"/>
                        </a:solidFill>
                        <a:latin typeface="+mn-lt"/>
                        <a:ea typeface="Times New Roman"/>
                        <a:cs typeface="Arial Narrow"/>
                      </a:endParaRPr>
                    </a:p>
                  </a:txBody>
                  <a:tcPr marL="68580" marR="68580" marT="0" marB="0"/>
                </a:tc>
                <a:extLst>
                  <a:ext uri="{0D108BD9-81ED-4DB2-BD59-A6C34878D82A}">
                    <a16:rowId xmlns:a16="http://schemas.microsoft.com/office/drawing/2014/main" val="10000"/>
                  </a:ext>
                </a:extLst>
              </a:tr>
              <a:tr h="361848">
                <a:tc>
                  <a:txBody>
                    <a:bodyPr/>
                    <a:lstStyle/>
                    <a:p>
                      <a:pPr>
                        <a:spcAft>
                          <a:spcPts val="0"/>
                        </a:spcAft>
                      </a:pPr>
                      <a:r>
                        <a:rPr lang="en-GB" sz="1400" b="0" dirty="0">
                          <a:solidFill>
                            <a:schemeClr val="tx1"/>
                          </a:solidFill>
                        </a:rPr>
                        <a:t>ICS + LABA</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268 (29%)</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259 (29%)</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527 (29%)</a:t>
                      </a:r>
                      <a:endParaRPr lang="en-GB" sz="1400" b="0" dirty="0">
                        <a:solidFill>
                          <a:schemeClr val="tx1"/>
                        </a:solidFill>
                        <a:latin typeface="+mn-lt"/>
                        <a:ea typeface="Times New Roman"/>
                        <a:cs typeface="Times New Roman"/>
                      </a:endParaRPr>
                    </a:p>
                  </a:txBody>
                  <a:tcPr marL="28575" marR="28575" marT="28575" marB="28575"/>
                </a:tc>
                <a:extLst>
                  <a:ext uri="{0D108BD9-81ED-4DB2-BD59-A6C34878D82A}">
                    <a16:rowId xmlns:a16="http://schemas.microsoft.com/office/drawing/2014/main" val="10001"/>
                  </a:ext>
                </a:extLst>
              </a:tr>
              <a:tr h="382232">
                <a:tc>
                  <a:txBody>
                    <a:bodyPr/>
                    <a:lstStyle/>
                    <a:p>
                      <a:pPr>
                        <a:spcAft>
                          <a:spcPts val="0"/>
                        </a:spcAft>
                      </a:pPr>
                      <a:r>
                        <a:rPr lang="en-GB" sz="1400" b="0" dirty="0">
                          <a:solidFill>
                            <a:schemeClr val="tx1"/>
                          </a:solidFill>
                        </a:rPr>
                        <a:t>ICS + LABA + LAMA</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257 (28%)</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256 (28%)</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513 (28%)</a:t>
                      </a:r>
                      <a:endParaRPr lang="en-GB" sz="1400" b="0" dirty="0">
                        <a:solidFill>
                          <a:schemeClr val="tx1"/>
                        </a:solidFill>
                        <a:latin typeface="+mn-lt"/>
                        <a:ea typeface="Times New Roman"/>
                        <a:cs typeface="Times New Roman"/>
                      </a:endParaRPr>
                    </a:p>
                  </a:txBody>
                  <a:tcPr marL="28575" marR="28575" marT="28575" marB="28575"/>
                </a:tc>
                <a:extLst>
                  <a:ext uri="{0D108BD9-81ED-4DB2-BD59-A6C34878D82A}">
                    <a16:rowId xmlns:a16="http://schemas.microsoft.com/office/drawing/2014/main" val="10002"/>
                  </a:ext>
                </a:extLst>
              </a:tr>
              <a:tr h="396501">
                <a:tc>
                  <a:txBody>
                    <a:bodyPr/>
                    <a:lstStyle/>
                    <a:p>
                      <a:pPr>
                        <a:spcAft>
                          <a:spcPts val="0"/>
                        </a:spcAft>
                      </a:pPr>
                      <a:r>
                        <a:rPr lang="en-GB" sz="1400" b="0" dirty="0">
                          <a:solidFill>
                            <a:schemeClr val="tx1"/>
                          </a:solidFill>
                        </a:rPr>
                        <a:t>LABA + LAMA</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101 (11%)</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84 (9%)</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185 (10%)</a:t>
                      </a:r>
                      <a:endParaRPr lang="en-GB" sz="1400" b="0" dirty="0">
                        <a:solidFill>
                          <a:schemeClr val="tx1"/>
                        </a:solidFill>
                        <a:latin typeface="+mn-lt"/>
                        <a:ea typeface="Times New Roman"/>
                        <a:cs typeface="Times New Roman"/>
                      </a:endParaRPr>
                    </a:p>
                  </a:txBody>
                  <a:tcPr marL="28575" marR="28575" marT="28575" marB="28575"/>
                </a:tc>
                <a:extLst>
                  <a:ext uri="{0D108BD9-81ED-4DB2-BD59-A6C34878D82A}">
                    <a16:rowId xmlns:a16="http://schemas.microsoft.com/office/drawing/2014/main" val="10003"/>
                  </a:ext>
                </a:extLst>
              </a:tr>
              <a:tr h="336365">
                <a:tc>
                  <a:txBody>
                    <a:bodyPr/>
                    <a:lstStyle/>
                    <a:p>
                      <a:pPr>
                        <a:spcAft>
                          <a:spcPts val="0"/>
                        </a:spcAft>
                      </a:pPr>
                      <a:r>
                        <a:rPr lang="en-GB" sz="1400" b="0" dirty="0">
                          <a:solidFill>
                            <a:schemeClr val="tx1"/>
                          </a:solidFill>
                        </a:rPr>
                        <a:t>LAMA</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79 (9%)</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79 (9%)</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158 (9%)</a:t>
                      </a:r>
                      <a:endParaRPr lang="en-GB" sz="1400" b="0" dirty="0">
                        <a:solidFill>
                          <a:schemeClr val="tx1"/>
                        </a:solidFill>
                        <a:latin typeface="+mn-lt"/>
                        <a:ea typeface="Times New Roman"/>
                        <a:cs typeface="Times New Roman"/>
                      </a:endParaRPr>
                    </a:p>
                  </a:txBody>
                  <a:tcPr marL="28575" marR="28575" marT="28575" marB="28575"/>
                </a:tc>
                <a:extLst>
                  <a:ext uri="{0D108BD9-81ED-4DB2-BD59-A6C34878D82A}">
                    <a16:rowId xmlns:a16="http://schemas.microsoft.com/office/drawing/2014/main" val="10004"/>
                  </a:ext>
                </a:extLst>
              </a:tr>
              <a:tr h="382232">
                <a:tc>
                  <a:txBody>
                    <a:bodyPr/>
                    <a:lstStyle/>
                    <a:p>
                      <a:pPr>
                        <a:spcAft>
                          <a:spcPts val="0"/>
                        </a:spcAft>
                      </a:pPr>
                      <a:r>
                        <a:rPr lang="en-GB" sz="1400" b="0" dirty="0">
                          <a:solidFill>
                            <a:schemeClr val="tx1"/>
                          </a:solidFill>
                        </a:rPr>
                        <a:t>LABA</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37 (4%)</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42 (5%)</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79 (4%)</a:t>
                      </a:r>
                      <a:endParaRPr lang="en-GB" sz="1400" b="0" dirty="0">
                        <a:solidFill>
                          <a:schemeClr val="tx1"/>
                        </a:solidFill>
                        <a:latin typeface="+mn-lt"/>
                        <a:ea typeface="Times New Roman"/>
                        <a:cs typeface="Times New Roman"/>
                      </a:endParaRPr>
                    </a:p>
                  </a:txBody>
                  <a:tcPr marL="28575" marR="28575" marT="28575" marB="28575"/>
                </a:tc>
                <a:extLst>
                  <a:ext uri="{0D108BD9-81ED-4DB2-BD59-A6C34878D82A}">
                    <a16:rowId xmlns:a16="http://schemas.microsoft.com/office/drawing/2014/main" val="10005"/>
                  </a:ext>
                </a:extLst>
              </a:tr>
              <a:tr h="382232">
                <a:tc>
                  <a:txBody>
                    <a:bodyPr/>
                    <a:lstStyle/>
                    <a:p>
                      <a:pPr>
                        <a:spcAft>
                          <a:spcPts val="0"/>
                        </a:spcAft>
                      </a:pPr>
                      <a:r>
                        <a:rPr lang="en-GB" sz="1400" b="0" dirty="0">
                          <a:solidFill>
                            <a:schemeClr val="tx1"/>
                          </a:solidFill>
                        </a:rPr>
                        <a:t>ICS + LABA + LAMA + Xanthine</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33 (4%)</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44 (5%)</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77 (4%)</a:t>
                      </a:r>
                      <a:endParaRPr lang="en-GB" sz="1400" b="0" dirty="0">
                        <a:solidFill>
                          <a:schemeClr val="tx1"/>
                        </a:solidFill>
                        <a:latin typeface="+mn-lt"/>
                        <a:ea typeface="Times New Roman"/>
                        <a:cs typeface="Times New Roman"/>
                      </a:endParaRPr>
                    </a:p>
                  </a:txBody>
                  <a:tcPr marL="28575" marR="28575" marT="28575" marB="28575"/>
                </a:tc>
                <a:extLst>
                  <a:ext uri="{0D108BD9-81ED-4DB2-BD59-A6C34878D82A}">
                    <a16:rowId xmlns:a16="http://schemas.microsoft.com/office/drawing/2014/main" val="10006"/>
                  </a:ext>
                </a:extLst>
              </a:tr>
              <a:tr h="384271">
                <a:tc>
                  <a:txBody>
                    <a:bodyPr/>
                    <a:lstStyle/>
                    <a:p>
                      <a:pPr>
                        <a:spcAft>
                          <a:spcPts val="0"/>
                        </a:spcAft>
                      </a:pPr>
                      <a:r>
                        <a:rPr lang="en-GB" sz="1400" b="0" dirty="0">
                          <a:solidFill>
                            <a:schemeClr val="tx1"/>
                          </a:solidFill>
                        </a:rPr>
                        <a:t>ICS + LABA + Xanthine</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19 (2%)</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18 (2%)</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37 (2%)</a:t>
                      </a:r>
                      <a:endParaRPr lang="en-GB" sz="1400" b="0" dirty="0">
                        <a:solidFill>
                          <a:schemeClr val="tx1"/>
                        </a:solidFill>
                        <a:latin typeface="+mn-lt"/>
                        <a:ea typeface="Times New Roman"/>
                        <a:cs typeface="Times New Roman"/>
                      </a:endParaRPr>
                    </a:p>
                  </a:txBody>
                  <a:tcPr marL="28575" marR="28575" marT="28575" marB="28575"/>
                </a:tc>
                <a:extLst>
                  <a:ext uri="{0D108BD9-81ED-4DB2-BD59-A6C34878D82A}">
                    <a16:rowId xmlns:a16="http://schemas.microsoft.com/office/drawing/2014/main" val="10007"/>
                  </a:ext>
                </a:extLst>
              </a:tr>
              <a:tr h="384271">
                <a:tc>
                  <a:txBody>
                    <a:bodyPr/>
                    <a:lstStyle/>
                    <a:p>
                      <a:pPr>
                        <a:spcAft>
                          <a:spcPts val="0"/>
                        </a:spcAft>
                      </a:pPr>
                      <a:r>
                        <a:rPr lang="en-GB" sz="1400" b="0" dirty="0">
                          <a:solidFill>
                            <a:schemeClr val="tx1"/>
                          </a:solidFill>
                        </a:rPr>
                        <a:t>ICS</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15 (2%)</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12 (1%)</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27 (1%)</a:t>
                      </a:r>
                      <a:endParaRPr lang="en-GB" sz="1400" b="0" dirty="0">
                        <a:solidFill>
                          <a:schemeClr val="tx1"/>
                        </a:solidFill>
                        <a:latin typeface="+mn-lt"/>
                        <a:ea typeface="Times New Roman"/>
                        <a:cs typeface="Times New Roman"/>
                      </a:endParaRPr>
                    </a:p>
                  </a:txBody>
                  <a:tcPr marL="28575" marR="28575" marT="28575" marB="28575"/>
                </a:tc>
                <a:extLst>
                  <a:ext uri="{0D108BD9-81ED-4DB2-BD59-A6C34878D82A}">
                    <a16:rowId xmlns:a16="http://schemas.microsoft.com/office/drawing/2014/main" val="10008"/>
                  </a:ext>
                </a:extLst>
              </a:tr>
              <a:tr h="384271">
                <a:tc>
                  <a:txBody>
                    <a:bodyPr/>
                    <a:lstStyle/>
                    <a:p>
                      <a:pPr>
                        <a:spcAft>
                          <a:spcPts val="0"/>
                        </a:spcAft>
                      </a:pPr>
                      <a:r>
                        <a:rPr lang="en-GB" sz="1400" b="0" dirty="0">
                          <a:solidFill>
                            <a:schemeClr val="tx1"/>
                          </a:solidFill>
                        </a:rPr>
                        <a:t>LABA + LAMA + Xanthine</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10 (1%)</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12 (1%)</a:t>
                      </a:r>
                      <a:endParaRPr lang="en-GB" sz="1400" b="0" dirty="0">
                        <a:solidFill>
                          <a:schemeClr val="tx1"/>
                        </a:solidFill>
                        <a:latin typeface="+mn-lt"/>
                        <a:ea typeface="Times New Roman"/>
                        <a:cs typeface="Times New Roman"/>
                      </a:endParaRPr>
                    </a:p>
                  </a:txBody>
                  <a:tcPr marL="28575" marR="28575" marT="28575" marB="28575"/>
                </a:tc>
                <a:tc>
                  <a:txBody>
                    <a:bodyPr/>
                    <a:lstStyle/>
                    <a:p>
                      <a:pPr algn="ctr">
                        <a:spcAft>
                          <a:spcPts val="0"/>
                        </a:spcAft>
                      </a:pPr>
                      <a:r>
                        <a:rPr lang="en-GB" sz="1400" b="0" dirty="0">
                          <a:solidFill>
                            <a:schemeClr val="tx1"/>
                          </a:solidFill>
                        </a:rPr>
                        <a:t>22 (1%)</a:t>
                      </a:r>
                      <a:endParaRPr lang="en-GB" sz="1400" b="0" dirty="0">
                        <a:solidFill>
                          <a:schemeClr val="tx1"/>
                        </a:solidFill>
                        <a:latin typeface="+mn-lt"/>
                        <a:ea typeface="Times New Roman"/>
                        <a:cs typeface="Times New Roman"/>
                      </a:endParaRPr>
                    </a:p>
                  </a:txBody>
                  <a:tcPr marL="28575" marR="28575" marT="28575" marB="28575"/>
                </a:tc>
                <a:extLst>
                  <a:ext uri="{0D108BD9-81ED-4DB2-BD59-A6C34878D82A}">
                    <a16:rowId xmlns:a16="http://schemas.microsoft.com/office/drawing/2014/main" val="10009"/>
                  </a:ext>
                </a:extLst>
              </a:tr>
            </a:tbl>
          </a:graphicData>
        </a:graphic>
      </p:graphicFrame>
      <p:sp>
        <p:nvSpPr>
          <p:cNvPr id="9" name="TextBox 8"/>
          <p:cNvSpPr txBox="1"/>
          <p:nvPr/>
        </p:nvSpPr>
        <p:spPr>
          <a:xfrm>
            <a:off x="2080927" y="5140452"/>
            <a:ext cx="7788165" cy="1077218"/>
          </a:xfrm>
          <a:prstGeom prst="rect">
            <a:avLst/>
          </a:prstGeom>
          <a:noFill/>
        </p:spPr>
        <p:txBody>
          <a:bodyPr wrap="square" rtlCol="0">
            <a:spAutoFit/>
          </a:bodyPr>
          <a:lstStyle/>
          <a:p>
            <a:r>
              <a:rPr lang="en-GB" sz="1400" dirty="0">
                <a:solidFill>
                  <a:srgbClr val="544F40"/>
                </a:solidFill>
              </a:rPr>
              <a:t> </a:t>
            </a:r>
            <a:r>
              <a:rPr lang="en-GB" sz="900" dirty="0">
                <a:solidFill>
                  <a:srgbClr val="544F40"/>
                </a:solidFill>
              </a:rPr>
              <a:t>&lt;1% subjects on each combination of ICS+ LAMA, LAMA+Xanthine, LABA+Xanthine, Xanthine, ICS+LABA+LAMA+PD4 Inhibitor, LABA, LABA+LAMA+PD4 Inhibitors, ICS+LABA+LAMA+Xanthine+PD4 Inhibitor, ICS+LABA+PD4 Inhibitor, </a:t>
            </a:r>
            <a:r>
              <a:rPr lang="en-GB" sz="900" dirty="0" err="1">
                <a:solidFill>
                  <a:srgbClr val="544F40"/>
                </a:solidFill>
              </a:rPr>
              <a:t>ICS+LAMA+Inhibitor</a:t>
            </a:r>
            <a:r>
              <a:rPr lang="en-GB" sz="900" dirty="0">
                <a:solidFill>
                  <a:srgbClr val="544F40"/>
                </a:solidFill>
              </a:rPr>
              <a:t> </a:t>
            </a:r>
          </a:p>
          <a:p>
            <a:endParaRPr lang="en-GB" sz="900" dirty="0">
              <a:solidFill>
                <a:srgbClr val="544F40"/>
              </a:solidFill>
            </a:endParaRPr>
          </a:p>
          <a:p>
            <a:r>
              <a:rPr lang="en-GB" sz="900" dirty="0">
                <a:solidFill>
                  <a:srgbClr val="544F40"/>
                </a:solidFill>
              </a:rPr>
              <a:t>[1] COPD respiratory medication class (RMC) combination based on the individual RMC and any combination of the RMCs: ICS, LABA, LAMA, Xanthine and PDE4 Inhibitors.</a:t>
            </a:r>
          </a:p>
          <a:p>
            <a:pPr marL="171450" indent="-171450">
              <a:buClr>
                <a:srgbClr val="544F40"/>
              </a:buClr>
            </a:pPr>
            <a:endParaRPr lang="en-GB" sz="1400" dirty="0">
              <a:solidFill>
                <a:srgbClr val="544F40"/>
              </a:solidFill>
            </a:endParaRPr>
          </a:p>
        </p:txBody>
      </p:sp>
      <p:sp>
        <p:nvSpPr>
          <p:cNvPr id="13" name="Title 1"/>
          <p:cNvSpPr>
            <a:spLocks noGrp="1"/>
          </p:cNvSpPr>
          <p:nvPr>
            <p:ph type="title"/>
          </p:nvPr>
        </p:nvSpPr>
        <p:spPr>
          <a:xfrm>
            <a:off x="188341" y="157703"/>
            <a:ext cx="7577139" cy="427513"/>
          </a:xfrm>
        </p:spPr>
        <p:txBody>
          <a:bodyPr>
            <a:normAutofit/>
          </a:bodyPr>
          <a:lstStyle/>
          <a:p>
            <a:r>
              <a:rPr lang="en-GB" sz="2400" dirty="0"/>
              <a:t>FULFIL: COPD medication at baseline</a:t>
            </a:r>
            <a:endParaRPr lang="en-US" sz="2400" dirty="0"/>
          </a:p>
        </p:txBody>
      </p:sp>
      <p:sp>
        <p:nvSpPr>
          <p:cNvPr id="2" name="Text Placeholder 9">
            <a:extLst>
              <a:ext uri="{FF2B5EF4-FFF2-40B4-BE49-F238E27FC236}">
                <a16:creationId xmlns:a16="http://schemas.microsoft.com/office/drawing/2014/main" id="{746B8F2B-8965-4A42-3D94-3E55D8088251}"/>
              </a:ext>
            </a:extLst>
          </p:cNvPr>
          <p:cNvSpPr txBox="1">
            <a:spLocks/>
          </p:cNvSpPr>
          <p:nvPr/>
        </p:nvSpPr>
        <p:spPr>
          <a:xfrm>
            <a:off x="2322908" y="6453136"/>
            <a:ext cx="7565478" cy="247161"/>
          </a:xfrm>
          <a:prstGeom prst="rect">
            <a:avLst/>
          </a:prstGeom>
        </p:spPr>
        <p:txBody>
          <a:bodyPr/>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indent="0" algn="r">
              <a:buNone/>
            </a:pPr>
            <a:r>
              <a:rPr lang="en-US" sz="1000" dirty="0">
                <a:latin typeface="Calibri" panose="020F0502020204030204" pitchFamily="34" charset="0"/>
                <a:cs typeface="Calibri" panose="020F0502020204030204" pitchFamily="34" charset="0"/>
              </a:rPr>
              <a:t>Lipson DA </a:t>
            </a:r>
            <a:r>
              <a:rPr lang="en-US" sz="1000" i="1" dirty="0">
                <a:latin typeface="Calibri" panose="020F0502020204030204" pitchFamily="34" charset="0"/>
                <a:cs typeface="Calibri" panose="020F0502020204030204" pitchFamily="34" charset="0"/>
              </a:rPr>
              <a:t>et al</a:t>
            </a:r>
            <a:r>
              <a:rPr lang="en-US" sz="1000" dirty="0">
                <a:latin typeface="Calibri" panose="020F0502020204030204" pitchFamily="34" charset="0"/>
                <a:cs typeface="Calibri" panose="020F0502020204030204" pitchFamily="34" charset="0"/>
              </a:rPr>
              <a:t>. </a:t>
            </a:r>
            <a:r>
              <a:rPr lang="en-US" sz="1000" i="1" dirty="0">
                <a:latin typeface="Calibri" panose="020F0502020204030204" pitchFamily="34" charset="0"/>
                <a:cs typeface="Calibri" panose="020F0502020204030204" pitchFamily="34" charset="0"/>
              </a:rPr>
              <a:t>Am J Resp Crit Care. </a:t>
            </a:r>
            <a:r>
              <a:rPr lang="en-US" sz="1000" dirty="0">
                <a:latin typeface="Calibri" panose="020F0502020204030204" pitchFamily="34" charset="0"/>
                <a:cs typeface="Calibri" panose="020F0502020204030204" pitchFamily="34" charset="0"/>
              </a:rPr>
              <a:t>2017; 196:438–446.</a:t>
            </a:r>
          </a:p>
        </p:txBody>
      </p:sp>
      <p:sp>
        <p:nvSpPr>
          <p:cNvPr id="5" name="Rectangle 4">
            <a:extLst>
              <a:ext uri="{FF2B5EF4-FFF2-40B4-BE49-F238E27FC236}">
                <a16:creationId xmlns:a16="http://schemas.microsoft.com/office/drawing/2014/main" id="{F4DE8D95-AF63-E8B9-4C1E-A50F68C39AA8}"/>
              </a:ext>
            </a:extLst>
          </p:cNvPr>
          <p:cNvSpPr/>
          <p:nvPr/>
        </p:nvSpPr>
        <p:spPr bwMode="auto">
          <a:xfrm>
            <a:off x="1498424" y="1835956"/>
            <a:ext cx="8953169" cy="1090123"/>
          </a:xfrm>
          <a:prstGeom prst="rect">
            <a:avLst/>
          </a:prstGeom>
          <a:noFill/>
          <a:ln w="28575">
            <a:solidFill>
              <a:schemeClr val="accent3"/>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fr-FR" sz="1600" kern="0" dirty="0" err="1">
              <a:solidFill>
                <a:schemeClr val="tx1"/>
              </a:solidFill>
            </a:endParaRPr>
          </a:p>
        </p:txBody>
      </p:sp>
      <p:sp>
        <p:nvSpPr>
          <p:cNvPr id="3" name="Slide Number Placeholder 4">
            <a:extLst>
              <a:ext uri="{FF2B5EF4-FFF2-40B4-BE49-F238E27FC236}">
                <a16:creationId xmlns:a16="http://schemas.microsoft.com/office/drawing/2014/main" id="{3EB5921C-DE79-9C00-9919-25701E63CF1A}"/>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8</a:t>
            </a:fld>
            <a:endParaRPr lang="en-GB" sz="1000" dirty="0">
              <a:solidFill>
                <a:srgbClr val="000000"/>
              </a:solidFill>
              <a:latin typeface="Arial"/>
              <a:cs typeface="Noto Sans"/>
            </a:endParaRPr>
          </a:p>
        </p:txBody>
      </p:sp>
      <p:sp>
        <p:nvSpPr>
          <p:cNvPr id="4" name="Footer Placeholder 3">
            <a:extLst>
              <a:ext uri="{FF2B5EF4-FFF2-40B4-BE49-F238E27FC236}">
                <a16:creationId xmlns:a16="http://schemas.microsoft.com/office/drawing/2014/main" id="{E60857F9-FB29-5F34-2E54-0413A3F155D1}"/>
              </a:ext>
            </a:extLst>
          </p:cNvPr>
          <p:cNvSpPr>
            <a:spLocks noGrp="1"/>
          </p:cNvSpPr>
          <p:nvPr>
            <p:ph type="ftr" sz="quarter" idx="16"/>
          </p:nvPr>
        </p:nvSpPr>
        <p:spPr/>
        <p:txBody>
          <a:bodyPr/>
          <a:lstStyle/>
          <a:p>
            <a:r>
              <a:rPr lang="fr-FR">
                <a:solidFill>
                  <a:srgbClr val="9A8B7D"/>
                </a:solidFill>
              </a:rPr>
              <a:t>For Internal Use Only</a:t>
            </a:r>
            <a:endParaRPr lang="en-GB" dirty="0">
              <a:solidFill>
                <a:srgbClr val="9A8B7D"/>
              </a:solidFill>
            </a:endParaRPr>
          </a:p>
        </p:txBody>
      </p:sp>
      <p:sp>
        <p:nvSpPr>
          <p:cNvPr id="6" name="ZoneTexte 4">
            <a:extLst>
              <a:ext uri="{FF2B5EF4-FFF2-40B4-BE49-F238E27FC236}">
                <a16:creationId xmlns:a16="http://schemas.microsoft.com/office/drawing/2014/main" id="{6FD0DF78-27F5-944C-36A9-589ABF6EAD21}"/>
              </a:ext>
            </a:extLst>
          </p:cNvPr>
          <p:cNvSpPr txBox="1"/>
          <p:nvPr/>
        </p:nvSpPr>
        <p:spPr>
          <a:xfrm>
            <a:off x="2080927" y="6055746"/>
            <a:ext cx="10404618" cy="215444"/>
          </a:xfrm>
          <a:prstGeom prst="rect">
            <a:avLst/>
          </a:prstGeom>
          <a:noFill/>
        </p:spPr>
        <p:txBody>
          <a:bodyPr wrap="square">
            <a:spAutoFit/>
          </a:bodyPr>
          <a:lstStyle/>
          <a:p>
            <a:r>
              <a:rPr lang="fr-FR" sz="800" dirty="0"/>
              <a:t>ICS, </a:t>
            </a:r>
            <a:r>
              <a:rPr lang="fr-FR" sz="800" dirty="0" err="1"/>
              <a:t>inhaled</a:t>
            </a:r>
            <a:r>
              <a:rPr lang="fr-FR" sz="800" dirty="0"/>
              <a:t> </a:t>
            </a:r>
            <a:r>
              <a:rPr lang="fr-FR" sz="800" dirty="0" err="1"/>
              <a:t>corticosteroid</a:t>
            </a:r>
            <a:r>
              <a:rPr lang="fr-FR" sz="800" dirty="0"/>
              <a:t>; LABA, long-acting </a:t>
            </a:r>
            <a:r>
              <a:rPr lang="el-GR" sz="800" dirty="0"/>
              <a:t>β </a:t>
            </a:r>
            <a:r>
              <a:rPr lang="fr-FR" sz="800" dirty="0" err="1"/>
              <a:t>adrenoceptor</a:t>
            </a:r>
            <a:r>
              <a:rPr lang="fr-FR" sz="800" dirty="0"/>
              <a:t> </a:t>
            </a:r>
            <a:r>
              <a:rPr lang="fr-FR" sz="800" dirty="0" err="1"/>
              <a:t>agonists</a:t>
            </a:r>
            <a:r>
              <a:rPr lang="fr-FR" sz="800" dirty="0"/>
              <a:t>; </a:t>
            </a:r>
            <a:r>
              <a:rPr lang="en-US" sz="800" dirty="0"/>
              <a:t>LAMA, long-acting muscarinic antagonist</a:t>
            </a:r>
            <a:endParaRPr lang="fr-FR" sz="8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546" y="1125285"/>
            <a:ext cx="10102852" cy="338554"/>
          </a:xfrm>
        </p:spPr>
        <p:txBody>
          <a:bodyPr vert="horz" lIns="0" tIns="0" rIns="0" bIns="720000" rtlCol="0" anchor="b" anchorCtr="0">
            <a:noAutofit/>
          </a:bodyPr>
          <a:lstStyle/>
          <a:p>
            <a:r>
              <a:rPr lang="en-US" sz="2400" dirty="0"/>
              <a:t>Once-daily single-inhaler triple therapy </a:t>
            </a:r>
            <a:r>
              <a:rPr lang="en-GB" sz="2400" dirty="0"/>
              <a:t>(FF/UMEC/VI) in COPD </a:t>
            </a:r>
            <a:r>
              <a:rPr lang="en-US" sz="2400" dirty="0"/>
              <a:t>significantly improved lung function versus </a:t>
            </a:r>
            <a:r>
              <a:rPr lang="en-GB" sz="2400" dirty="0"/>
              <a:t>BUD/FOR</a:t>
            </a:r>
          </a:p>
        </p:txBody>
      </p:sp>
      <p:sp>
        <p:nvSpPr>
          <p:cNvPr id="26" name="Text Placeholder 25"/>
          <p:cNvSpPr>
            <a:spLocks noGrp="1"/>
          </p:cNvSpPr>
          <p:nvPr>
            <p:ph type="body" sz="quarter" idx="14"/>
          </p:nvPr>
        </p:nvSpPr>
        <p:spPr>
          <a:xfrm>
            <a:off x="3679824" y="1159279"/>
            <a:ext cx="7597776" cy="234950"/>
          </a:xfrm>
        </p:spPr>
        <p:txBody>
          <a:bodyPr/>
          <a:lstStyle/>
          <a:p>
            <a:r>
              <a:rPr lang="en-US" sz="1600" b="1" i="0" dirty="0">
                <a:latin typeface="+mn-lt"/>
              </a:rPr>
              <a:t>Change from baseline trough FEV</a:t>
            </a:r>
            <a:r>
              <a:rPr lang="en-US" sz="1600" b="1" i="0" baseline="-25000" dirty="0">
                <a:latin typeface="+mn-lt"/>
              </a:rPr>
              <a:t>1</a:t>
            </a:r>
            <a:r>
              <a:rPr lang="en-US" sz="1600" b="1" i="0" dirty="0">
                <a:latin typeface="+mn-lt"/>
              </a:rPr>
              <a:t> in FULFIL</a:t>
            </a:r>
            <a:endParaRPr lang="en-US" sz="1600" b="1" i="0" baseline="30000" dirty="0">
              <a:latin typeface="+mn-lt"/>
            </a:endParaRPr>
          </a:p>
        </p:txBody>
      </p:sp>
      <p:sp>
        <p:nvSpPr>
          <p:cNvPr id="9" name="Text Placeholder 8"/>
          <p:cNvSpPr>
            <a:spLocks noGrp="1"/>
          </p:cNvSpPr>
          <p:nvPr>
            <p:ph type="body" sz="quarter" idx="19"/>
          </p:nvPr>
        </p:nvSpPr>
        <p:spPr>
          <a:xfrm>
            <a:off x="2259328" y="6224544"/>
            <a:ext cx="8171182" cy="494321"/>
          </a:xfrm>
        </p:spPr>
        <p:txBody>
          <a:bodyPr/>
          <a:lstStyle/>
          <a:p>
            <a:pPr algn="r"/>
            <a:r>
              <a:rPr lang="en-US" sz="1000" dirty="0"/>
              <a:t>Lipson DA </a:t>
            </a:r>
            <a:r>
              <a:rPr lang="en-US" sz="1000" i="1" dirty="0"/>
              <a:t>et al.</a:t>
            </a:r>
            <a:r>
              <a:rPr lang="en-US" sz="1000" dirty="0"/>
              <a:t> </a:t>
            </a:r>
            <a:r>
              <a:rPr lang="en-US" sz="1000" i="1" dirty="0"/>
              <a:t>Am J </a:t>
            </a:r>
            <a:r>
              <a:rPr lang="en-US" sz="1000" i="1" dirty="0" err="1"/>
              <a:t>Resp</a:t>
            </a:r>
            <a:r>
              <a:rPr lang="en-US" sz="1000" i="1" dirty="0"/>
              <a:t> </a:t>
            </a:r>
            <a:r>
              <a:rPr lang="en-US" sz="1000" i="1" dirty="0" err="1"/>
              <a:t>Crit</a:t>
            </a:r>
            <a:r>
              <a:rPr lang="en-US" sz="1000" i="1" dirty="0"/>
              <a:t> Care. </a:t>
            </a:r>
            <a:r>
              <a:rPr lang="en-US" sz="1000" dirty="0"/>
              <a:t>2017; 196:438–446.</a:t>
            </a:r>
            <a:endParaRPr lang="en-GB" sz="1000" dirty="0"/>
          </a:p>
        </p:txBody>
      </p:sp>
      <p:grpSp>
        <p:nvGrpSpPr>
          <p:cNvPr id="34" name="Group 31"/>
          <p:cNvGrpSpPr/>
          <p:nvPr/>
        </p:nvGrpSpPr>
        <p:grpSpPr>
          <a:xfrm>
            <a:off x="2673862" y="1444626"/>
            <a:ext cx="6954232" cy="3701600"/>
            <a:chOff x="240300" y="1856509"/>
            <a:chExt cx="4131675" cy="4050476"/>
          </a:xfrm>
        </p:grpSpPr>
        <p:grpSp>
          <p:nvGrpSpPr>
            <p:cNvPr id="35" name="Group 19"/>
            <p:cNvGrpSpPr/>
            <p:nvPr/>
          </p:nvGrpSpPr>
          <p:grpSpPr>
            <a:xfrm>
              <a:off x="240300" y="1856509"/>
              <a:ext cx="4131675" cy="4050476"/>
              <a:chOff x="240300" y="1856509"/>
              <a:chExt cx="4131675" cy="4050476"/>
            </a:xfrm>
          </p:grpSpPr>
          <p:graphicFrame>
            <p:nvGraphicFramePr>
              <p:cNvPr id="38" name="Content Placeholder 7"/>
              <p:cNvGraphicFramePr>
                <a:graphicFrameLocks/>
              </p:cNvGraphicFramePr>
              <p:nvPr/>
            </p:nvGraphicFramePr>
            <p:xfrm>
              <a:off x="368300" y="1856509"/>
              <a:ext cx="4003675" cy="4050476"/>
            </p:xfrm>
            <a:graphic>
              <a:graphicData uri="http://schemas.openxmlformats.org/drawingml/2006/chart">
                <c:chart xmlns:c="http://schemas.openxmlformats.org/drawingml/2006/chart" xmlns:r="http://schemas.openxmlformats.org/officeDocument/2006/relationships" r:id="rId3"/>
              </a:graphicData>
            </a:graphic>
          </p:graphicFrame>
          <p:sp>
            <p:nvSpPr>
              <p:cNvPr id="39" name="TextBox 38"/>
              <p:cNvSpPr txBox="1"/>
              <p:nvPr/>
            </p:nvSpPr>
            <p:spPr>
              <a:xfrm>
                <a:off x="1154197" y="5171415"/>
                <a:ext cx="922204" cy="707248"/>
              </a:xfrm>
              <a:prstGeom prst="rect">
                <a:avLst/>
              </a:prstGeom>
              <a:noFill/>
            </p:spPr>
            <p:txBody>
              <a:bodyPr wrap="square" lIns="0" tIns="0" rIns="0" bIns="0" rtlCol="0">
                <a:spAutoFit/>
              </a:bodyPr>
              <a:lstStyle/>
              <a:p>
                <a:pPr algn="ctr" defTabSz="914400">
                  <a:defRPr/>
                </a:pPr>
                <a:r>
                  <a:rPr lang="en-GB" sz="1400" b="1" dirty="0">
                    <a:solidFill>
                      <a:srgbClr val="F36633"/>
                    </a:solidFill>
                    <a:latin typeface="Arial"/>
                  </a:rPr>
                  <a:t>FF/UMEC/VI</a:t>
                </a:r>
              </a:p>
              <a:p>
                <a:pPr algn="ctr" defTabSz="914400">
                  <a:defRPr/>
                </a:pPr>
                <a:r>
                  <a:rPr lang="en-GB" sz="1400" dirty="0">
                    <a:solidFill>
                      <a:srgbClr val="F36633"/>
                    </a:solidFill>
                    <a:latin typeface="Arial"/>
                  </a:rPr>
                  <a:t>100/62.5/25</a:t>
                </a:r>
              </a:p>
              <a:p>
                <a:pPr algn="ctr" defTabSz="914400">
                  <a:defRPr/>
                </a:pPr>
                <a:r>
                  <a:rPr lang="en-GB" sz="1400" dirty="0">
                    <a:solidFill>
                      <a:srgbClr val="F36633"/>
                    </a:solidFill>
                    <a:latin typeface="Arial"/>
                  </a:rPr>
                  <a:t>(n=911)</a:t>
                </a:r>
              </a:p>
            </p:txBody>
          </p:sp>
          <p:sp>
            <p:nvSpPr>
              <p:cNvPr id="40" name="TextBox 39"/>
              <p:cNvSpPr txBox="1"/>
              <p:nvPr/>
            </p:nvSpPr>
            <p:spPr>
              <a:xfrm>
                <a:off x="2503483" y="5171415"/>
                <a:ext cx="1242328" cy="707248"/>
              </a:xfrm>
              <a:prstGeom prst="rect">
                <a:avLst/>
              </a:prstGeom>
              <a:noFill/>
            </p:spPr>
            <p:txBody>
              <a:bodyPr wrap="square" lIns="0" tIns="0" rIns="0" bIns="0" rtlCol="0">
                <a:spAutoFit/>
              </a:bodyPr>
              <a:lstStyle/>
              <a:p>
                <a:pPr algn="ctr" defTabSz="914400">
                  <a:defRPr/>
                </a:pPr>
                <a:r>
                  <a:rPr lang="en-GB" sz="1400" b="1" dirty="0">
                    <a:solidFill>
                      <a:srgbClr val="15717D"/>
                    </a:solidFill>
                    <a:latin typeface="Arial"/>
                  </a:rPr>
                  <a:t>BUD/FOR</a:t>
                </a:r>
              </a:p>
              <a:p>
                <a:pPr algn="ctr" defTabSz="914400">
                  <a:defRPr/>
                </a:pPr>
                <a:r>
                  <a:rPr lang="en-GB" sz="1400" dirty="0">
                    <a:solidFill>
                      <a:srgbClr val="15717D"/>
                    </a:solidFill>
                    <a:latin typeface="Arial"/>
                  </a:rPr>
                  <a:t>400/12</a:t>
                </a:r>
              </a:p>
              <a:p>
                <a:pPr algn="ctr" defTabSz="914400">
                  <a:defRPr/>
                </a:pPr>
                <a:r>
                  <a:rPr lang="en-GB" sz="1400" dirty="0">
                    <a:solidFill>
                      <a:srgbClr val="15717D"/>
                    </a:solidFill>
                    <a:latin typeface="Arial"/>
                  </a:rPr>
                  <a:t>(n=899)</a:t>
                </a:r>
              </a:p>
            </p:txBody>
          </p:sp>
          <p:sp>
            <p:nvSpPr>
              <p:cNvPr id="41" name="TextBox 40"/>
              <p:cNvSpPr txBox="1"/>
              <p:nvPr/>
            </p:nvSpPr>
            <p:spPr>
              <a:xfrm rot="16200000">
                <a:off x="-1209016" y="3485811"/>
                <a:ext cx="3154632" cy="256000"/>
              </a:xfrm>
              <a:prstGeom prst="rect">
                <a:avLst/>
              </a:prstGeom>
              <a:noFill/>
            </p:spPr>
            <p:txBody>
              <a:bodyPr wrap="square" lIns="0" tIns="0" rIns="0" bIns="0" rtlCol="0">
                <a:spAutoFit/>
              </a:bodyPr>
              <a:lstStyle/>
              <a:p>
                <a:pPr algn="ctr" defTabSz="914400">
                  <a:defRPr/>
                </a:pPr>
                <a:r>
                  <a:rPr lang="en-US" sz="1400" b="1" dirty="0">
                    <a:solidFill>
                      <a:srgbClr val="544F40"/>
                    </a:solidFill>
                    <a:latin typeface="Arial"/>
                  </a:rPr>
                  <a:t>LS mean (95%CI) change</a:t>
                </a:r>
                <a:br>
                  <a:rPr lang="en-US" sz="1400" b="1" dirty="0">
                    <a:solidFill>
                      <a:srgbClr val="544F40"/>
                    </a:solidFill>
                    <a:latin typeface="Arial"/>
                  </a:rPr>
                </a:br>
                <a:r>
                  <a:rPr lang="en-US" sz="1400" b="1" dirty="0">
                    <a:solidFill>
                      <a:srgbClr val="544F40"/>
                    </a:solidFill>
                    <a:latin typeface="Arial"/>
                  </a:rPr>
                  <a:t>from baseline (mL)</a:t>
                </a:r>
              </a:p>
            </p:txBody>
          </p:sp>
        </p:grpSp>
        <p:cxnSp>
          <p:nvCxnSpPr>
            <p:cNvPr id="37" name="Straight Arrow Connector 36"/>
            <p:cNvCxnSpPr/>
            <p:nvPr/>
          </p:nvCxnSpPr>
          <p:spPr>
            <a:xfrm>
              <a:off x="3124647" y="2470645"/>
              <a:ext cx="0" cy="2539074"/>
            </a:xfrm>
            <a:prstGeom prst="straightConnector1">
              <a:avLst/>
            </a:prstGeom>
            <a:ln w="28575">
              <a:solidFill>
                <a:srgbClr val="F36633"/>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grpSp>
      <p:sp>
        <p:nvSpPr>
          <p:cNvPr id="42" name="TextBox 41"/>
          <p:cNvSpPr txBox="1"/>
          <p:nvPr/>
        </p:nvSpPr>
        <p:spPr>
          <a:xfrm>
            <a:off x="6714209" y="2436468"/>
            <a:ext cx="1628888" cy="406265"/>
          </a:xfrm>
          <a:prstGeom prst="rect">
            <a:avLst/>
          </a:prstGeom>
          <a:solidFill>
            <a:schemeClr val="bg1"/>
          </a:solidFill>
        </p:spPr>
        <p:txBody>
          <a:bodyPr wrap="square" lIns="0" tIns="18288" rIns="0" bIns="18288" rtlCol="0">
            <a:spAutoFit/>
          </a:bodyPr>
          <a:lstStyle/>
          <a:p>
            <a:pPr algn="ctr" defTabSz="914400">
              <a:defRPr/>
            </a:pPr>
            <a:r>
              <a:rPr lang="en-GB" sz="1200" dirty="0">
                <a:solidFill>
                  <a:srgbClr val="F36633"/>
                </a:solidFill>
                <a:latin typeface="Symbol" pitchFamily="18" charset="2"/>
              </a:rPr>
              <a:t>D</a:t>
            </a:r>
            <a:r>
              <a:rPr lang="en-GB" sz="1200" dirty="0">
                <a:solidFill>
                  <a:srgbClr val="F36633"/>
                </a:solidFill>
                <a:latin typeface="Arial"/>
              </a:rPr>
              <a:t> 171 (95% CI: 148, 194) </a:t>
            </a:r>
            <a:r>
              <a:rPr lang="en-GB" sz="1200" i="1" dirty="0">
                <a:solidFill>
                  <a:srgbClr val="F36633"/>
                </a:solidFill>
                <a:latin typeface="Arial"/>
              </a:rPr>
              <a:t>P</a:t>
            </a:r>
            <a:r>
              <a:rPr lang="en-GB" sz="1200" dirty="0">
                <a:solidFill>
                  <a:srgbClr val="F36633"/>
                </a:solidFill>
                <a:latin typeface="Arial"/>
              </a:rPr>
              <a:t>&lt;0.001</a:t>
            </a:r>
          </a:p>
        </p:txBody>
      </p:sp>
      <p:sp>
        <p:nvSpPr>
          <p:cNvPr id="15" name="TextBox 14"/>
          <p:cNvSpPr txBox="1"/>
          <p:nvPr/>
        </p:nvSpPr>
        <p:spPr>
          <a:xfrm>
            <a:off x="1904998" y="5286127"/>
            <a:ext cx="8420400" cy="638637"/>
          </a:xfrm>
          <a:prstGeom prst="roundRect">
            <a:avLst/>
          </a:prstGeom>
          <a:solidFill>
            <a:schemeClr val="tx2"/>
          </a:solidFill>
          <a:ln w="22225">
            <a:noFill/>
          </a:ln>
          <a:effectLst>
            <a:outerShdw blurRad="50800" dist="38100" dir="2700000" algn="tl" rotWithShape="0">
              <a:prstClr val="black">
                <a:alpha val="40000"/>
              </a:prstClr>
            </a:outerShdw>
          </a:effectLst>
        </p:spPr>
        <p:txBody>
          <a:bodyPr wrap="square" lIns="72000" tIns="72000" rIns="72000" bIns="72000" rtlCol="0" anchor="ctr" anchorCtr="0">
            <a:noAutofit/>
          </a:bodyPr>
          <a:lstStyle>
            <a:defPPr>
              <a:defRPr lang="en-US"/>
            </a:defPPr>
            <a:lvl1pPr algn="ctr">
              <a:lnSpc>
                <a:spcPct val="90000"/>
              </a:lnSpc>
              <a:defRPr sz="1200">
                <a:latin typeface="+mj-lt"/>
                <a:cs typeface="Arial" panose="020B0604020202020204" pitchFamily="34" charset="0"/>
              </a:defRPr>
            </a:lvl1pPr>
          </a:lstStyle>
          <a:p>
            <a:pPr defTabSz="914400">
              <a:defRPr/>
            </a:pPr>
            <a:r>
              <a:rPr lang="en-GB" sz="1600" b="1" dirty="0">
                <a:solidFill>
                  <a:srgbClr val="FFFFFF"/>
                </a:solidFill>
                <a:latin typeface="Arial" panose="020B0604020202020204" pitchFamily="34" charset="0"/>
              </a:rPr>
              <a:t>At Week 24, there was a significant improvement in lung function for patients receiving single-inhaler triple therapy compared with those receiving ICS/LABA</a:t>
            </a:r>
          </a:p>
        </p:txBody>
      </p:sp>
      <p:sp>
        <p:nvSpPr>
          <p:cNvPr id="3" name="ZoneTexte 2">
            <a:extLst>
              <a:ext uri="{FF2B5EF4-FFF2-40B4-BE49-F238E27FC236}">
                <a16:creationId xmlns:a16="http://schemas.microsoft.com/office/drawing/2014/main" id="{02AC4736-E7C6-77CA-3657-3533CA3A4F21}"/>
              </a:ext>
            </a:extLst>
          </p:cNvPr>
          <p:cNvSpPr txBox="1"/>
          <p:nvPr/>
        </p:nvSpPr>
        <p:spPr>
          <a:xfrm>
            <a:off x="1296026" y="5995677"/>
            <a:ext cx="10404618" cy="338554"/>
          </a:xfrm>
          <a:prstGeom prst="rect">
            <a:avLst/>
          </a:prstGeom>
          <a:noFill/>
        </p:spPr>
        <p:txBody>
          <a:bodyPr wrap="square">
            <a:spAutoFit/>
          </a:bodyPr>
          <a:lstStyle/>
          <a:p>
            <a:r>
              <a:rPr lang="fr-FR" sz="800" dirty="0"/>
              <a:t>BUD, </a:t>
            </a:r>
            <a:r>
              <a:rPr lang="fr-FR" sz="800" dirty="0" err="1"/>
              <a:t>budesonide</a:t>
            </a:r>
            <a:r>
              <a:rPr lang="fr-FR" sz="800" dirty="0"/>
              <a:t>; CI, confidence </a:t>
            </a:r>
            <a:r>
              <a:rPr lang="fr-FR" sz="800" dirty="0" err="1"/>
              <a:t>interval</a:t>
            </a:r>
            <a:r>
              <a:rPr lang="fr-FR" sz="800" dirty="0"/>
              <a:t>; COPD, </a:t>
            </a:r>
            <a:r>
              <a:rPr lang="fr-FR" sz="800" dirty="0" err="1"/>
              <a:t>chronic</a:t>
            </a:r>
            <a:r>
              <a:rPr lang="fr-FR" sz="800" dirty="0"/>
              <a:t> obstructive </a:t>
            </a:r>
            <a:r>
              <a:rPr lang="fr-FR" sz="800" dirty="0" err="1"/>
              <a:t>pulmonary</a:t>
            </a:r>
            <a:r>
              <a:rPr lang="fr-FR" sz="800" dirty="0"/>
              <a:t> </a:t>
            </a:r>
            <a:r>
              <a:rPr lang="fr-FR" sz="800" dirty="0" err="1"/>
              <a:t>disease</a:t>
            </a:r>
            <a:r>
              <a:rPr lang="fr-FR" sz="800" dirty="0"/>
              <a:t>; FEV1, </a:t>
            </a:r>
            <a:r>
              <a:rPr lang="fr-FR" sz="800" dirty="0" err="1"/>
              <a:t>forced</a:t>
            </a:r>
            <a:r>
              <a:rPr lang="fr-FR" sz="800" dirty="0"/>
              <a:t> </a:t>
            </a:r>
            <a:r>
              <a:rPr lang="fr-FR" sz="800" dirty="0" err="1"/>
              <a:t>expiratory</a:t>
            </a:r>
            <a:r>
              <a:rPr lang="fr-FR" sz="800" dirty="0"/>
              <a:t> volume in 1 second;</a:t>
            </a:r>
            <a:br>
              <a:rPr lang="fr-FR" sz="800" dirty="0"/>
            </a:br>
            <a:r>
              <a:rPr lang="fr-FR" sz="800" dirty="0"/>
              <a:t>FF, fluticasone </a:t>
            </a:r>
            <a:r>
              <a:rPr lang="fr-FR" sz="800" dirty="0" err="1"/>
              <a:t>furoate</a:t>
            </a:r>
            <a:r>
              <a:rPr lang="fr-FR" sz="800" dirty="0"/>
              <a:t>; FOR, </a:t>
            </a:r>
            <a:r>
              <a:rPr lang="fr-FR" sz="800" dirty="0" err="1"/>
              <a:t>formoterol</a:t>
            </a:r>
            <a:r>
              <a:rPr lang="fr-FR" sz="800" dirty="0"/>
              <a:t>; ICS, </a:t>
            </a:r>
            <a:r>
              <a:rPr lang="fr-FR" sz="800" dirty="0" err="1"/>
              <a:t>inhaled</a:t>
            </a:r>
            <a:r>
              <a:rPr lang="fr-FR" sz="800" dirty="0"/>
              <a:t> </a:t>
            </a:r>
            <a:r>
              <a:rPr lang="fr-FR" sz="800" dirty="0" err="1"/>
              <a:t>corticosteroid</a:t>
            </a:r>
            <a:r>
              <a:rPr lang="fr-FR" sz="800" dirty="0"/>
              <a:t>; LABA, long-acting </a:t>
            </a:r>
            <a:r>
              <a:rPr lang="el-GR" sz="800" dirty="0"/>
              <a:t>β </a:t>
            </a:r>
            <a:r>
              <a:rPr lang="fr-FR" sz="800" dirty="0" err="1"/>
              <a:t>adrenoceptor</a:t>
            </a:r>
            <a:r>
              <a:rPr lang="fr-FR" sz="800" dirty="0"/>
              <a:t> </a:t>
            </a:r>
            <a:r>
              <a:rPr lang="fr-FR" sz="800" dirty="0" err="1"/>
              <a:t>agonists</a:t>
            </a:r>
            <a:r>
              <a:rPr lang="fr-FR" sz="800" dirty="0"/>
              <a:t>; UMEC, </a:t>
            </a:r>
            <a:r>
              <a:rPr lang="fr-FR" sz="800" dirty="0" err="1"/>
              <a:t>umeclidinium</a:t>
            </a:r>
            <a:r>
              <a:rPr lang="fr-FR" sz="800" dirty="0"/>
              <a:t>; VI, </a:t>
            </a:r>
            <a:r>
              <a:rPr lang="fr-FR" sz="800" dirty="0" err="1"/>
              <a:t>vilanterol</a:t>
            </a:r>
            <a:endParaRPr lang="fr-FR" sz="800" dirty="0"/>
          </a:p>
        </p:txBody>
      </p:sp>
      <p:sp>
        <p:nvSpPr>
          <p:cNvPr id="4" name="Slide Number Placeholder 4">
            <a:extLst>
              <a:ext uri="{FF2B5EF4-FFF2-40B4-BE49-F238E27FC236}">
                <a16:creationId xmlns:a16="http://schemas.microsoft.com/office/drawing/2014/main" id="{C9B4B85B-378D-71EC-E957-0031048D577F}"/>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9</a:t>
            </a:fld>
            <a:endParaRPr lang="en-GB" sz="1000" dirty="0">
              <a:solidFill>
                <a:srgbClr val="000000"/>
              </a:solidFill>
              <a:latin typeface="Arial"/>
              <a:cs typeface="Noto Sans"/>
            </a:endParaRPr>
          </a:p>
        </p:txBody>
      </p:sp>
    </p:spTree>
    <p:extLst>
      <p:ext uri="{BB962C8B-B14F-4D97-AF65-F5344CB8AC3E}">
        <p14:creationId xmlns:p14="http://schemas.microsoft.com/office/powerpoint/2010/main" val="2182313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546" y="1125285"/>
            <a:ext cx="10102852" cy="338554"/>
          </a:xfrm>
        </p:spPr>
        <p:txBody>
          <a:bodyPr vert="horz" lIns="0" tIns="0" rIns="0" bIns="720000" rtlCol="0" anchor="b" anchorCtr="0">
            <a:noAutofit/>
          </a:bodyPr>
          <a:lstStyle/>
          <a:p>
            <a:r>
              <a:rPr lang="en-US" sz="2400" dirty="0"/>
              <a:t>Once-daily single-inhaler triple therapy </a:t>
            </a:r>
            <a:r>
              <a:rPr lang="en-GB" sz="2400" dirty="0"/>
              <a:t>(FF/UMEC/VI) in COPD </a:t>
            </a:r>
            <a:r>
              <a:rPr lang="en-US" sz="2400" dirty="0"/>
              <a:t>significantly improved lung function versus </a:t>
            </a:r>
            <a:r>
              <a:rPr lang="en-GB" sz="2400" dirty="0"/>
              <a:t>BUD/FOR</a:t>
            </a:r>
          </a:p>
        </p:txBody>
      </p:sp>
      <p:sp>
        <p:nvSpPr>
          <p:cNvPr id="9" name="Text Placeholder 8"/>
          <p:cNvSpPr>
            <a:spLocks noGrp="1"/>
          </p:cNvSpPr>
          <p:nvPr>
            <p:ph type="body" sz="quarter" idx="19"/>
          </p:nvPr>
        </p:nvSpPr>
        <p:spPr>
          <a:xfrm>
            <a:off x="2311775" y="6282770"/>
            <a:ext cx="8171182" cy="494321"/>
          </a:xfrm>
        </p:spPr>
        <p:txBody>
          <a:bodyPr/>
          <a:lstStyle/>
          <a:p>
            <a:pPr algn="r"/>
            <a:r>
              <a:rPr lang="en-US" sz="1000" i="1" dirty="0">
                <a:latin typeface="Calibri" panose="020F0502020204030204" pitchFamily="34" charset="0"/>
                <a:cs typeface="Calibri" panose="020F0502020204030204" pitchFamily="34" charset="0"/>
              </a:rPr>
              <a:t>Lipson DA et al. Am J </a:t>
            </a:r>
            <a:r>
              <a:rPr lang="en-US" sz="1000" i="1" dirty="0" err="1">
                <a:latin typeface="Calibri" panose="020F0502020204030204" pitchFamily="34" charset="0"/>
                <a:cs typeface="Calibri" panose="020F0502020204030204" pitchFamily="34" charset="0"/>
              </a:rPr>
              <a:t>Resp</a:t>
            </a:r>
            <a:r>
              <a:rPr lang="en-US" sz="1000" i="1" dirty="0">
                <a:latin typeface="Calibri" panose="020F0502020204030204" pitchFamily="34" charset="0"/>
                <a:cs typeface="Calibri" panose="020F0502020204030204" pitchFamily="34" charset="0"/>
              </a:rPr>
              <a:t> </a:t>
            </a:r>
            <a:r>
              <a:rPr lang="en-US" sz="1000" i="1" dirty="0" err="1">
                <a:latin typeface="Calibri" panose="020F0502020204030204" pitchFamily="34" charset="0"/>
                <a:cs typeface="Calibri" panose="020F0502020204030204" pitchFamily="34" charset="0"/>
              </a:rPr>
              <a:t>Crit</a:t>
            </a:r>
            <a:r>
              <a:rPr lang="en-US" sz="1000" i="1" dirty="0">
                <a:latin typeface="Calibri" panose="020F0502020204030204" pitchFamily="34" charset="0"/>
                <a:cs typeface="Calibri" panose="020F0502020204030204" pitchFamily="34" charset="0"/>
              </a:rPr>
              <a:t> Care. 2017; 196:438–446.</a:t>
            </a:r>
            <a:endParaRPr lang="en-GB" sz="1000" i="1" dirty="0">
              <a:latin typeface="Calibri" panose="020F0502020204030204" pitchFamily="34" charset="0"/>
              <a:cs typeface="Calibri" panose="020F0502020204030204" pitchFamily="34" charset="0"/>
            </a:endParaRPr>
          </a:p>
        </p:txBody>
      </p:sp>
      <p:sp>
        <p:nvSpPr>
          <p:cNvPr id="15" name="TextBox 14"/>
          <p:cNvSpPr txBox="1"/>
          <p:nvPr/>
        </p:nvSpPr>
        <p:spPr>
          <a:xfrm>
            <a:off x="1904998" y="5286127"/>
            <a:ext cx="8420400" cy="638637"/>
          </a:xfrm>
          <a:prstGeom prst="roundRect">
            <a:avLst/>
          </a:prstGeom>
          <a:solidFill>
            <a:schemeClr val="tx2"/>
          </a:solidFill>
          <a:ln w="22225">
            <a:noFill/>
          </a:ln>
          <a:effectLst>
            <a:outerShdw blurRad="50800" dist="38100" dir="2700000" algn="tl" rotWithShape="0">
              <a:prstClr val="black">
                <a:alpha val="40000"/>
              </a:prstClr>
            </a:outerShdw>
          </a:effectLst>
        </p:spPr>
        <p:txBody>
          <a:bodyPr wrap="square" lIns="72000" tIns="72000" rIns="72000" bIns="72000" rtlCol="0" anchor="ctr" anchorCtr="0">
            <a:noAutofit/>
          </a:bodyPr>
          <a:lstStyle>
            <a:defPPr>
              <a:defRPr lang="en-US"/>
            </a:defPPr>
            <a:lvl1pPr algn="ctr">
              <a:lnSpc>
                <a:spcPct val="90000"/>
              </a:lnSpc>
              <a:defRPr sz="1200">
                <a:latin typeface="+mj-lt"/>
                <a:cs typeface="Arial" panose="020B0604020202020204" pitchFamily="34" charset="0"/>
              </a:defRPr>
            </a:lvl1pPr>
          </a:lstStyle>
          <a:p>
            <a:pPr defTabSz="914400">
              <a:defRPr/>
            </a:pPr>
            <a:r>
              <a:rPr lang="en-GB" sz="1600" b="1" dirty="0">
                <a:solidFill>
                  <a:srgbClr val="FFFFFF"/>
                </a:solidFill>
                <a:latin typeface="Arial" panose="020B0604020202020204" pitchFamily="34" charset="0"/>
              </a:rPr>
              <a:t>At Week 24, there was a significant improvement in lung function for patients receiving single-inhaler triple therapy compared with those receiving ICS/LABA</a:t>
            </a:r>
          </a:p>
        </p:txBody>
      </p:sp>
      <p:sp>
        <p:nvSpPr>
          <p:cNvPr id="3" name="ZoneTexte 2">
            <a:extLst>
              <a:ext uri="{FF2B5EF4-FFF2-40B4-BE49-F238E27FC236}">
                <a16:creationId xmlns:a16="http://schemas.microsoft.com/office/drawing/2014/main" id="{02AC4736-E7C6-77CA-3657-3533CA3A4F21}"/>
              </a:ext>
            </a:extLst>
          </p:cNvPr>
          <p:cNvSpPr txBox="1"/>
          <p:nvPr/>
        </p:nvSpPr>
        <p:spPr>
          <a:xfrm>
            <a:off x="1296026" y="5995677"/>
            <a:ext cx="10404618" cy="338554"/>
          </a:xfrm>
          <a:prstGeom prst="rect">
            <a:avLst/>
          </a:prstGeom>
          <a:noFill/>
        </p:spPr>
        <p:txBody>
          <a:bodyPr wrap="square">
            <a:spAutoFit/>
          </a:bodyPr>
          <a:lstStyle/>
          <a:p>
            <a:r>
              <a:rPr lang="fr-FR" sz="800" dirty="0"/>
              <a:t>BUD, </a:t>
            </a:r>
            <a:r>
              <a:rPr lang="fr-FR" sz="800" dirty="0" err="1"/>
              <a:t>budesonide</a:t>
            </a:r>
            <a:r>
              <a:rPr lang="fr-FR" sz="800" dirty="0"/>
              <a:t>; CI, confidence </a:t>
            </a:r>
            <a:r>
              <a:rPr lang="fr-FR" sz="800" dirty="0" err="1"/>
              <a:t>interval</a:t>
            </a:r>
            <a:r>
              <a:rPr lang="fr-FR" sz="800" dirty="0"/>
              <a:t>; COPD, </a:t>
            </a:r>
            <a:r>
              <a:rPr lang="fr-FR" sz="800" dirty="0" err="1"/>
              <a:t>chronic</a:t>
            </a:r>
            <a:r>
              <a:rPr lang="fr-FR" sz="800" dirty="0"/>
              <a:t> obstructive </a:t>
            </a:r>
            <a:r>
              <a:rPr lang="fr-FR" sz="800" dirty="0" err="1"/>
              <a:t>pulmonary</a:t>
            </a:r>
            <a:r>
              <a:rPr lang="fr-FR" sz="800" dirty="0"/>
              <a:t> </a:t>
            </a:r>
            <a:r>
              <a:rPr lang="fr-FR" sz="800" dirty="0" err="1"/>
              <a:t>disease</a:t>
            </a:r>
            <a:r>
              <a:rPr lang="fr-FR" sz="800" dirty="0"/>
              <a:t>; FEV1, </a:t>
            </a:r>
            <a:r>
              <a:rPr lang="fr-FR" sz="800" dirty="0" err="1"/>
              <a:t>forced</a:t>
            </a:r>
            <a:r>
              <a:rPr lang="fr-FR" sz="800" dirty="0"/>
              <a:t> </a:t>
            </a:r>
            <a:r>
              <a:rPr lang="fr-FR" sz="800" dirty="0" err="1"/>
              <a:t>expiratory</a:t>
            </a:r>
            <a:r>
              <a:rPr lang="fr-FR" sz="800" dirty="0"/>
              <a:t> volume in 1 second;</a:t>
            </a:r>
            <a:br>
              <a:rPr lang="fr-FR" sz="800" dirty="0"/>
            </a:br>
            <a:r>
              <a:rPr lang="fr-FR" sz="800" dirty="0"/>
              <a:t>FF, fluticasone </a:t>
            </a:r>
            <a:r>
              <a:rPr lang="fr-FR" sz="800" dirty="0" err="1"/>
              <a:t>furoate</a:t>
            </a:r>
            <a:r>
              <a:rPr lang="fr-FR" sz="800" dirty="0"/>
              <a:t>; FOR, </a:t>
            </a:r>
            <a:r>
              <a:rPr lang="fr-FR" sz="800" dirty="0" err="1"/>
              <a:t>formoterol</a:t>
            </a:r>
            <a:r>
              <a:rPr lang="fr-FR" sz="800" dirty="0"/>
              <a:t>; ICS, </a:t>
            </a:r>
            <a:r>
              <a:rPr lang="fr-FR" sz="800" dirty="0" err="1"/>
              <a:t>inhaled</a:t>
            </a:r>
            <a:r>
              <a:rPr lang="fr-FR" sz="800" dirty="0"/>
              <a:t> </a:t>
            </a:r>
            <a:r>
              <a:rPr lang="fr-FR" sz="800" dirty="0" err="1"/>
              <a:t>corticosteroid</a:t>
            </a:r>
            <a:r>
              <a:rPr lang="fr-FR" sz="800" dirty="0"/>
              <a:t>; LABA, long-acting </a:t>
            </a:r>
            <a:r>
              <a:rPr lang="el-GR" sz="800" dirty="0"/>
              <a:t>β </a:t>
            </a:r>
            <a:r>
              <a:rPr lang="fr-FR" sz="800" dirty="0" err="1"/>
              <a:t>adrenoceptor</a:t>
            </a:r>
            <a:r>
              <a:rPr lang="fr-FR" sz="800" dirty="0"/>
              <a:t> </a:t>
            </a:r>
            <a:r>
              <a:rPr lang="fr-FR" sz="800" dirty="0" err="1"/>
              <a:t>agonists</a:t>
            </a:r>
            <a:r>
              <a:rPr lang="fr-FR" sz="800" dirty="0"/>
              <a:t>; UMEC, </a:t>
            </a:r>
            <a:r>
              <a:rPr lang="fr-FR" sz="800" dirty="0" err="1"/>
              <a:t>umeclidinium</a:t>
            </a:r>
            <a:r>
              <a:rPr lang="fr-FR" sz="800" dirty="0"/>
              <a:t>; VI, </a:t>
            </a:r>
            <a:r>
              <a:rPr lang="fr-FR" sz="800" dirty="0" err="1"/>
              <a:t>vilanterol</a:t>
            </a:r>
            <a:endParaRPr lang="fr-FR" sz="800" dirty="0"/>
          </a:p>
        </p:txBody>
      </p:sp>
      <p:sp>
        <p:nvSpPr>
          <p:cNvPr id="13" name="object 2">
            <a:extLst>
              <a:ext uri="{FF2B5EF4-FFF2-40B4-BE49-F238E27FC236}">
                <a16:creationId xmlns:a16="http://schemas.microsoft.com/office/drawing/2014/main" id="{CB57D47C-6825-2D2E-BBA5-BCB45D0E0547}"/>
              </a:ext>
            </a:extLst>
          </p:cNvPr>
          <p:cNvSpPr/>
          <p:nvPr/>
        </p:nvSpPr>
        <p:spPr>
          <a:xfrm>
            <a:off x="8306810" y="2160247"/>
            <a:ext cx="2009139" cy="2009139"/>
          </a:xfrm>
          <a:custGeom>
            <a:avLst/>
            <a:gdLst/>
            <a:ahLst/>
            <a:cxnLst/>
            <a:rect l="l" t="t" r="r" b="b"/>
            <a:pathLst>
              <a:path w="2009140" h="2009139">
                <a:moveTo>
                  <a:pt x="1004316" y="0"/>
                </a:moveTo>
                <a:lnTo>
                  <a:pt x="955660" y="1158"/>
                </a:lnTo>
                <a:lnTo>
                  <a:pt x="907602" y="4598"/>
                </a:lnTo>
                <a:lnTo>
                  <a:pt x="860194" y="10266"/>
                </a:lnTo>
                <a:lnTo>
                  <a:pt x="813488" y="18111"/>
                </a:lnTo>
                <a:lnTo>
                  <a:pt x="767538" y="28079"/>
                </a:lnTo>
                <a:lnTo>
                  <a:pt x="722394" y="40119"/>
                </a:lnTo>
                <a:lnTo>
                  <a:pt x="678112" y="54176"/>
                </a:lnTo>
                <a:lnTo>
                  <a:pt x="634742" y="70200"/>
                </a:lnTo>
                <a:lnTo>
                  <a:pt x="592337" y="88136"/>
                </a:lnTo>
                <a:lnTo>
                  <a:pt x="550951" y="107933"/>
                </a:lnTo>
                <a:lnTo>
                  <a:pt x="510636" y="129537"/>
                </a:lnTo>
                <a:lnTo>
                  <a:pt x="471444" y="152897"/>
                </a:lnTo>
                <a:lnTo>
                  <a:pt x="433428" y="177959"/>
                </a:lnTo>
                <a:lnTo>
                  <a:pt x="396641" y="204671"/>
                </a:lnTo>
                <a:lnTo>
                  <a:pt x="361136" y="232980"/>
                </a:lnTo>
                <a:lnTo>
                  <a:pt x="326964" y="262834"/>
                </a:lnTo>
                <a:lnTo>
                  <a:pt x="294179" y="294179"/>
                </a:lnTo>
                <a:lnTo>
                  <a:pt x="262834" y="326964"/>
                </a:lnTo>
                <a:lnTo>
                  <a:pt x="232980" y="361136"/>
                </a:lnTo>
                <a:lnTo>
                  <a:pt x="204671" y="396641"/>
                </a:lnTo>
                <a:lnTo>
                  <a:pt x="177959" y="433428"/>
                </a:lnTo>
                <a:lnTo>
                  <a:pt x="152897" y="471444"/>
                </a:lnTo>
                <a:lnTo>
                  <a:pt x="129537" y="510636"/>
                </a:lnTo>
                <a:lnTo>
                  <a:pt x="107933" y="550951"/>
                </a:lnTo>
                <a:lnTo>
                  <a:pt x="88136" y="592337"/>
                </a:lnTo>
                <a:lnTo>
                  <a:pt x="70200" y="634742"/>
                </a:lnTo>
                <a:lnTo>
                  <a:pt x="54176" y="678112"/>
                </a:lnTo>
                <a:lnTo>
                  <a:pt x="40119" y="722394"/>
                </a:lnTo>
                <a:lnTo>
                  <a:pt x="28079" y="767538"/>
                </a:lnTo>
                <a:lnTo>
                  <a:pt x="18111" y="813488"/>
                </a:lnTo>
                <a:lnTo>
                  <a:pt x="10266" y="860194"/>
                </a:lnTo>
                <a:lnTo>
                  <a:pt x="4598" y="907602"/>
                </a:lnTo>
                <a:lnTo>
                  <a:pt x="1158" y="955660"/>
                </a:lnTo>
                <a:lnTo>
                  <a:pt x="0" y="1004315"/>
                </a:lnTo>
                <a:lnTo>
                  <a:pt x="1158" y="1052971"/>
                </a:lnTo>
                <a:lnTo>
                  <a:pt x="4598" y="1101029"/>
                </a:lnTo>
                <a:lnTo>
                  <a:pt x="10266" y="1148437"/>
                </a:lnTo>
                <a:lnTo>
                  <a:pt x="18111" y="1195143"/>
                </a:lnTo>
                <a:lnTo>
                  <a:pt x="28079" y="1241093"/>
                </a:lnTo>
                <a:lnTo>
                  <a:pt x="40119" y="1286237"/>
                </a:lnTo>
                <a:lnTo>
                  <a:pt x="54176" y="1330519"/>
                </a:lnTo>
                <a:lnTo>
                  <a:pt x="70200" y="1373889"/>
                </a:lnTo>
                <a:lnTo>
                  <a:pt x="88136" y="1416294"/>
                </a:lnTo>
                <a:lnTo>
                  <a:pt x="107933" y="1457680"/>
                </a:lnTo>
                <a:lnTo>
                  <a:pt x="129537" y="1497995"/>
                </a:lnTo>
                <a:lnTo>
                  <a:pt x="152897" y="1537187"/>
                </a:lnTo>
                <a:lnTo>
                  <a:pt x="177959" y="1575203"/>
                </a:lnTo>
                <a:lnTo>
                  <a:pt x="204671" y="1611990"/>
                </a:lnTo>
                <a:lnTo>
                  <a:pt x="232980" y="1647495"/>
                </a:lnTo>
                <a:lnTo>
                  <a:pt x="262834" y="1681667"/>
                </a:lnTo>
                <a:lnTo>
                  <a:pt x="294179" y="1714452"/>
                </a:lnTo>
                <a:lnTo>
                  <a:pt x="326964" y="1745797"/>
                </a:lnTo>
                <a:lnTo>
                  <a:pt x="361136" y="1775651"/>
                </a:lnTo>
                <a:lnTo>
                  <a:pt x="396641" y="1803960"/>
                </a:lnTo>
                <a:lnTo>
                  <a:pt x="433428" y="1830672"/>
                </a:lnTo>
                <a:lnTo>
                  <a:pt x="471444" y="1855734"/>
                </a:lnTo>
                <a:lnTo>
                  <a:pt x="510636" y="1879094"/>
                </a:lnTo>
                <a:lnTo>
                  <a:pt x="550951" y="1900698"/>
                </a:lnTo>
                <a:lnTo>
                  <a:pt x="592337" y="1920495"/>
                </a:lnTo>
                <a:lnTo>
                  <a:pt x="634742" y="1938431"/>
                </a:lnTo>
                <a:lnTo>
                  <a:pt x="678112" y="1954455"/>
                </a:lnTo>
                <a:lnTo>
                  <a:pt x="722394" y="1968512"/>
                </a:lnTo>
                <a:lnTo>
                  <a:pt x="767538" y="1980552"/>
                </a:lnTo>
                <a:lnTo>
                  <a:pt x="813488" y="1990520"/>
                </a:lnTo>
                <a:lnTo>
                  <a:pt x="860194" y="1998365"/>
                </a:lnTo>
                <a:lnTo>
                  <a:pt x="907602" y="2004033"/>
                </a:lnTo>
                <a:lnTo>
                  <a:pt x="955660" y="2007473"/>
                </a:lnTo>
                <a:lnTo>
                  <a:pt x="1004316" y="2008632"/>
                </a:lnTo>
                <a:lnTo>
                  <a:pt x="1052971" y="2007473"/>
                </a:lnTo>
                <a:lnTo>
                  <a:pt x="1101029" y="2004033"/>
                </a:lnTo>
                <a:lnTo>
                  <a:pt x="1148437" y="1998365"/>
                </a:lnTo>
                <a:lnTo>
                  <a:pt x="1195143" y="1990520"/>
                </a:lnTo>
                <a:lnTo>
                  <a:pt x="1241093" y="1980552"/>
                </a:lnTo>
                <a:lnTo>
                  <a:pt x="1286237" y="1968512"/>
                </a:lnTo>
                <a:lnTo>
                  <a:pt x="1330519" y="1954455"/>
                </a:lnTo>
                <a:lnTo>
                  <a:pt x="1373889" y="1938431"/>
                </a:lnTo>
                <a:lnTo>
                  <a:pt x="1416294" y="1920495"/>
                </a:lnTo>
                <a:lnTo>
                  <a:pt x="1457680" y="1900698"/>
                </a:lnTo>
                <a:lnTo>
                  <a:pt x="1497995" y="1879094"/>
                </a:lnTo>
                <a:lnTo>
                  <a:pt x="1537187" y="1855734"/>
                </a:lnTo>
                <a:lnTo>
                  <a:pt x="1575203" y="1830672"/>
                </a:lnTo>
                <a:lnTo>
                  <a:pt x="1611990" y="1803960"/>
                </a:lnTo>
                <a:lnTo>
                  <a:pt x="1647495" y="1775651"/>
                </a:lnTo>
                <a:lnTo>
                  <a:pt x="1681667" y="1745797"/>
                </a:lnTo>
                <a:lnTo>
                  <a:pt x="1714452" y="1714452"/>
                </a:lnTo>
                <a:lnTo>
                  <a:pt x="1745797" y="1681667"/>
                </a:lnTo>
                <a:lnTo>
                  <a:pt x="1775651" y="1647495"/>
                </a:lnTo>
                <a:lnTo>
                  <a:pt x="1803960" y="1611990"/>
                </a:lnTo>
                <a:lnTo>
                  <a:pt x="1830672" y="1575203"/>
                </a:lnTo>
                <a:lnTo>
                  <a:pt x="1855734" y="1537187"/>
                </a:lnTo>
                <a:lnTo>
                  <a:pt x="1879094" y="1497995"/>
                </a:lnTo>
                <a:lnTo>
                  <a:pt x="1900698" y="1457680"/>
                </a:lnTo>
                <a:lnTo>
                  <a:pt x="1920495" y="1416294"/>
                </a:lnTo>
                <a:lnTo>
                  <a:pt x="1938431" y="1373889"/>
                </a:lnTo>
                <a:lnTo>
                  <a:pt x="1954455" y="1330519"/>
                </a:lnTo>
                <a:lnTo>
                  <a:pt x="1968512" y="1286237"/>
                </a:lnTo>
                <a:lnTo>
                  <a:pt x="1980552" y="1241093"/>
                </a:lnTo>
                <a:lnTo>
                  <a:pt x="1990520" y="1195143"/>
                </a:lnTo>
                <a:lnTo>
                  <a:pt x="1998365" y="1148437"/>
                </a:lnTo>
                <a:lnTo>
                  <a:pt x="2004033" y="1101029"/>
                </a:lnTo>
                <a:lnTo>
                  <a:pt x="2007473" y="1052971"/>
                </a:lnTo>
                <a:lnTo>
                  <a:pt x="2008632" y="1004315"/>
                </a:lnTo>
                <a:lnTo>
                  <a:pt x="2007473" y="955660"/>
                </a:lnTo>
                <a:lnTo>
                  <a:pt x="2004033" y="907602"/>
                </a:lnTo>
                <a:lnTo>
                  <a:pt x="1998365" y="860194"/>
                </a:lnTo>
                <a:lnTo>
                  <a:pt x="1990520" y="813488"/>
                </a:lnTo>
                <a:lnTo>
                  <a:pt x="1980552" y="767538"/>
                </a:lnTo>
                <a:lnTo>
                  <a:pt x="1968512" y="722394"/>
                </a:lnTo>
                <a:lnTo>
                  <a:pt x="1954455" y="678112"/>
                </a:lnTo>
                <a:lnTo>
                  <a:pt x="1938431" y="634742"/>
                </a:lnTo>
                <a:lnTo>
                  <a:pt x="1920495" y="592337"/>
                </a:lnTo>
                <a:lnTo>
                  <a:pt x="1900698" y="550951"/>
                </a:lnTo>
                <a:lnTo>
                  <a:pt x="1879094" y="510636"/>
                </a:lnTo>
                <a:lnTo>
                  <a:pt x="1855734" y="471444"/>
                </a:lnTo>
                <a:lnTo>
                  <a:pt x="1830672" y="433428"/>
                </a:lnTo>
                <a:lnTo>
                  <a:pt x="1803960" y="396641"/>
                </a:lnTo>
                <a:lnTo>
                  <a:pt x="1775651" y="361136"/>
                </a:lnTo>
                <a:lnTo>
                  <a:pt x="1745797" y="326964"/>
                </a:lnTo>
                <a:lnTo>
                  <a:pt x="1714452" y="294179"/>
                </a:lnTo>
                <a:lnTo>
                  <a:pt x="1681667" y="262834"/>
                </a:lnTo>
                <a:lnTo>
                  <a:pt x="1647495" y="232980"/>
                </a:lnTo>
                <a:lnTo>
                  <a:pt x="1611990" y="204671"/>
                </a:lnTo>
                <a:lnTo>
                  <a:pt x="1575203" y="177959"/>
                </a:lnTo>
                <a:lnTo>
                  <a:pt x="1537187" y="152897"/>
                </a:lnTo>
                <a:lnTo>
                  <a:pt x="1497995" y="129537"/>
                </a:lnTo>
                <a:lnTo>
                  <a:pt x="1457680" y="107933"/>
                </a:lnTo>
                <a:lnTo>
                  <a:pt x="1416294" y="88136"/>
                </a:lnTo>
                <a:lnTo>
                  <a:pt x="1373889" y="70200"/>
                </a:lnTo>
                <a:lnTo>
                  <a:pt x="1330519" y="54176"/>
                </a:lnTo>
                <a:lnTo>
                  <a:pt x="1286237" y="40119"/>
                </a:lnTo>
                <a:lnTo>
                  <a:pt x="1241093" y="28079"/>
                </a:lnTo>
                <a:lnTo>
                  <a:pt x="1195143" y="18111"/>
                </a:lnTo>
                <a:lnTo>
                  <a:pt x="1148437" y="10266"/>
                </a:lnTo>
                <a:lnTo>
                  <a:pt x="1101029" y="4598"/>
                </a:lnTo>
                <a:lnTo>
                  <a:pt x="1052971" y="1158"/>
                </a:lnTo>
                <a:lnTo>
                  <a:pt x="1004316" y="0"/>
                </a:lnTo>
                <a:close/>
              </a:path>
            </a:pathLst>
          </a:custGeom>
          <a:solidFill>
            <a:srgbClr val="F1F1F1"/>
          </a:solidFill>
        </p:spPr>
        <p:txBody>
          <a:bodyPr wrap="square" lIns="0" tIns="0" rIns="0" bIns="0" rtlCol="0"/>
          <a:lstStyle/>
          <a:p>
            <a:endParaRPr/>
          </a:p>
        </p:txBody>
      </p:sp>
      <p:sp>
        <p:nvSpPr>
          <p:cNvPr id="14" name="object 6">
            <a:extLst>
              <a:ext uri="{FF2B5EF4-FFF2-40B4-BE49-F238E27FC236}">
                <a16:creationId xmlns:a16="http://schemas.microsoft.com/office/drawing/2014/main" id="{F0CF879C-DA2F-3FF3-4BF7-0519D1382905}"/>
              </a:ext>
            </a:extLst>
          </p:cNvPr>
          <p:cNvSpPr txBox="1"/>
          <p:nvPr/>
        </p:nvSpPr>
        <p:spPr>
          <a:xfrm>
            <a:off x="4774940" y="4827881"/>
            <a:ext cx="1635760" cy="258404"/>
          </a:xfrm>
          <a:prstGeom prst="rect">
            <a:avLst/>
          </a:prstGeom>
        </p:spPr>
        <p:txBody>
          <a:bodyPr vert="horz" wrap="square" lIns="0" tIns="12065" rIns="0" bIns="0" rtlCol="0">
            <a:spAutoFit/>
          </a:bodyPr>
          <a:lstStyle/>
          <a:p>
            <a:pPr marL="12700">
              <a:lnSpc>
                <a:spcPct val="100000"/>
              </a:lnSpc>
              <a:spcBef>
                <a:spcPts val="95"/>
              </a:spcBef>
            </a:pPr>
            <a:r>
              <a:rPr lang="fr-FR" sz="1600" spc="-5" dirty="0" err="1">
                <a:solidFill>
                  <a:srgbClr val="7E7E7E"/>
                </a:solidFill>
                <a:latin typeface="Arial MT"/>
                <a:cs typeface="Arial MT"/>
              </a:rPr>
              <a:t>Visit</a:t>
            </a:r>
            <a:r>
              <a:rPr sz="1600" spc="-45" dirty="0">
                <a:solidFill>
                  <a:srgbClr val="7E7E7E"/>
                </a:solidFill>
                <a:latin typeface="Arial MT"/>
                <a:cs typeface="Arial MT"/>
              </a:rPr>
              <a:t> </a:t>
            </a:r>
            <a:r>
              <a:rPr sz="1600" spc="-10" dirty="0">
                <a:solidFill>
                  <a:srgbClr val="7E7E7E"/>
                </a:solidFill>
                <a:latin typeface="Arial MT"/>
                <a:cs typeface="Arial MT"/>
              </a:rPr>
              <a:t>(</a:t>
            </a:r>
            <a:r>
              <a:rPr lang="fr-FR" sz="1600" spc="-10" dirty="0" err="1">
                <a:solidFill>
                  <a:srgbClr val="7E7E7E"/>
                </a:solidFill>
                <a:latin typeface="Arial MT"/>
                <a:cs typeface="Arial MT"/>
              </a:rPr>
              <a:t>week</a:t>
            </a:r>
            <a:r>
              <a:rPr sz="1600" spc="-10" dirty="0">
                <a:solidFill>
                  <a:srgbClr val="7E7E7E"/>
                </a:solidFill>
                <a:latin typeface="Arial MT"/>
                <a:cs typeface="Arial MT"/>
              </a:rPr>
              <a:t>)</a:t>
            </a:r>
            <a:endParaRPr sz="1600" dirty="0">
              <a:latin typeface="Arial MT"/>
              <a:cs typeface="Arial MT"/>
            </a:endParaRPr>
          </a:p>
        </p:txBody>
      </p:sp>
      <p:grpSp>
        <p:nvGrpSpPr>
          <p:cNvPr id="16" name="object 8">
            <a:extLst>
              <a:ext uri="{FF2B5EF4-FFF2-40B4-BE49-F238E27FC236}">
                <a16:creationId xmlns:a16="http://schemas.microsoft.com/office/drawing/2014/main" id="{D8393342-E65D-B39C-B968-34F205760389}"/>
              </a:ext>
            </a:extLst>
          </p:cNvPr>
          <p:cNvGrpSpPr/>
          <p:nvPr/>
        </p:nvGrpSpPr>
        <p:grpSpPr>
          <a:xfrm>
            <a:off x="2865876" y="2103604"/>
            <a:ext cx="5442585" cy="2463800"/>
            <a:chOff x="3113277" y="1714245"/>
            <a:chExt cx="5442585" cy="2463800"/>
          </a:xfrm>
        </p:grpSpPr>
        <p:sp>
          <p:nvSpPr>
            <p:cNvPr id="17" name="object 9">
              <a:extLst>
                <a:ext uri="{FF2B5EF4-FFF2-40B4-BE49-F238E27FC236}">
                  <a16:creationId xmlns:a16="http://schemas.microsoft.com/office/drawing/2014/main" id="{6AD0C115-34ED-D7E2-2C65-355A3790AE6F}"/>
                </a:ext>
              </a:extLst>
            </p:cNvPr>
            <p:cNvSpPr/>
            <p:nvPr/>
          </p:nvSpPr>
          <p:spPr>
            <a:xfrm>
              <a:off x="3153917" y="1724405"/>
              <a:ext cx="5391150" cy="2383790"/>
            </a:xfrm>
            <a:custGeom>
              <a:avLst/>
              <a:gdLst/>
              <a:ahLst/>
              <a:cxnLst/>
              <a:rect l="l" t="t" r="r" b="b"/>
              <a:pathLst>
                <a:path w="5391150" h="2383790">
                  <a:moveTo>
                    <a:pt x="32004" y="0"/>
                  </a:moveTo>
                  <a:lnTo>
                    <a:pt x="32004" y="2383282"/>
                  </a:lnTo>
                </a:path>
                <a:path w="5391150" h="2383790">
                  <a:moveTo>
                    <a:pt x="0" y="2380488"/>
                  </a:moveTo>
                  <a:lnTo>
                    <a:pt x="5390768" y="2380488"/>
                  </a:lnTo>
                </a:path>
              </a:pathLst>
            </a:custGeom>
            <a:ln w="19812">
              <a:solidFill>
                <a:srgbClr val="BEBEBE"/>
              </a:solidFill>
            </a:ln>
          </p:spPr>
          <p:txBody>
            <a:bodyPr wrap="square" lIns="0" tIns="0" rIns="0" bIns="0" rtlCol="0"/>
            <a:lstStyle/>
            <a:p>
              <a:endParaRPr/>
            </a:p>
          </p:txBody>
        </p:sp>
        <p:sp>
          <p:nvSpPr>
            <p:cNvPr id="18" name="object 10">
              <a:extLst>
                <a:ext uri="{FF2B5EF4-FFF2-40B4-BE49-F238E27FC236}">
                  <a16:creationId xmlns:a16="http://schemas.microsoft.com/office/drawing/2014/main" id="{DC14305D-71D1-0EAC-DB1A-96E1718E4976}"/>
                </a:ext>
              </a:extLst>
            </p:cNvPr>
            <p:cNvSpPr/>
            <p:nvPr/>
          </p:nvSpPr>
          <p:spPr>
            <a:xfrm>
              <a:off x="3123437" y="1776221"/>
              <a:ext cx="67945" cy="2268220"/>
            </a:xfrm>
            <a:custGeom>
              <a:avLst/>
              <a:gdLst/>
              <a:ahLst/>
              <a:cxnLst/>
              <a:rect l="l" t="t" r="r" b="b"/>
              <a:pathLst>
                <a:path w="67944" h="2268220">
                  <a:moveTo>
                    <a:pt x="0" y="2267711"/>
                  </a:moveTo>
                  <a:lnTo>
                    <a:pt x="67437" y="2267711"/>
                  </a:lnTo>
                </a:path>
                <a:path w="67944" h="2268220">
                  <a:moveTo>
                    <a:pt x="0" y="1889759"/>
                  </a:moveTo>
                  <a:lnTo>
                    <a:pt x="67437" y="1889759"/>
                  </a:lnTo>
                </a:path>
                <a:path w="67944" h="2268220">
                  <a:moveTo>
                    <a:pt x="0" y="1511807"/>
                  </a:moveTo>
                  <a:lnTo>
                    <a:pt x="67437" y="1511807"/>
                  </a:lnTo>
                </a:path>
                <a:path w="67944" h="2268220">
                  <a:moveTo>
                    <a:pt x="0" y="1133855"/>
                  </a:moveTo>
                  <a:lnTo>
                    <a:pt x="67437" y="1133855"/>
                  </a:lnTo>
                </a:path>
                <a:path w="67944" h="2268220">
                  <a:moveTo>
                    <a:pt x="0" y="755903"/>
                  </a:moveTo>
                  <a:lnTo>
                    <a:pt x="67437" y="755903"/>
                  </a:lnTo>
                </a:path>
                <a:path w="67944" h="2268220">
                  <a:moveTo>
                    <a:pt x="0" y="377951"/>
                  </a:moveTo>
                  <a:lnTo>
                    <a:pt x="67437" y="377951"/>
                  </a:lnTo>
                </a:path>
                <a:path w="67944" h="2268220">
                  <a:moveTo>
                    <a:pt x="0" y="0"/>
                  </a:moveTo>
                  <a:lnTo>
                    <a:pt x="67437" y="0"/>
                  </a:lnTo>
                </a:path>
              </a:pathLst>
            </a:custGeom>
            <a:ln w="19812">
              <a:solidFill>
                <a:srgbClr val="6657A6"/>
              </a:solidFill>
            </a:ln>
          </p:spPr>
          <p:txBody>
            <a:bodyPr wrap="square" lIns="0" tIns="0" rIns="0" bIns="0" rtlCol="0"/>
            <a:lstStyle/>
            <a:p>
              <a:endParaRPr/>
            </a:p>
          </p:txBody>
        </p:sp>
        <p:sp>
          <p:nvSpPr>
            <p:cNvPr id="19" name="object 11">
              <a:extLst>
                <a:ext uri="{FF2B5EF4-FFF2-40B4-BE49-F238E27FC236}">
                  <a16:creationId xmlns:a16="http://schemas.microsoft.com/office/drawing/2014/main" id="{AC7FA501-A4AF-F75D-DA9F-A1F33BFB457A}"/>
                </a:ext>
              </a:extLst>
            </p:cNvPr>
            <p:cNvSpPr/>
            <p:nvPr/>
          </p:nvSpPr>
          <p:spPr>
            <a:xfrm>
              <a:off x="3440429" y="4100322"/>
              <a:ext cx="4840605" cy="67945"/>
            </a:xfrm>
            <a:custGeom>
              <a:avLst/>
              <a:gdLst/>
              <a:ahLst/>
              <a:cxnLst/>
              <a:rect l="l" t="t" r="r" b="b"/>
              <a:pathLst>
                <a:path w="4840605" h="67945">
                  <a:moveTo>
                    <a:pt x="0" y="0"/>
                  </a:moveTo>
                  <a:lnTo>
                    <a:pt x="0" y="67436"/>
                  </a:lnTo>
                </a:path>
                <a:path w="4840605" h="67945">
                  <a:moveTo>
                    <a:pt x="431292" y="0"/>
                  </a:moveTo>
                  <a:lnTo>
                    <a:pt x="431292" y="67436"/>
                  </a:lnTo>
                </a:path>
                <a:path w="4840605" h="67945">
                  <a:moveTo>
                    <a:pt x="2193036" y="0"/>
                  </a:moveTo>
                  <a:lnTo>
                    <a:pt x="2193036" y="67436"/>
                  </a:lnTo>
                </a:path>
                <a:path w="4840605" h="67945">
                  <a:moveTo>
                    <a:pt x="4840224" y="0"/>
                  </a:moveTo>
                  <a:lnTo>
                    <a:pt x="4840224" y="67436"/>
                  </a:lnTo>
                </a:path>
              </a:pathLst>
            </a:custGeom>
            <a:ln w="19812">
              <a:solidFill>
                <a:srgbClr val="6657A6"/>
              </a:solidFill>
            </a:ln>
          </p:spPr>
          <p:txBody>
            <a:bodyPr wrap="square" lIns="0" tIns="0" rIns="0" bIns="0" rtlCol="0"/>
            <a:lstStyle/>
            <a:p>
              <a:endParaRPr/>
            </a:p>
          </p:txBody>
        </p:sp>
        <p:sp>
          <p:nvSpPr>
            <p:cNvPr id="20" name="object 12">
              <a:extLst>
                <a:ext uri="{FF2B5EF4-FFF2-40B4-BE49-F238E27FC236}">
                  <a16:creationId xmlns:a16="http://schemas.microsoft.com/office/drawing/2014/main" id="{6E32A744-7453-7915-4B9D-AAABF32B26B2}"/>
                </a:ext>
              </a:extLst>
            </p:cNvPr>
            <p:cNvSpPr/>
            <p:nvPr/>
          </p:nvSpPr>
          <p:spPr>
            <a:xfrm>
              <a:off x="3185921" y="3288029"/>
              <a:ext cx="5359400" cy="0"/>
            </a:xfrm>
            <a:custGeom>
              <a:avLst/>
              <a:gdLst/>
              <a:ahLst/>
              <a:cxnLst/>
              <a:rect l="l" t="t" r="r" b="b"/>
              <a:pathLst>
                <a:path w="5359400">
                  <a:moveTo>
                    <a:pt x="0" y="0"/>
                  </a:moveTo>
                  <a:lnTo>
                    <a:pt x="5359400" y="0"/>
                  </a:lnTo>
                </a:path>
              </a:pathLst>
            </a:custGeom>
            <a:ln w="19812">
              <a:solidFill>
                <a:srgbClr val="F36633"/>
              </a:solidFill>
              <a:prstDash val="sysDash"/>
            </a:ln>
          </p:spPr>
          <p:txBody>
            <a:bodyPr wrap="square" lIns="0" tIns="0" rIns="0" bIns="0" rtlCol="0"/>
            <a:lstStyle/>
            <a:p>
              <a:endParaRPr/>
            </a:p>
          </p:txBody>
        </p:sp>
        <p:pic>
          <p:nvPicPr>
            <p:cNvPr id="21" name="object 13">
              <a:extLst>
                <a:ext uri="{FF2B5EF4-FFF2-40B4-BE49-F238E27FC236}">
                  <a16:creationId xmlns:a16="http://schemas.microsoft.com/office/drawing/2014/main" id="{52630D73-5CD7-A224-38C2-0820EE49B99E}"/>
                </a:ext>
              </a:extLst>
            </p:cNvPr>
            <p:cNvPicPr/>
            <p:nvPr/>
          </p:nvPicPr>
          <p:blipFill>
            <a:blip r:embed="rId3" cstate="print"/>
            <a:stretch>
              <a:fillRect/>
            </a:stretch>
          </p:blipFill>
          <p:spPr>
            <a:xfrm>
              <a:off x="8240268" y="3471672"/>
              <a:ext cx="94487" cy="74675"/>
            </a:xfrm>
            <a:prstGeom prst="rect">
              <a:avLst/>
            </a:prstGeom>
          </p:spPr>
        </p:pic>
        <p:sp>
          <p:nvSpPr>
            <p:cNvPr id="22" name="object 14">
              <a:extLst>
                <a:ext uri="{FF2B5EF4-FFF2-40B4-BE49-F238E27FC236}">
                  <a16:creationId xmlns:a16="http://schemas.microsoft.com/office/drawing/2014/main" id="{F41C052B-4D89-370B-D6DB-0FA7D22F0D01}"/>
                </a:ext>
              </a:extLst>
            </p:cNvPr>
            <p:cNvSpPr/>
            <p:nvPr/>
          </p:nvSpPr>
          <p:spPr>
            <a:xfrm>
              <a:off x="8288274" y="3382517"/>
              <a:ext cx="0" cy="255270"/>
            </a:xfrm>
            <a:custGeom>
              <a:avLst/>
              <a:gdLst/>
              <a:ahLst/>
              <a:cxnLst/>
              <a:rect l="l" t="t" r="r" b="b"/>
              <a:pathLst>
                <a:path h="255270">
                  <a:moveTo>
                    <a:pt x="0" y="0"/>
                  </a:moveTo>
                  <a:lnTo>
                    <a:pt x="0" y="254762"/>
                  </a:lnTo>
                </a:path>
              </a:pathLst>
            </a:custGeom>
            <a:ln w="19812">
              <a:solidFill>
                <a:srgbClr val="00AFEF"/>
              </a:solidFill>
            </a:ln>
          </p:spPr>
          <p:txBody>
            <a:bodyPr wrap="square" lIns="0" tIns="0" rIns="0" bIns="0" rtlCol="0"/>
            <a:lstStyle/>
            <a:p>
              <a:endParaRPr/>
            </a:p>
          </p:txBody>
        </p:sp>
        <p:sp>
          <p:nvSpPr>
            <p:cNvPr id="23" name="object 15">
              <a:extLst>
                <a:ext uri="{FF2B5EF4-FFF2-40B4-BE49-F238E27FC236}">
                  <a16:creationId xmlns:a16="http://schemas.microsoft.com/office/drawing/2014/main" id="{D89E1F89-D6B9-7851-2CBE-B1A20F8E4182}"/>
                </a:ext>
              </a:extLst>
            </p:cNvPr>
            <p:cNvSpPr/>
            <p:nvPr/>
          </p:nvSpPr>
          <p:spPr>
            <a:xfrm>
              <a:off x="8233410" y="3387089"/>
              <a:ext cx="109855" cy="250190"/>
            </a:xfrm>
            <a:custGeom>
              <a:avLst/>
              <a:gdLst/>
              <a:ahLst/>
              <a:cxnLst/>
              <a:rect l="l" t="t" r="r" b="b"/>
              <a:pathLst>
                <a:path w="109854" h="250189">
                  <a:moveTo>
                    <a:pt x="0" y="0"/>
                  </a:moveTo>
                  <a:lnTo>
                    <a:pt x="109347" y="0"/>
                  </a:lnTo>
                </a:path>
                <a:path w="109854" h="250189">
                  <a:moveTo>
                    <a:pt x="0" y="249936"/>
                  </a:moveTo>
                  <a:lnTo>
                    <a:pt x="109347" y="249936"/>
                  </a:lnTo>
                </a:path>
              </a:pathLst>
            </a:custGeom>
            <a:ln w="19812">
              <a:solidFill>
                <a:srgbClr val="00AFEF"/>
              </a:solidFill>
            </a:ln>
          </p:spPr>
          <p:txBody>
            <a:bodyPr wrap="square" lIns="0" tIns="0" rIns="0" bIns="0" rtlCol="0"/>
            <a:lstStyle/>
            <a:p>
              <a:endParaRPr/>
            </a:p>
          </p:txBody>
        </p:sp>
        <p:pic>
          <p:nvPicPr>
            <p:cNvPr id="24" name="object 16">
              <a:extLst>
                <a:ext uri="{FF2B5EF4-FFF2-40B4-BE49-F238E27FC236}">
                  <a16:creationId xmlns:a16="http://schemas.microsoft.com/office/drawing/2014/main" id="{223332FF-C278-D2E7-606F-6B86901B964E}"/>
                </a:ext>
              </a:extLst>
            </p:cNvPr>
            <p:cNvPicPr/>
            <p:nvPr/>
          </p:nvPicPr>
          <p:blipFill>
            <a:blip r:embed="rId3" cstate="print"/>
            <a:stretch>
              <a:fillRect/>
            </a:stretch>
          </p:blipFill>
          <p:spPr>
            <a:xfrm>
              <a:off x="5597651" y="3345179"/>
              <a:ext cx="94487" cy="74675"/>
            </a:xfrm>
            <a:prstGeom prst="rect">
              <a:avLst/>
            </a:prstGeom>
          </p:spPr>
        </p:pic>
        <p:sp>
          <p:nvSpPr>
            <p:cNvPr id="25" name="object 17">
              <a:extLst>
                <a:ext uri="{FF2B5EF4-FFF2-40B4-BE49-F238E27FC236}">
                  <a16:creationId xmlns:a16="http://schemas.microsoft.com/office/drawing/2014/main" id="{81F60ABC-5BDE-C65F-3C14-A9F2EA3DD3BA}"/>
                </a:ext>
              </a:extLst>
            </p:cNvPr>
            <p:cNvSpPr/>
            <p:nvPr/>
          </p:nvSpPr>
          <p:spPr>
            <a:xfrm>
              <a:off x="5644133" y="3254501"/>
              <a:ext cx="1270" cy="236854"/>
            </a:xfrm>
            <a:custGeom>
              <a:avLst/>
              <a:gdLst/>
              <a:ahLst/>
              <a:cxnLst/>
              <a:rect l="l" t="t" r="r" b="b"/>
              <a:pathLst>
                <a:path w="1270" h="236854">
                  <a:moveTo>
                    <a:pt x="1142" y="0"/>
                  </a:moveTo>
                  <a:lnTo>
                    <a:pt x="0" y="236600"/>
                  </a:lnTo>
                </a:path>
              </a:pathLst>
            </a:custGeom>
            <a:ln w="19812">
              <a:solidFill>
                <a:srgbClr val="00AFEF"/>
              </a:solidFill>
            </a:ln>
          </p:spPr>
          <p:txBody>
            <a:bodyPr wrap="square" lIns="0" tIns="0" rIns="0" bIns="0" rtlCol="0"/>
            <a:lstStyle/>
            <a:p>
              <a:endParaRPr/>
            </a:p>
          </p:txBody>
        </p:sp>
        <p:sp>
          <p:nvSpPr>
            <p:cNvPr id="27" name="object 18">
              <a:extLst>
                <a:ext uri="{FF2B5EF4-FFF2-40B4-BE49-F238E27FC236}">
                  <a16:creationId xmlns:a16="http://schemas.microsoft.com/office/drawing/2014/main" id="{2319348D-C5B6-B0D8-5DCE-A08E061368CE}"/>
                </a:ext>
              </a:extLst>
            </p:cNvPr>
            <p:cNvSpPr/>
            <p:nvPr/>
          </p:nvSpPr>
          <p:spPr>
            <a:xfrm>
              <a:off x="5587745" y="3260597"/>
              <a:ext cx="112395" cy="234950"/>
            </a:xfrm>
            <a:custGeom>
              <a:avLst/>
              <a:gdLst/>
              <a:ahLst/>
              <a:cxnLst/>
              <a:rect l="l" t="t" r="r" b="b"/>
              <a:pathLst>
                <a:path w="112395" h="234950">
                  <a:moveTo>
                    <a:pt x="3048" y="0"/>
                  </a:moveTo>
                  <a:lnTo>
                    <a:pt x="112394" y="0"/>
                  </a:lnTo>
                </a:path>
                <a:path w="112395" h="234950">
                  <a:moveTo>
                    <a:pt x="0" y="234696"/>
                  </a:moveTo>
                  <a:lnTo>
                    <a:pt x="109346" y="234696"/>
                  </a:lnTo>
                </a:path>
              </a:pathLst>
            </a:custGeom>
            <a:ln w="19812">
              <a:solidFill>
                <a:srgbClr val="00AFEF"/>
              </a:solidFill>
            </a:ln>
          </p:spPr>
          <p:txBody>
            <a:bodyPr wrap="square" lIns="0" tIns="0" rIns="0" bIns="0" rtlCol="0"/>
            <a:lstStyle/>
            <a:p>
              <a:endParaRPr/>
            </a:p>
          </p:txBody>
        </p:sp>
        <p:pic>
          <p:nvPicPr>
            <p:cNvPr id="28" name="object 19">
              <a:extLst>
                <a:ext uri="{FF2B5EF4-FFF2-40B4-BE49-F238E27FC236}">
                  <a16:creationId xmlns:a16="http://schemas.microsoft.com/office/drawing/2014/main" id="{B230EBE5-9D84-0566-F452-A8A871732B5E}"/>
                </a:ext>
              </a:extLst>
            </p:cNvPr>
            <p:cNvPicPr/>
            <p:nvPr/>
          </p:nvPicPr>
          <p:blipFill>
            <a:blip r:embed="rId3" cstate="print"/>
            <a:stretch>
              <a:fillRect/>
            </a:stretch>
          </p:blipFill>
          <p:spPr>
            <a:xfrm>
              <a:off x="3845051" y="3282695"/>
              <a:ext cx="94487" cy="74675"/>
            </a:xfrm>
            <a:prstGeom prst="rect">
              <a:avLst/>
            </a:prstGeom>
          </p:spPr>
        </p:pic>
        <p:sp>
          <p:nvSpPr>
            <p:cNvPr id="29" name="object 20">
              <a:extLst>
                <a:ext uri="{FF2B5EF4-FFF2-40B4-BE49-F238E27FC236}">
                  <a16:creationId xmlns:a16="http://schemas.microsoft.com/office/drawing/2014/main" id="{839877F2-FDCE-EA10-2454-7276CFBD1BD8}"/>
                </a:ext>
              </a:extLst>
            </p:cNvPr>
            <p:cNvSpPr/>
            <p:nvPr/>
          </p:nvSpPr>
          <p:spPr>
            <a:xfrm>
              <a:off x="3891533" y="3192017"/>
              <a:ext cx="1270" cy="236854"/>
            </a:xfrm>
            <a:custGeom>
              <a:avLst/>
              <a:gdLst/>
              <a:ahLst/>
              <a:cxnLst/>
              <a:rect l="l" t="t" r="r" b="b"/>
              <a:pathLst>
                <a:path w="1270" h="236854">
                  <a:moveTo>
                    <a:pt x="1142" y="0"/>
                  </a:moveTo>
                  <a:lnTo>
                    <a:pt x="0" y="236601"/>
                  </a:lnTo>
                </a:path>
              </a:pathLst>
            </a:custGeom>
            <a:ln w="19812">
              <a:solidFill>
                <a:srgbClr val="00AFEF"/>
              </a:solidFill>
            </a:ln>
          </p:spPr>
          <p:txBody>
            <a:bodyPr wrap="square" lIns="0" tIns="0" rIns="0" bIns="0" rtlCol="0"/>
            <a:lstStyle/>
            <a:p>
              <a:endParaRPr/>
            </a:p>
          </p:txBody>
        </p:sp>
        <p:sp>
          <p:nvSpPr>
            <p:cNvPr id="30" name="object 21">
              <a:extLst>
                <a:ext uri="{FF2B5EF4-FFF2-40B4-BE49-F238E27FC236}">
                  <a16:creationId xmlns:a16="http://schemas.microsoft.com/office/drawing/2014/main" id="{E27EB2B3-BBF8-EE03-59A5-0ACD9868D86F}"/>
                </a:ext>
              </a:extLst>
            </p:cNvPr>
            <p:cNvSpPr/>
            <p:nvPr/>
          </p:nvSpPr>
          <p:spPr>
            <a:xfrm>
              <a:off x="3835145" y="3198113"/>
              <a:ext cx="112395" cy="234950"/>
            </a:xfrm>
            <a:custGeom>
              <a:avLst/>
              <a:gdLst/>
              <a:ahLst/>
              <a:cxnLst/>
              <a:rect l="l" t="t" r="r" b="b"/>
              <a:pathLst>
                <a:path w="112395" h="234950">
                  <a:moveTo>
                    <a:pt x="3048" y="0"/>
                  </a:moveTo>
                  <a:lnTo>
                    <a:pt x="112394" y="0"/>
                  </a:lnTo>
                </a:path>
                <a:path w="112395" h="234950">
                  <a:moveTo>
                    <a:pt x="0" y="234696"/>
                  </a:moveTo>
                  <a:lnTo>
                    <a:pt x="109346" y="234696"/>
                  </a:lnTo>
                </a:path>
              </a:pathLst>
            </a:custGeom>
            <a:ln w="19812">
              <a:solidFill>
                <a:srgbClr val="00AFEF"/>
              </a:solidFill>
            </a:ln>
          </p:spPr>
          <p:txBody>
            <a:bodyPr wrap="square" lIns="0" tIns="0" rIns="0" bIns="0" rtlCol="0"/>
            <a:lstStyle/>
            <a:p>
              <a:endParaRPr/>
            </a:p>
          </p:txBody>
        </p:sp>
        <p:pic>
          <p:nvPicPr>
            <p:cNvPr id="31" name="object 22">
              <a:extLst>
                <a:ext uri="{FF2B5EF4-FFF2-40B4-BE49-F238E27FC236}">
                  <a16:creationId xmlns:a16="http://schemas.microsoft.com/office/drawing/2014/main" id="{CBED839F-4F73-AACD-6AE9-7E23F7F9904D}"/>
                </a:ext>
              </a:extLst>
            </p:cNvPr>
            <p:cNvPicPr/>
            <p:nvPr/>
          </p:nvPicPr>
          <p:blipFill>
            <a:blip r:embed="rId4" cstate="print"/>
            <a:stretch>
              <a:fillRect/>
            </a:stretch>
          </p:blipFill>
          <p:spPr>
            <a:xfrm>
              <a:off x="3393186" y="3204971"/>
              <a:ext cx="112394" cy="239648"/>
            </a:xfrm>
            <a:prstGeom prst="rect">
              <a:avLst/>
            </a:prstGeom>
          </p:spPr>
        </p:pic>
        <p:sp>
          <p:nvSpPr>
            <p:cNvPr id="32" name="object 23">
              <a:extLst>
                <a:ext uri="{FF2B5EF4-FFF2-40B4-BE49-F238E27FC236}">
                  <a16:creationId xmlns:a16="http://schemas.microsoft.com/office/drawing/2014/main" id="{4EEEC792-A222-1686-A2FB-DDE49A2F4A48}"/>
                </a:ext>
              </a:extLst>
            </p:cNvPr>
            <p:cNvSpPr/>
            <p:nvPr/>
          </p:nvSpPr>
          <p:spPr>
            <a:xfrm>
              <a:off x="3470909" y="3324605"/>
              <a:ext cx="4817745" cy="193675"/>
            </a:xfrm>
            <a:custGeom>
              <a:avLst/>
              <a:gdLst/>
              <a:ahLst/>
              <a:cxnLst/>
              <a:rect l="l" t="t" r="r" b="b"/>
              <a:pathLst>
                <a:path w="4817745" h="193675">
                  <a:moveTo>
                    <a:pt x="0" y="9525"/>
                  </a:moveTo>
                  <a:lnTo>
                    <a:pt x="416560" y="0"/>
                  </a:lnTo>
                  <a:lnTo>
                    <a:pt x="2176906" y="67818"/>
                  </a:lnTo>
                  <a:lnTo>
                    <a:pt x="4817364" y="193548"/>
                  </a:lnTo>
                </a:path>
              </a:pathLst>
            </a:custGeom>
            <a:ln w="19811">
              <a:solidFill>
                <a:srgbClr val="00AFEF"/>
              </a:solidFill>
            </a:ln>
          </p:spPr>
          <p:txBody>
            <a:bodyPr wrap="square" lIns="0" tIns="0" rIns="0" bIns="0" rtlCol="0"/>
            <a:lstStyle/>
            <a:p>
              <a:endParaRPr/>
            </a:p>
          </p:txBody>
        </p:sp>
        <p:pic>
          <p:nvPicPr>
            <p:cNvPr id="33" name="object 24">
              <a:extLst>
                <a:ext uri="{FF2B5EF4-FFF2-40B4-BE49-F238E27FC236}">
                  <a16:creationId xmlns:a16="http://schemas.microsoft.com/office/drawing/2014/main" id="{F4794EC5-D9D8-171C-6391-A9BE75634C03}"/>
                </a:ext>
              </a:extLst>
            </p:cNvPr>
            <p:cNvPicPr/>
            <p:nvPr/>
          </p:nvPicPr>
          <p:blipFill>
            <a:blip r:embed="rId5" cstate="print"/>
            <a:stretch>
              <a:fillRect/>
            </a:stretch>
          </p:blipFill>
          <p:spPr>
            <a:xfrm>
              <a:off x="3362705" y="2285999"/>
              <a:ext cx="109347" cy="238125"/>
            </a:xfrm>
            <a:prstGeom prst="rect">
              <a:avLst/>
            </a:prstGeom>
          </p:spPr>
        </p:pic>
        <p:pic>
          <p:nvPicPr>
            <p:cNvPr id="36" name="object 25">
              <a:extLst>
                <a:ext uri="{FF2B5EF4-FFF2-40B4-BE49-F238E27FC236}">
                  <a16:creationId xmlns:a16="http://schemas.microsoft.com/office/drawing/2014/main" id="{129768FE-533D-9DCB-AC68-DF476A6AF4A2}"/>
                </a:ext>
              </a:extLst>
            </p:cNvPr>
            <p:cNvPicPr/>
            <p:nvPr/>
          </p:nvPicPr>
          <p:blipFill>
            <a:blip r:embed="rId6" cstate="print"/>
            <a:stretch>
              <a:fillRect/>
            </a:stretch>
          </p:blipFill>
          <p:spPr>
            <a:xfrm>
              <a:off x="3810761" y="2130551"/>
              <a:ext cx="109347" cy="238124"/>
            </a:xfrm>
            <a:prstGeom prst="rect">
              <a:avLst/>
            </a:prstGeom>
          </p:spPr>
        </p:pic>
        <p:pic>
          <p:nvPicPr>
            <p:cNvPr id="43" name="object 26">
              <a:extLst>
                <a:ext uri="{FF2B5EF4-FFF2-40B4-BE49-F238E27FC236}">
                  <a16:creationId xmlns:a16="http://schemas.microsoft.com/office/drawing/2014/main" id="{FA0B48A1-A985-C4ED-9206-A577B9851493}"/>
                </a:ext>
              </a:extLst>
            </p:cNvPr>
            <p:cNvPicPr/>
            <p:nvPr/>
          </p:nvPicPr>
          <p:blipFill>
            <a:blip r:embed="rId7" cstate="print"/>
            <a:stretch>
              <a:fillRect/>
            </a:stretch>
          </p:blipFill>
          <p:spPr>
            <a:xfrm>
              <a:off x="5569457" y="2138171"/>
              <a:ext cx="109346" cy="242696"/>
            </a:xfrm>
            <a:prstGeom prst="rect">
              <a:avLst/>
            </a:prstGeom>
          </p:spPr>
        </p:pic>
        <p:pic>
          <p:nvPicPr>
            <p:cNvPr id="44" name="object 27">
              <a:extLst>
                <a:ext uri="{FF2B5EF4-FFF2-40B4-BE49-F238E27FC236}">
                  <a16:creationId xmlns:a16="http://schemas.microsoft.com/office/drawing/2014/main" id="{37316D21-A8B2-4459-33D8-04114A8F0318}"/>
                </a:ext>
              </a:extLst>
            </p:cNvPr>
            <p:cNvPicPr/>
            <p:nvPr/>
          </p:nvPicPr>
          <p:blipFill>
            <a:blip r:embed="rId8" cstate="print"/>
            <a:stretch>
              <a:fillRect/>
            </a:stretch>
          </p:blipFill>
          <p:spPr>
            <a:xfrm>
              <a:off x="8215122" y="2084831"/>
              <a:ext cx="109347" cy="256031"/>
            </a:xfrm>
            <a:prstGeom prst="rect">
              <a:avLst/>
            </a:prstGeom>
          </p:spPr>
        </p:pic>
        <p:sp>
          <p:nvSpPr>
            <p:cNvPr id="45" name="object 28">
              <a:extLst>
                <a:ext uri="{FF2B5EF4-FFF2-40B4-BE49-F238E27FC236}">
                  <a16:creationId xmlns:a16="http://schemas.microsoft.com/office/drawing/2014/main" id="{389413BE-7653-9AAC-2A90-40A8EB002BBA}"/>
                </a:ext>
              </a:extLst>
            </p:cNvPr>
            <p:cNvSpPr/>
            <p:nvPr/>
          </p:nvSpPr>
          <p:spPr>
            <a:xfrm>
              <a:off x="3414521" y="2225801"/>
              <a:ext cx="4851400" cy="181610"/>
            </a:xfrm>
            <a:custGeom>
              <a:avLst/>
              <a:gdLst/>
              <a:ahLst/>
              <a:cxnLst/>
              <a:rect l="l" t="t" r="r" b="b"/>
              <a:pathLst>
                <a:path w="4851400" h="181610">
                  <a:moveTo>
                    <a:pt x="0" y="181356"/>
                  </a:moveTo>
                  <a:lnTo>
                    <a:pt x="452627" y="17399"/>
                  </a:lnTo>
                  <a:lnTo>
                    <a:pt x="2215388" y="32638"/>
                  </a:lnTo>
                  <a:lnTo>
                    <a:pt x="4850892" y="0"/>
                  </a:lnTo>
                </a:path>
              </a:pathLst>
            </a:custGeom>
            <a:ln w="19812">
              <a:solidFill>
                <a:srgbClr val="69B445"/>
              </a:solidFill>
            </a:ln>
          </p:spPr>
          <p:txBody>
            <a:bodyPr wrap="square" lIns="0" tIns="0" rIns="0" bIns="0" rtlCol="0"/>
            <a:lstStyle/>
            <a:p>
              <a:endParaRPr/>
            </a:p>
          </p:txBody>
        </p:sp>
      </p:grpSp>
      <p:sp>
        <p:nvSpPr>
          <p:cNvPr id="46" name="object 29">
            <a:extLst>
              <a:ext uri="{FF2B5EF4-FFF2-40B4-BE49-F238E27FC236}">
                <a16:creationId xmlns:a16="http://schemas.microsoft.com/office/drawing/2014/main" id="{77F7DFD2-ABF5-2653-0D1A-2E4564BBDBFD}"/>
              </a:ext>
            </a:extLst>
          </p:cNvPr>
          <p:cNvSpPr txBox="1"/>
          <p:nvPr/>
        </p:nvSpPr>
        <p:spPr>
          <a:xfrm>
            <a:off x="2418837" y="2040232"/>
            <a:ext cx="323850"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7E7E7E"/>
                </a:solidFill>
                <a:latin typeface="Arial MT"/>
                <a:cs typeface="Arial MT"/>
              </a:rPr>
              <a:t>200</a:t>
            </a:r>
            <a:endParaRPr sz="1400">
              <a:latin typeface="Arial MT"/>
              <a:cs typeface="Arial MT"/>
            </a:endParaRPr>
          </a:p>
        </p:txBody>
      </p:sp>
      <p:sp>
        <p:nvSpPr>
          <p:cNvPr id="47" name="object 30">
            <a:extLst>
              <a:ext uri="{FF2B5EF4-FFF2-40B4-BE49-F238E27FC236}">
                <a16:creationId xmlns:a16="http://schemas.microsoft.com/office/drawing/2014/main" id="{2EE02BE9-EC4B-DBDB-25A3-7E0658DFE982}"/>
              </a:ext>
            </a:extLst>
          </p:cNvPr>
          <p:cNvSpPr txBox="1"/>
          <p:nvPr/>
        </p:nvSpPr>
        <p:spPr>
          <a:xfrm>
            <a:off x="2418837" y="2418184"/>
            <a:ext cx="323850"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7E7E7E"/>
                </a:solidFill>
                <a:latin typeface="Arial MT"/>
                <a:cs typeface="Arial MT"/>
              </a:rPr>
              <a:t>150</a:t>
            </a:r>
            <a:endParaRPr sz="1400">
              <a:latin typeface="Arial MT"/>
              <a:cs typeface="Arial MT"/>
            </a:endParaRPr>
          </a:p>
        </p:txBody>
      </p:sp>
      <p:sp>
        <p:nvSpPr>
          <p:cNvPr id="48" name="object 31">
            <a:extLst>
              <a:ext uri="{FF2B5EF4-FFF2-40B4-BE49-F238E27FC236}">
                <a16:creationId xmlns:a16="http://schemas.microsoft.com/office/drawing/2014/main" id="{F9D148C6-581E-D6D2-9AD3-D4DA0740BD92}"/>
              </a:ext>
            </a:extLst>
          </p:cNvPr>
          <p:cNvSpPr txBox="1"/>
          <p:nvPr/>
        </p:nvSpPr>
        <p:spPr>
          <a:xfrm>
            <a:off x="2418837" y="2796135"/>
            <a:ext cx="323850"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7E7E7E"/>
                </a:solidFill>
                <a:latin typeface="Arial MT"/>
                <a:cs typeface="Arial MT"/>
              </a:rPr>
              <a:t>100</a:t>
            </a:r>
            <a:endParaRPr sz="1400">
              <a:latin typeface="Arial MT"/>
              <a:cs typeface="Arial MT"/>
            </a:endParaRPr>
          </a:p>
        </p:txBody>
      </p:sp>
      <p:sp>
        <p:nvSpPr>
          <p:cNvPr id="49" name="object 32">
            <a:extLst>
              <a:ext uri="{FF2B5EF4-FFF2-40B4-BE49-F238E27FC236}">
                <a16:creationId xmlns:a16="http://schemas.microsoft.com/office/drawing/2014/main" id="{B23209A0-8420-40D4-C6D2-06C66707A6CC}"/>
              </a:ext>
            </a:extLst>
          </p:cNvPr>
          <p:cNvSpPr txBox="1"/>
          <p:nvPr/>
        </p:nvSpPr>
        <p:spPr>
          <a:xfrm>
            <a:off x="2517897" y="3174469"/>
            <a:ext cx="224154"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7E7E7E"/>
                </a:solidFill>
                <a:latin typeface="Arial MT"/>
                <a:cs typeface="Arial MT"/>
              </a:rPr>
              <a:t>50</a:t>
            </a:r>
            <a:endParaRPr sz="1400">
              <a:latin typeface="Arial MT"/>
              <a:cs typeface="Arial MT"/>
            </a:endParaRPr>
          </a:p>
        </p:txBody>
      </p:sp>
      <p:sp>
        <p:nvSpPr>
          <p:cNvPr id="50" name="object 33">
            <a:extLst>
              <a:ext uri="{FF2B5EF4-FFF2-40B4-BE49-F238E27FC236}">
                <a16:creationId xmlns:a16="http://schemas.microsoft.com/office/drawing/2014/main" id="{E3F1CA85-4880-C94F-FE4F-3E18202E75CD}"/>
              </a:ext>
            </a:extLst>
          </p:cNvPr>
          <p:cNvSpPr txBox="1"/>
          <p:nvPr/>
        </p:nvSpPr>
        <p:spPr>
          <a:xfrm>
            <a:off x="2617210" y="3552421"/>
            <a:ext cx="125095" cy="239395"/>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7E7E7E"/>
                </a:solidFill>
                <a:latin typeface="Arial MT"/>
                <a:cs typeface="Arial MT"/>
              </a:rPr>
              <a:t>0</a:t>
            </a:r>
            <a:endParaRPr sz="1400">
              <a:latin typeface="Arial MT"/>
              <a:cs typeface="Arial MT"/>
            </a:endParaRPr>
          </a:p>
        </p:txBody>
      </p:sp>
      <p:sp>
        <p:nvSpPr>
          <p:cNvPr id="51" name="object 34">
            <a:extLst>
              <a:ext uri="{FF2B5EF4-FFF2-40B4-BE49-F238E27FC236}">
                <a16:creationId xmlns:a16="http://schemas.microsoft.com/office/drawing/2014/main" id="{3D1C4D24-C299-A256-0138-DAC7E8321BC3}"/>
              </a:ext>
            </a:extLst>
          </p:cNvPr>
          <p:cNvSpPr txBox="1"/>
          <p:nvPr/>
        </p:nvSpPr>
        <p:spPr>
          <a:xfrm>
            <a:off x="2311775" y="3930373"/>
            <a:ext cx="431165" cy="617855"/>
          </a:xfrm>
          <a:prstGeom prst="rect">
            <a:avLst/>
          </a:prstGeom>
        </p:spPr>
        <p:txBody>
          <a:bodyPr vert="horz" wrap="square" lIns="0" tIns="13335" rIns="0" bIns="0" rtlCol="0">
            <a:spAutoFit/>
          </a:bodyPr>
          <a:lstStyle/>
          <a:p>
            <a:pPr marL="111760">
              <a:lnSpc>
                <a:spcPct val="100000"/>
              </a:lnSpc>
              <a:spcBef>
                <a:spcPts val="105"/>
              </a:spcBef>
            </a:pPr>
            <a:r>
              <a:rPr sz="1400" dirty="0">
                <a:solidFill>
                  <a:srgbClr val="7E7E7E"/>
                </a:solidFill>
                <a:latin typeface="Arial MT"/>
                <a:cs typeface="Arial MT"/>
              </a:rPr>
              <a:t>-</a:t>
            </a:r>
            <a:r>
              <a:rPr sz="1400" spc="-5" dirty="0">
                <a:solidFill>
                  <a:srgbClr val="7E7E7E"/>
                </a:solidFill>
                <a:latin typeface="Arial MT"/>
                <a:cs typeface="Arial MT"/>
              </a:rPr>
              <a:t> 50</a:t>
            </a:r>
            <a:endParaRPr sz="1400">
              <a:latin typeface="Arial MT"/>
              <a:cs typeface="Arial MT"/>
            </a:endParaRPr>
          </a:p>
          <a:p>
            <a:pPr marL="12700">
              <a:lnSpc>
                <a:spcPct val="100000"/>
              </a:lnSpc>
              <a:spcBef>
                <a:spcPts val="1295"/>
              </a:spcBef>
            </a:pPr>
            <a:r>
              <a:rPr sz="1400" dirty="0">
                <a:solidFill>
                  <a:srgbClr val="7E7E7E"/>
                </a:solidFill>
                <a:latin typeface="Arial MT"/>
                <a:cs typeface="Arial MT"/>
              </a:rPr>
              <a:t>-</a:t>
            </a:r>
            <a:r>
              <a:rPr sz="1400" spc="-5" dirty="0">
                <a:solidFill>
                  <a:srgbClr val="7E7E7E"/>
                </a:solidFill>
                <a:latin typeface="Arial MT"/>
                <a:cs typeface="Arial MT"/>
              </a:rPr>
              <a:t> 100</a:t>
            </a:r>
            <a:endParaRPr sz="1400">
              <a:latin typeface="Arial MT"/>
              <a:cs typeface="Arial MT"/>
            </a:endParaRPr>
          </a:p>
        </p:txBody>
      </p:sp>
      <p:sp>
        <p:nvSpPr>
          <p:cNvPr id="52" name="object 35">
            <a:extLst>
              <a:ext uri="{FF2B5EF4-FFF2-40B4-BE49-F238E27FC236}">
                <a16:creationId xmlns:a16="http://schemas.microsoft.com/office/drawing/2014/main" id="{A9508C25-5DCA-EC76-87EE-629A06533716}"/>
              </a:ext>
            </a:extLst>
          </p:cNvPr>
          <p:cNvSpPr txBox="1"/>
          <p:nvPr/>
        </p:nvSpPr>
        <p:spPr>
          <a:xfrm>
            <a:off x="3130164" y="4545687"/>
            <a:ext cx="12509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7E7E7E"/>
                </a:solidFill>
                <a:latin typeface="Arial MT"/>
                <a:cs typeface="Arial MT"/>
              </a:rPr>
              <a:t>2</a:t>
            </a:r>
            <a:endParaRPr sz="1400">
              <a:latin typeface="Arial MT"/>
              <a:cs typeface="Arial MT"/>
            </a:endParaRPr>
          </a:p>
        </p:txBody>
      </p:sp>
      <p:sp>
        <p:nvSpPr>
          <p:cNvPr id="53" name="object 36">
            <a:extLst>
              <a:ext uri="{FF2B5EF4-FFF2-40B4-BE49-F238E27FC236}">
                <a16:creationId xmlns:a16="http://schemas.microsoft.com/office/drawing/2014/main" id="{C0F12F69-A535-E756-8931-62A5D49AE8B0}"/>
              </a:ext>
            </a:extLst>
          </p:cNvPr>
          <p:cNvSpPr txBox="1"/>
          <p:nvPr/>
        </p:nvSpPr>
        <p:spPr>
          <a:xfrm>
            <a:off x="3561456" y="4532861"/>
            <a:ext cx="125095"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7E7E7E"/>
                </a:solidFill>
                <a:latin typeface="Arial MT"/>
                <a:cs typeface="Arial MT"/>
              </a:rPr>
              <a:t>4</a:t>
            </a:r>
            <a:endParaRPr sz="1400">
              <a:latin typeface="Arial MT"/>
              <a:cs typeface="Arial MT"/>
            </a:endParaRPr>
          </a:p>
        </p:txBody>
      </p:sp>
      <p:sp>
        <p:nvSpPr>
          <p:cNvPr id="54" name="object 37">
            <a:extLst>
              <a:ext uri="{FF2B5EF4-FFF2-40B4-BE49-F238E27FC236}">
                <a16:creationId xmlns:a16="http://schemas.microsoft.com/office/drawing/2014/main" id="{AA075485-7565-A67B-C873-441513B5EDB5}"/>
              </a:ext>
            </a:extLst>
          </p:cNvPr>
          <p:cNvSpPr txBox="1"/>
          <p:nvPr/>
        </p:nvSpPr>
        <p:spPr>
          <a:xfrm>
            <a:off x="5274813" y="4532861"/>
            <a:ext cx="223520" cy="239395"/>
          </a:xfrm>
          <a:prstGeom prst="rect">
            <a:avLst/>
          </a:prstGeom>
        </p:spPr>
        <p:txBody>
          <a:bodyPr vert="horz" wrap="square" lIns="0" tIns="12700" rIns="0" bIns="0" rtlCol="0">
            <a:spAutoFit/>
          </a:bodyPr>
          <a:lstStyle/>
          <a:p>
            <a:pPr marL="12700">
              <a:lnSpc>
                <a:spcPct val="100000"/>
              </a:lnSpc>
              <a:spcBef>
                <a:spcPts val="100"/>
              </a:spcBef>
            </a:pPr>
            <a:r>
              <a:rPr sz="1400" spc="-5" dirty="0">
                <a:solidFill>
                  <a:srgbClr val="7E7E7E"/>
                </a:solidFill>
                <a:latin typeface="Arial MT"/>
                <a:cs typeface="Arial MT"/>
              </a:rPr>
              <a:t>12</a:t>
            </a:r>
            <a:endParaRPr sz="1400">
              <a:latin typeface="Arial MT"/>
              <a:cs typeface="Arial MT"/>
            </a:endParaRPr>
          </a:p>
        </p:txBody>
      </p:sp>
      <p:sp>
        <p:nvSpPr>
          <p:cNvPr id="55" name="object 38">
            <a:extLst>
              <a:ext uri="{FF2B5EF4-FFF2-40B4-BE49-F238E27FC236}">
                <a16:creationId xmlns:a16="http://schemas.microsoft.com/office/drawing/2014/main" id="{9ACA5C57-9239-B852-1BF3-EE34C7436D4E}"/>
              </a:ext>
            </a:extLst>
          </p:cNvPr>
          <p:cNvSpPr txBox="1"/>
          <p:nvPr/>
        </p:nvSpPr>
        <p:spPr>
          <a:xfrm>
            <a:off x="7906380" y="4543224"/>
            <a:ext cx="224154" cy="240029"/>
          </a:xfrm>
          <a:prstGeom prst="rect">
            <a:avLst/>
          </a:prstGeom>
        </p:spPr>
        <p:txBody>
          <a:bodyPr vert="horz" wrap="square" lIns="0" tIns="13335" rIns="0" bIns="0" rtlCol="0">
            <a:spAutoFit/>
          </a:bodyPr>
          <a:lstStyle/>
          <a:p>
            <a:pPr marL="12700">
              <a:lnSpc>
                <a:spcPct val="100000"/>
              </a:lnSpc>
              <a:spcBef>
                <a:spcPts val="105"/>
              </a:spcBef>
            </a:pPr>
            <a:r>
              <a:rPr sz="1400" dirty="0">
                <a:solidFill>
                  <a:srgbClr val="7E7E7E"/>
                </a:solidFill>
                <a:latin typeface="Arial MT"/>
                <a:cs typeface="Arial MT"/>
              </a:rPr>
              <a:t>24</a:t>
            </a:r>
            <a:endParaRPr sz="1400">
              <a:latin typeface="Arial MT"/>
              <a:cs typeface="Arial MT"/>
            </a:endParaRPr>
          </a:p>
        </p:txBody>
      </p:sp>
      <p:sp>
        <p:nvSpPr>
          <p:cNvPr id="56" name="object 43">
            <a:extLst>
              <a:ext uri="{FF2B5EF4-FFF2-40B4-BE49-F238E27FC236}">
                <a16:creationId xmlns:a16="http://schemas.microsoft.com/office/drawing/2014/main" id="{BAC6A206-A031-5290-1CF0-0316835044DC}"/>
              </a:ext>
            </a:extLst>
          </p:cNvPr>
          <p:cNvSpPr txBox="1"/>
          <p:nvPr/>
        </p:nvSpPr>
        <p:spPr>
          <a:xfrm>
            <a:off x="8483340" y="2549246"/>
            <a:ext cx="1649095" cy="1160145"/>
          </a:xfrm>
          <a:prstGeom prst="rect">
            <a:avLst/>
          </a:prstGeom>
        </p:spPr>
        <p:txBody>
          <a:bodyPr vert="horz" wrap="square" lIns="0" tIns="126364" rIns="0" bIns="0" rtlCol="0">
            <a:spAutoFit/>
          </a:bodyPr>
          <a:lstStyle/>
          <a:p>
            <a:pPr marL="12700">
              <a:lnSpc>
                <a:spcPct val="100000"/>
              </a:lnSpc>
              <a:spcBef>
                <a:spcPts val="994"/>
              </a:spcBef>
            </a:pPr>
            <a:r>
              <a:rPr sz="2400" spc="-800" dirty="0">
                <a:solidFill>
                  <a:srgbClr val="F36633"/>
                </a:solidFill>
                <a:latin typeface="Arial MT"/>
                <a:cs typeface="Arial MT"/>
              </a:rPr>
              <a:t>Δ</a:t>
            </a:r>
            <a:r>
              <a:rPr sz="2400" spc="-150" dirty="0">
                <a:solidFill>
                  <a:srgbClr val="F36633"/>
                </a:solidFill>
                <a:latin typeface="Arial MT"/>
                <a:cs typeface="Arial MT"/>
              </a:rPr>
              <a:t> </a:t>
            </a:r>
            <a:r>
              <a:rPr lang="fr-FR" sz="2400" spc="-150" dirty="0">
                <a:solidFill>
                  <a:srgbClr val="F36633"/>
                </a:solidFill>
                <a:latin typeface="Arial MT"/>
                <a:cs typeface="Arial MT"/>
              </a:rPr>
              <a:t> </a:t>
            </a:r>
            <a:r>
              <a:rPr sz="3600" spc="-5" dirty="0">
                <a:solidFill>
                  <a:srgbClr val="F36633"/>
                </a:solidFill>
                <a:latin typeface="Arial MT"/>
                <a:cs typeface="Arial MT"/>
              </a:rPr>
              <a:t>+17</a:t>
            </a:r>
            <a:r>
              <a:rPr sz="3600" dirty="0">
                <a:solidFill>
                  <a:srgbClr val="F36633"/>
                </a:solidFill>
                <a:latin typeface="Arial MT"/>
                <a:cs typeface="Arial MT"/>
              </a:rPr>
              <a:t>1</a:t>
            </a:r>
            <a:r>
              <a:rPr sz="2400" spc="-5" dirty="0">
                <a:solidFill>
                  <a:srgbClr val="F36633"/>
                </a:solidFill>
                <a:latin typeface="Arial MT"/>
                <a:cs typeface="Arial MT"/>
              </a:rPr>
              <a:t>ml</a:t>
            </a:r>
            <a:endParaRPr sz="2400" dirty="0">
              <a:latin typeface="Arial MT"/>
              <a:cs typeface="Arial MT"/>
            </a:endParaRPr>
          </a:p>
          <a:p>
            <a:pPr marL="561340" marR="15875" indent="-416559">
              <a:lnSpc>
                <a:spcPct val="100000"/>
              </a:lnSpc>
              <a:spcBef>
                <a:spcPts val="355"/>
              </a:spcBef>
            </a:pPr>
            <a:r>
              <a:rPr sz="1400" dirty="0">
                <a:solidFill>
                  <a:srgbClr val="7E7E7E"/>
                </a:solidFill>
                <a:latin typeface="Arial MT"/>
                <a:cs typeface="Arial MT"/>
              </a:rPr>
              <a:t>(95%</a:t>
            </a:r>
            <a:r>
              <a:rPr sz="1400" spc="-45" dirty="0">
                <a:solidFill>
                  <a:srgbClr val="7E7E7E"/>
                </a:solidFill>
                <a:latin typeface="Arial MT"/>
                <a:cs typeface="Arial MT"/>
              </a:rPr>
              <a:t> </a:t>
            </a:r>
            <a:r>
              <a:rPr lang="fr-FR" sz="1400" spc="-45" dirty="0">
                <a:solidFill>
                  <a:srgbClr val="7E7E7E"/>
                </a:solidFill>
                <a:latin typeface="Arial MT"/>
                <a:cs typeface="Arial MT"/>
              </a:rPr>
              <a:t>CI</a:t>
            </a:r>
            <a:r>
              <a:rPr sz="1400" dirty="0">
                <a:solidFill>
                  <a:srgbClr val="7E7E7E"/>
                </a:solidFill>
                <a:latin typeface="Arial MT"/>
                <a:cs typeface="Arial MT"/>
              </a:rPr>
              <a:t>:</a:t>
            </a:r>
            <a:r>
              <a:rPr sz="1400" spc="-40" dirty="0">
                <a:solidFill>
                  <a:srgbClr val="7E7E7E"/>
                </a:solidFill>
                <a:latin typeface="Arial MT"/>
                <a:cs typeface="Arial MT"/>
              </a:rPr>
              <a:t> </a:t>
            </a:r>
            <a:r>
              <a:rPr sz="1400" dirty="0">
                <a:solidFill>
                  <a:srgbClr val="7E7E7E"/>
                </a:solidFill>
                <a:latin typeface="Arial MT"/>
                <a:cs typeface="Arial MT"/>
              </a:rPr>
              <a:t>148,</a:t>
            </a:r>
            <a:r>
              <a:rPr sz="1400" spc="-50" dirty="0">
                <a:solidFill>
                  <a:srgbClr val="7E7E7E"/>
                </a:solidFill>
                <a:latin typeface="Arial MT"/>
                <a:cs typeface="Arial MT"/>
              </a:rPr>
              <a:t> </a:t>
            </a:r>
            <a:r>
              <a:rPr sz="1400" dirty="0">
                <a:solidFill>
                  <a:srgbClr val="7E7E7E"/>
                </a:solidFill>
                <a:latin typeface="Arial MT"/>
                <a:cs typeface="Arial MT"/>
              </a:rPr>
              <a:t>194) </a:t>
            </a:r>
            <a:r>
              <a:rPr sz="1400" spc="-375" dirty="0">
                <a:solidFill>
                  <a:srgbClr val="7E7E7E"/>
                </a:solidFill>
                <a:latin typeface="Arial MT"/>
                <a:cs typeface="Arial MT"/>
              </a:rPr>
              <a:t> </a:t>
            </a:r>
            <a:r>
              <a:rPr sz="1400" dirty="0">
                <a:solidFill>
                  <a:srgbClr val="7E7E7E"/>
                </a:solidFill>
                <a:latin typeface="Arial MT"/>
                <a:cs typeface="Arial MT"/>
              </a:rPr>
              <a:t>p&lt;0.001</a:t>
            </a:r>
            <a:endParaRPr sz="1400" dirty="0">
              <a:latin typeface="Arial MT"/>
              <a:cs typeface="Arial MT"/>
            </a:endParaRPr>
          </a:p>
        </p:txBody>
      </p:sp>
      <p:sp>
        <p:nvSpPr>
          <p:cNvPr id="62" name="ZoneTexte 61">
            <a:extLst>
              <a:ext uri="{FF2B5EF4-FFF2-40B4-BE49-F238E27FC236}">
                <a16:creationId xmlns:a16="http://schemas.microsoft.com/office/drawing/2014/main" id="{E232E902-CB65-39F9-7C89-A0FF0B1DDE0E}"/>
              </a:ext>
            </a:extLst>
          </p:cNvPr>
          <p:cNvSpPr txBox="1"/>
          <p:nvPr/>
        </p:nvSpPr>
        <p:spPr>
          <a:xfrm rot="16200000">
            <a:off x="38526" y="2941616"/>
            <a:ext cx="3730971" cy="584775"/>
          </a:xfrm>
          <a:prstGeom prst="rect">
            <a:avLst/>
          </a:prstGeom>
          <a:noFill/>
        </p:spPr>
        <p:txBody>
          <a:bodyPr wrap="square">
            <a:spAutoFit/>
          </a:bodyPr>
          <a:lstStyle/>
          <a:p>
            <a:pPr algn="ctr"/>
            <a:r>
              <a:rPr lang="en-US" sz="1600" spc="-5" dirty="0">
                <a:solidFill>
                  <a:srgbClr val="7E7E7E"/>
                </a:solidFill>
                <a:latin typeface="Arial MT"/>
              </a:rPr>
              <a:t>LS mean change from baseline, mL</a:t>
            </a:r>
          </a:p>
          <a:p>
            <a:pPr algn="ctr"/>
            <a:r>
              <a:rPr lang="en-US" sz="1600" spc="-5" dirty="0">
                <a:solidFill>
                  <a:srgbClr val="7E7E7E"/>
                </a:solidFill>
                <a:latin typeface="Arial MT"/>
              </a:rPr>
              <a:t>(95% CI)</a:t>
            </a:r>
            <a:endParaRPr lang="fr-FR" sz="1600" spc="-5" dirty="0">
              <a:solidFill>
                <a:srgbClr val="7E7E7E"/>
              </a:solidFill>
              <a:latin typeface="Arial MT"/>
            </a:endParaRPr>
          </a:p>
        </p:txBody>
      </p:sp>
      <p:sp>
        <p:nvSpPr>
          <p:cNvPr id="64" name="object 40">
            <a:extLst>
              <a:ext uri="{FF2B5EF4-FFF2-40B4-BE49-F238E27FC236}">
                <a16:creationId xmlns:a16="http://schemas.microsoft.com/office/drawing/2014/main" id="{9C01E69A-B137-3030-9DD8-BC28C8698738}"/>
              </a:ext>
            </a:extLst>
          </p:cNvPr>
          <p:cNvSpPr/>
          <p:nvPr/>
        </p:nvSpPr>
        <p:spPr>
          <a:xfrm>
            <a:off x="8112415" y="2571952"/>
            <a:ext cx="118745" cy="1326515"/>
          </a:xfrm>
          <a:custGeom>
            <a:avLst/>
            <a:gdLst/>
            <a:ahLst/>
            <a:cxnLst/>
            <a:rect l="l" t="t" r="r" b="b"/>
            <a:pathLst>
              <a:path w="118745" h="1326514">
                <a:moveTo>
                  <a:pt x="42593" y="1212172"/>
                </a:moveTo>
                <a:lnTo>
                  <a:pt x="4445" y="1212341"/>
                </a:lnTo>
                <a:lnTo>
                  <a:pt x="62102" y="1326388"/>
                </a:lnTo>
                <a:lnTo>
                  <a:pt x="109137" y="1231264"/>
                </a:lnTo>
                <a:lnTo>
                  <a:pt x="42672" y="1231264"/>
                </a:lnTo>
                <a:lnTo>
                  <a:pt x="42593" y="1212172"/>
                </a:lnTo>
                <a:close/>
              </a:path>
              <a:path w="118745" h="1326514">
                <a:moveTo>
                  <a:pt x="80693" y="1212003"/>
                </a:moveTo>
                <a:lnTo>
                  <a:pt x="42593" y="1212172"/>
                </a:lnTo>
                <a:lnTo>
                  <a:pt x="42672" y="1231264"/>
                </a:lnTo>
                <a:lnTo>
                  <a:pt x="80772" y="1231011"/>
                </a:lnTo>
                <a:lnTo>
                  <a:pt x="80693" y="1212003"/>
                </a:lnTo>
                <a:close/>
              </a:path>
              <a:path w="118745" h="1326514">
                <a:moveTo>
                  <a:pt x="118745" y="1211834"/>
                </a:moveTo>
                <a:lnTo>
                  <a:pt x="80693" y="1212003"/>
                </a:lnTo>
                <a:lnTo>
                  <a:pt x="80772" y="1231011"/>
                </a:lnTo>
                <a:lnTo>
                  <a:pt x="42672" y="1231264"/>
                </a:lnTo>
                <a:lnTo>
                  <a:pt x="109137" y="1231264"/>
                </a:lnTo>
                <a:lnTo>
                  <a:pt x="118745" y="1211834"/>
                </a:lnTo>
                <a:close/>
              </a:path>
              <a:path w="118745" h="1326514">
                <a:moveTo>
                  <a:pt x="76151" y="114215"/>
                </a:moveTo>
                <a:lnTo>
                  <a:pt x="38051" y="114384"/>
                </a:lnTo>
                <a:lnTo>
                  <a:pt x="42593" y="1212172"/>
                </a:lnTo>
                <a:lnTo>
                  <a:pt x="80693" y="1212003"/>
                </a:lnTo>
                <a:lnTo>
                  <a:pt x="76151" y="114215"/>
                </a:lnTo>
                <a:close/>
              </a:path>
              <a:path w="118745" h="1326514">
                <a:moveTo>
                  <a:pt x="56642" y="0"/>
                </a:moveTo>
                <a:lnTo>
                  <a:pt x="0" y="114553"/>
                </a:lnTo>
                <a:lnTo>
                  <a:pt x="38051" y="114384"/>
                </a:lnTo>
                <a:lnTo>
                  <a:pt x="37973" y="95376"/>
                </a:lnTo>
                <a:lnTo>
                  <a:pt x="104733" y="95123"/>
                </a:lnTo>
                <a:lnTo>
                  <a:pt x="56642" y="0"/>
                </a:lnTo>
                <a:close/>
              </a:path>
              <a:path w="118745" h="1326514">
                <a:moveTo>
                  <a:pt x="76073" y="95123"/>
                </a:moveTo>
                <a:lnTo>
                  <a:pt x="37973" y="95376"/>
                </a:lnTo>
                <a:lnTo>
                  <a:pt x="38051" y="114384"/>
                </a:lnTo>
                <a:lnTo>
                  <a:pt x="76151" y="114215"/>
                </a:lnTo>
                <a:lnTo>
                  <a:pt x="76073" y="95123"/>
                </a:lnTo>
                <a:close/>
              </a:path>
              <a:path w="118745" h="1326514">
                <a:moveTo>
                  <a:pt x="104733" y="95123"/>
                </a:moveTo>
                <a:lnTo>
                  <a:pt x="76073" y="95123"/>
                </a:lnTo>
                <a:lnTo>
                  <a:pt x="76151" y="114215"/>
                </a:lnTo>
                <a:lnTo>
                  <a:pt x="114300" y="114046"/>
                </a:lnTo>
                <a:lnTo>
                  <a:pt x="104733" y="95123"/>
                </a:lnTo>
                <a:close/>
              </a:path>
            </a:pathLst>
          </a:custGeom>
          <a:solidFill>
            <a:srgbClr val="F36633"/>
          </a:solidFill>
        </p:spPr>
        <p:txBody>
          <a:bodyPr wrap="square" lIns="0" tIns="0" rIns="0" bIns="0" rtlCol="0"/>
          <a:lstStyle/>
          <a:p>
            <a:endParaRPr/>
          </a:p>
        </p:txBody>
      </p:sp>
      <p:sp>
        <p:nvSpPr>
          <p:cNvPr id="65" name="object 41">
            <a:extLst>
              <a:ext uri="{FF2B5EF4-FFF2-40B4-BE49-F238E27FC236}">
                <a16:creationId xmlns:a16="http://schemas.microsoft.com/office/drawing/2014/main" id="{BA64F672-01D8-98BD-490A-874CC6D6FF4C}"/>
              </a:ext>
            </a:extLst>
          </p:cNvPr>
          <p:cNvSpPr/>
          <p:nvPr/>
        </p:nvSpPr>
        <p:spPr>
          <a:xfrm>
            <a:off x="7616296" y="1246608"/>
            <a:ext cx="951865" cy="951865"/>
          </a:xfrm>
          <a:custGeom>
            <a:avLst/>
            <a:gdLst/>
            <a:ahLst/>
            <a:cxnLst/>
            <a:rect l="l" t="t" r="r" b="b"/>
            <a:pathLst>
              <a:path w="951865" h="951864">
                <a:moveTo>
                  <a:pt x="456889" y="0"/>
                </a:moveTo>
                <a:lnTo>
                  <a:pt x="409960" y="4156"/>
                </a:lnTo>
                <a:lnTo>
                  <a:pt x="364195" y="12842"/>
                </a:lnTo>
                <a:lnTo>
                  <a:pt x="319870" y="25860"/>
                </a:lnTo>
                <a:lnTo>
                  <a:pt x="277261" y="43014"/>
                </a:lnTo>
                <a:lnTo>
                  <a:pt x="236641" y="64104"/>
                </a:lnTo>
                <a:lnTo>
                  <a:pt x="198287" y="88935"/>
                </a:lnTo>
                <a:lnTo>
                  <a:pt x="162474" y="117307"/>
                </a:lnTo>
                <a:lnTo>
                  <a:pt x="129476" y="149024"/>
                </a:lnTo>
                <a:lnTo>
                  <a:pt x="99569" y="183888"/>
                </a:lnTo>
                <a:lnTo>
                  <a:pt x="73028" y="221701"/>
                </a:lnTo>
                <a:lnTo>
                  <a:pt x="50128" y="262266"/>
                </a:lnTo>
                <a:lnTo>
                  <a:pt x="31144" y="305386"/>
                </a:lnTo>
                <a:lnTo>
                  <a:pt x="16351" y="350862"/>
                </a:lnTo>
                <a:lnTo>
                  <a:pt x="6025" y="398497"/>
                </a:lnTo>
                <a:lnTo>
                  <a:pt x="551" y="446931"/>
                </a:lnTo>
                <a:lnTo>
                  <a:pt x="0" y="494750"/>
                </a:lnTo>
                <a:lnTo>
                  <a:pt x="4173" y="541680"/>
                </a:lnTo>
                <a:lnTo>
                  <a:pt x="12873" y="587445"/>
                </a:lnTo>
                <a:lnTo>
                  <a:pt x="25904" y="631772"/>
                </a:lnTo>
                <a:lnTo>
                  <a:pt x="43068" y="674384"/>
                </a:lnTo>
                <a:lnTo>
                  <a:pt x="64167" y="715008"/>
                </a:lnTo>
                <a:lnTo>
                  <a:pt x="89004" y="753367"/>
                </a:lnTo>
                <a:lnTo>
                  <a:pt x="117382" y="789187"/>
                </a:lnTo>
                <a:lnTo>
                  <a:pt x="149102" y="822194"/>
                </a:lnTo>
                <a:lnTo>
                  <a:pt x="183969" y="852111"/>
                </a:lnTo>
                <a:lnTo>
                  <a:pt x="221784" y="878664"/>
                </a:lnTo>
                <a:lnTo>
                  <a:pt x="262351" y="901579"/>
                </a:lnTo>
                <a:lnTo>
                  <a:pt x="305471" y="920580"/>
                </a:lnTo>
                <a:lnTo>
                  <a:pt x="350947" y="935392"/>
                </a:lnTo>
                <a:lnTo>
                  <a:pt x="398582" y="945740"/>
                </a:lnTo>
                <a:lnTo>
                  <a:pt x="447016" y="951214"/>
                </a:lnTo>
                <a:lnTo>
                  <a:pt x="494835" y="951766"/>
                </a:lnTo>
                <a:lnTo>
                  <a:pt x="541764" y="947593"/>
                </a:lnTo>
                <a:lnTo>
                  <a:pt x="587529" y="938892"/>
                </a:lnTo>
                <a:lnTo>
                  <a:pt x="631853" y="925861"/>
                </a:lnTo>
                <a:lnTo>
                  <a:pt x="674463" y="908698"/>
                </a:lnTo>
                <a:lnTo>
                  <a:pt x="715082" y="887599"/>
                </a:lnTo>
                <a:lnTo>
                  <a:pt x="753436" y="862762"/>
                </a:lnTo>
                <a:lnTo>
                  <a:pt x="789250" y="834384"/>
                </a:lnTo>
                <a:lnTo>
                  <a:pt x="822248" y="802663"/>
                </a:lnTo>
                <a:lnTo>
                  <a:pt x="852155" y="767796"/>
                </a:lnTo>
                <a:lnTo>
                  <a:pt x="878696" y="729981"/>
                </a:lnTo>
                <a:lnTo>
                  <a:pt x="901596" y="689415"/>
                </a:lnTo>
                <a:lnTo>
                  <a:pt x="920580" y="646295"/>
                </a:lnTo>
                <a:lnTo>
                  <a:pt x="935372" y="600818"/>
                </a:lnTo>
                <a:lnTo>
                  <a:pt x="945698" y="553183"/>
                </a:lnTo>
                <a:lnTo>
                  <a:pt x="951174" y="504750"/>
                </a:lnTo>
                <a:lnTo>
                  <a:pt x="951729" y="456931"/>
                </a:lnTo>
                <a:lnTo>
                  <a:pt x="947562" y="410002"/>
                </a:lnTo>
                <a:lnTo>
                  <a:pt x="938868" y="364237"/>
                </a:lnTo>
                <a:lnTo>
                  <a:pt x="925845" y="319912"/>
                </a:lnTo>
                <a:lnTo>
                  <a:pt x="908689" y="277303"/>
                </a:lnTo>
                <a:lnTo>
                  <a:pt x="887598" y="236683"/>
                </a:lnTo>
                <a:lnTo>
                  <a:pt x="862767" y="198329"/>
                </a:lnTo>
                <a:lnTo>
                  <a:pt x="834395" y="162516"/>
                </a:lnTo>
                <a:lnTo>
                  <a:pt x="802677" y="129518"/>
                </a:lnTo>
                <a:lnTo>
                  <a:pt x="767811" y="99611"/>
                </a:lnTo>
                <a:lnTo>
                  <a:pt x="729993" y="73070"/>
                </a:lnTo>
                <a:lnTo>
                  <a:pt x="689420" y="50170"/>
                </a:lnTo>
                <a:lnTo>
                  <a:pt x="646289" y="31186"/>
                </a:lnTo>
                <a:lnTo>
                  <a:pt x="600797" y="16393"/>
                </a:lnTo>
                <a:lnTo>
                  <a:pt x="553141" y="6067"/>
                </a:lnTo>
                <a:lnTo>
                  <a:pt x="504708" y="571"/>
                </a:lnTo>
                <a:lnTo>
                  <a:pt x="456889" y="0"/>
                </a:lnTo>
                <a:close/>
              </a:path>
            </a:pathLst>
          </a:custGeom>
          <a:solidFill>
            <a:srgbClr val="D9D9D9"/>
          </a:solidFill>
        </p:spPr>
        <p:txBody>
          <a:bodyPr wrap="square" lIns="0" tIns="0" rIns="0" bIns="0" rtlCol="0"/>
          <a:lstStyle/>
          <a:p>
            <a:endParaRPr dirty="0"/>
          </a:p>
        </p:txBody>
      </p:sp>
      <p:sp>
        <p:nvSpPr>
          <p:cNvPr id="68" name="ZoneTexte 67">
            <a:extLst>
              <a:ext uri="{FF2B5EF4-FFF2-40B4-BE49-F238E27FC236}">
                <a16:creationId xmlns:a16="http://schemas.microsoft.com/office/drawing/2014/main" id="{304FBCF8-A02C-9ABC-D994-AFBDF5910E9C}"/>
              </a:ext>
            </a:extLst>
          </p:cNvPr>
          <p:cNvSpPr txBox="1"/>
          <p:nvPr/>
        </p:nvSpPr>
        <p:spPr>
          <a:xfrm>
            <a:off x="7659232" y="1366971"/>
            <a:ext cx="824399" cy="738664"/>
          </a:xfrm>
          <a:prstGeom prst="rect">
            <a:avLst/>
          </a:prstGeom>
          <a:noFill/>
        </p:spPr>
        <p:txBody>
          <a:bodyPr wrap="square">
            <a:spAutoFit/>
          </a:bodyPr>
          <a:lstStyle/>
          <a:p>
            <a:pPr algn="ctr"/>
            <a:r>
              <a:rPr lang="fr-FR" sz="1800" spc="-5" dirty="0">
                <a:solidFill>
                  <a:schemeClr val="bg1"/>
                </a:solidFill>
                <a:latin typeface="Arial MT"/>
                <a:cs typeface="Arial MT"/>
              </a:rPr>
              <a:t>Week </a:t>
            </a:r>
            <a:r>
              <a:rPr lang="fr-FR" sz="2400" b="1" spc="-5" dirty="0">
                <a:solidFill>
                  <a:schemeClr val="bg1"/>
                </a:solidFill>
                <a:latin typeface="Arial MT"/>
                <a:cs typeface="Arial MT"/>
              </a:rPr>
              <a:t>24</a:t>
            </a:r>
            <a:endParaRPr lang="fr-FR" b="1" dirty="0">
              <a:solidFill>
                <a:schemeClr val="bg1"/>
              </a:solidFill>
            </a:endParaRPr>
          </a:p>
        </p:txBody>
      </p:sp>
      <p:sp>
        <p:nvSpPr>
          <p:cNvPr id="4" name="object 8">
            <a:extLst>
              <a:ext uri="{FF2B5EF4-FFF2-40B4-BE49-F238E27FC236}">
                <a16:creationId xmlns:a16="http://schemas.microsoft.com/office/drawing/2014/main" id="{460940FF-6A67-F9C1-63BC-13A587CCDDB5}"/>
              </a:ext>
            </a:extLst>
          </p:cNvPr>
          <p:cNvSpPr txBox="1"/>
          <p:nvPr/>
        </p:nvSpPr>
        <p:spPr>
          <a:xfrm>
            <a:off x="3714796" y="1293708"/>
            <a:ext cx="1382774" cy="443711"/>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MT"/>
                <a:cs typeface="Arial MT"/>
              </a:rPr>
              <a:t>FF/UMEC/VI</a:t>
            </a:r>
            <a:endParaRPr sz="1400" b="1" dirty="0">
              <a:latin typeface="Arial MT"/>
              <a:cs typeface="Arial MT"/>
            </a:endParaRPr>
          </a:p>
          <a:p>
            <a:pPr marL="12700">
              <a:lnSpc>
                <a:spcPct val="100000"/>
              </a:lnSpc>
            </a:pPr>
            <a:r>
              <a:rPr sz="1400" b="1" spc="-5" dirty="0">
                <a:latin typeface="Arial MT"/>
                <a:cs typeface="Arial MT"/>
              </a:rPr>
              <a:t>100</a:t>
            </a:r>
            <a:r>
              <a:rPr sz="1400" b="1" dirty="0">
                <a:latin typeface="Arial MT"/>
                <a:cs typeface="Arial MT"/>
              </a:rPr>
              <a:t>/</a:t>
            </a:r>
            <a:r>
              <a:rPr sz="1400" b="1" spc="5" dirty="0">
                <a:latin typeface="Arial MT"/>
                <a:cs typeface="Arial MT"/>
              </a:rPr>
              <a:t>6</a:t>
            </a:r>
            <a:r>
              <a:rPr sz="1400" b="1" spc="-15" dirty="0">
                <a:latin typeface="Arial MT"/>
                <a:cs typeface="Arial MT"/>
              </a:rPr>
              <a:t>2</a:t>
            </a:r>
            <a:r>
              <a:rPr sz="1400" b="1" dirty="0">
                <a:latin typeface="Arial MT"/>
                <a:cs typeface="Arial MT"/>
              </a:rPr>
              <a:t>.</a:t>
            </a:r>
            <a:r>
              <a:rPr sz="1400" b="1" spc="-5" dirty="0">
                <a:latin typeface="Arial MT"/>
                <a:cs typeface="Arial MT"/>
              </a:rPr>
              <a:t>5</a:t>
            </a:r>
            <a:r>
              <a:rPr sz="1400" b="1" dirty="0">
                <a:latin typeface="Arial MT"/>
                <a:cs typeface="Arial MT"/>
              </a:rPr>
              <a:t>/</a:t>
            </a:r>
            <a:r>
              <a:rPr sz="1400" b="1" spc="5" dirty="0">
                <a:latin typeface="Arial MT"/>
                <a:cs typeface="Arial MT"/>
              </a:rPr>
              <a:t>2</a:t>
            </a:r>
            <a:r>
              <a:rPr sz="1400" b="1" spc="-5" dirty="0">
                <a:latin typeface="Arial MT"/>
                <a:cs typeface="Arial MT"/>
              </a:rPr>
              <a:t>5</a:t>
            </a:r>
            <a:r>
              <a:rPr sz="1400" b="1" spc="-45" dirty="0">
                <a:latin typeface="Arial MT"/>
                <a:cs typeface="Arial MT"/>
              </a:rPr>
              <a:t> </a:t>
            </a:r>
            <a:r>
              <a:rPr sz="1400" b="1" dirty="0">
                <a:latin typeface="Arial MT"/>
                <a:cs typeface="Arial MT"/>
              </a:rPr>
              <a:t>µ</a:t>
            </a:r>
            <a:r>
              <a:rPr sz="1400" b="1" spc="-5" dirty="0">
                <a:latin typeface="Arial MT"/>
                <a:cs typeface="Arial MT"/>
              </a:rPr>
              <a:t>g</a:t>
            </a:r>
            <a:endParaRPr sz="1400" b="1" dirty="0">
              <a:latin typeface="Arial MT"/>
              <a:cs typeface="Arial MT"/>
            </a:endParaRPr>
          </a:p>
        </p:txBody>
      </p:sp>
      <p:pic>
        <p:nvPicPr>
          <p:cNvPr id="5" name="object 9">
            <a:extLst>
              <a:ext uri="{FF2B5EF4-FFF2-40B4-BE49-F238E27FC236}">
                <a16:creationId xmlns:a16="http://schemas.microsoft.com/office/drawing/2014/main" id="{34C2CBAA-41C0-CA06-1FC6-425C4DB335E3}"/>
              </a:ext>
            </a:extLst>
          </p:cNvPr>
          <p:cNvPicPr/>
          <p:nvPr/>
        </p:nvPicPr>
        <p:blipFill>
          <a:blip r:embed="rId9" cstate="print"/>
          <a:stretch>
            <a:fillRect/>
          </a:stretch>
        </p:blipFill>
        <p:spPr>
          <a:xfrm>
            <a:off x="3428538" y="1353906"/>
            <a:ext cx="219203" cy="208575"/>
          </a:xfrm>
          <a:prstGeom prst="rect">
            <a:avLst/>
          </a:prstGeom>
        </p:spPr>
      </p:pic>
      <p:pic>
        <p:nvPicPr>
          <p:cNvPr id="6" name="object 10">
            <a:extLst>
              <a:ext uri="{FF2B5EF4-FFF2-40B4-BE49-F238E27FC236}">
                <a16:creationId xmlns:a16="http://schemas.microsoft.com/office/drawing/2014/main" id="{007516AE-7257-771B-06C0-1810FE3A5BF6}"/>
              </a:ext>
            </a:extLst>
          </p:cNvPr>
          <p:cNvPicPr/>
          <p:nvPr/>
        </p:nvPicPr>
        <p:blipFill>
          <a:blip r:embed="rId10" cstate="print"/>
          <a:stretch>
            <a:fillRect/>
          </a:stretch>
        </p:blipFill>
        <p:spPr>
          <a:xfrm>
            <a:off x="5088173" y="1370669"/>
            <a:ext cx="219203" cy="208575"/>
          </a:xfrm>
          <a:prstGeom prst="rect">
            <a:avLst/>
          </a:prstGeom>
        </p:spPr>
      </p:pic>
      <p:sp>
        <p:nvSpPr>
          <p:cNvPr id="7" name="object 11">
            <a:extLst>
              <a:ext uri="{FF2B5EF4-FFF2-40B4-BE49-F238E27FC236}">
                <a16:creationId xmlns:a16="http://schemas.microsoft.com/office/drawing/2014/main" id="{9358E65E-DD21-88E5-F677-6FD2B6F9383F}"/>
              </a:ext>
            </a:extLst>
          </p:cNvPr>
          <p:cNvSpPr txBox="1"/>
          <p:nvPr/>
        </p:nvSpPr>
        <p:spPr>
          <a:xfrm>
            <a:off x="5396541" y="1323201"/>
            <a:ext cx="1758892" cy="45653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MT"/>
                <a:cs typeface="Arial MT"/>
              </a:rPr>
              <a:t>BUD/FOR</a:t>
            </a:r>
            <a:r>
              <a:rPr sz="1400" b="1" spc="-45" dirty="0">
                <a:latin typeface="Arial MT"/>
                <a:cs typeface="Arial MT"/>
              </a:rPr>
              <a:t> </a:t>
            </a:r>
            <a:endParaRPr lang="fr-FR" sz="1400" b="1" spc="-45" dirty="0">
              <a:latin typeface="Arial MT"/>
              <a:cs typeface="Arial MT"/>
            </a:endParaRPr>
          </a:p>
          <a:p>
            <a:pPr marL="12700">
              <a:lnSpc>
                <a:spcPct val="100000"/>
              </a:lnSpc>
              <a:spcBef>
                <a:spcPts val="100"/>
              </a:spcBef>
            </a:pPr>
            <a:r>
              <a:rPr sz="1400" b="1" dirty="0">
                <a:latin typeface="Arial MT"/>
                <a:cs typeface="Arial MT"/>
              </a:rPr>
              <a:t>400/12</a:t>
            </a:r>
            <a:r>
              <a:rPr sz="1400" b="1" spc="-75" dirty="0">
                <a:latin typeface="Arial MT"/>
                <a:cs typeface="Arial MT"/>
              </a:rPr>
              <a:t> </a:t>
            </a:r>
            <a:r>
              <a:rPr sz="1400" b="1" spc="-5" dirty="0">
                <a:latin typeface="Arial MT"/>
                <a:cs typeface="Arial MT"/>
              </a:rPr>
              <a:t>µg</a:t>
            </a:r>
            <a:endParaRPr sz="1400" b="1" dirty="0">
              <a:latin typeface="Arial MT"/>
              <a:cs typeface="Arial MT"/>
            </a:endParaRPr>
          </a:p>
        </p:txBody>
      </p:sp>
      <p:sp>
        <p:nvSpPr>
          <p:cNvPr id="8" name="Slide Number Placeholder 4">
            <a:extLst>
              <a:ext uri="{FF2B5EF4-FFF2-40B4-BE49-F238E27FC236}">
                <a16:creationId xmlns:a16="http://schemas.microsoft.com/office/drawing/2014/main" id="{73E72925-2093-9A86-A9F1-E9E45E7E361F}"/>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10</a:t>
            </a:fld>
            <a:endParaRPr lang="en-GB" sz="1000" dirty="0">
              <a:solidFill>
                <a:srgbClr val="000000"/>
              </a:solidFill>
              <a:latin typeface="Arial"/>
              <a:cs typeface="Noto Sans"/>
            </a:endParaRPr>
          </a:p>
        </p:txBody>
      </p:sp>
    </p:spTree>
    <p:extLst>
      <p:ext uri="{BB962C8B-B14F-4D97-AF65-F5344CB8AC3E}">
        <p14:creationId xmlns:p14="http://schemas.microsoft.com/office/powerpoint/2010/main" val="2573324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2546" y="1125285"/>
            <a:ext cx="10102852" cy="338554"/>
          </a:xfrm>
        </p:spPr>
        <p:txBody>
          <a:bodyPr vert="horz" lIns="0" tIns="0" rIns="0" bIns="720000" rtlCol="0" anchor="b" anchorCtr="0">
            <a:noAutofit/>
          </a:bodyPr>
          <a:lstStyle/>
          <a:p>
            <a:r>
              <a:rPr lang="en-US" sz="2400" dirty="0"/>
              <a:t>Once-daily single-inhaler triple therapy </a:t>
            </a:r>
            <a:r>
              <a:rPr lang="en-GB" sz="2400" dirty="0"/>
              <a:t>(FF/UMEC/VI) in COPD </a:t>
            </a:r>
            <a:r>
              <a:rPr lang="en-US" sz="2400" dirty="0"/>
              <a:t>significantly improved lung function versus BD </a:t>
            </a:r>
            <a:r>
              <a:rPr lang="en-GB" sz="2400" dirty="0"/>
              <a:t>BUD/FOR</a:t>
            </a:r>
          </a:p>
        </p:txBody>
      </p:sp>
      <p:sp>
        <p:nvSpPr>
          <p:cNvPr id="3" name="object 41">
            <a:extLst>
              <a:ext uri="{FF2B5EF4-FFF2-40B4-BE49-F238E27FC236}">
                <a16:creationId xmlns:a16="http://schemas.microsoft.com/office/drawing/2014/main" id="{7CE39D4F-374D-9129-799F-E504709A7C9A}"/>
              </a:ext>
            </a:extLst>
          </p:cNvPr>
          <p:cNvSpPr/>
          <p:nvPr/>
        </p:nvSpPr>
        <p:spPr>
          <a:xfrm>
            <a:off x="7616296" y="1246608"/>
            <a:ext cx="951865" cy="951865"/>
          </a:xfrm>
          <a:custGeom>
            <a:avLst/>
            <a:gdLst/>
            <a:ahLst/>
            <a:cxnLst/>
            <a:rect l="l" t="t" r="r" b="b"/>
            <a:pathLst>
              <a:path w="951865" h="951864">
                <a:moveTo>
                  <a:pt x="456889" y="0"/>
                </a:moveTo>
                <a:lnTo>
                  <a:pt x="409960" y="4156"/>
                </a:lnTo>
                <a:lnTo>
                  <a:pt x="364195" y="12842"/>
                </a:lnTo>
                <a:lnTo>
                  <a:pt x="319870" y="25860"/>
                </a:lnTo>
                <a:lnTo>
                  <a:pt x="277261" y="43014"/>
                </a:lnTo>
                <a:lnTo>
                  <a:pt x="236641" y="64104"/>
                </a:lnTo>
                <a:lnTo>
                  <a:pt x="198287" y="88935"/>
                </a:lnTo>
                <a:lnTo>
                  <a:pt x="162474" y="117307"/>
                </a:lnTo>
                <a:lnTo>
                  <a:pt x="129476" y="149024"/>
                </a:lnTo>
                <a:lnTo>
                  <a:pt x="99569" y="183888"/>
                </a:lnTo>
                <a:lnTo>
                  <a:pt x="73028" y="221701"/>
                </a:lnTo>
                <a:lnTo>
                  <a:pt x="50128" y="262266"/>
                </a:lnTo>
                <a:lnTo>
                  <a:pt x="31144" y="305386"/>
                </a:lnTo>
                <a:lnTo>
                  <a:pt x="16351" y="350862"/>
                </a:lnTo>
                <a:lnTo>
                  <a:pt x="6025" y="398497"/>
                </a:lnTo>
                <a:lnTo>
                  <a:pt x="551" y="446931"/>
                </a:lnTo>
                <a:lnTo>
                  <a:pt x="0" y="494750"/>
                </a:lnTo>
                <a:lnTo>
                  <a:pt x="4173" y="541680"/>
                </a:lnTo>
                <a:lnTo>
                  <a:pt x="12873" y="587445"/>
                </a:lnTo>
                <a:lnTo>
                  <a:pt x="25904" y="631772"/>
                </a:lnTo>
                <a:lnTo>
                  <a:pt x="43068" y="674384"/>
                </a:lnTo>
                <a:lnTo>
                  <a:pt x="64167" y="715008"/>
                </a:lnTo>
                <a:lnTo>
                  <a:pt x="89004" y="753367"/>
                </a:lnTo>
                <a:lnTo>
                  <a:pt x="117382" y="789187"/>
                </a:lnTo>
                <a:lnTo>
                  <a:pt x="149102" y="822194"/>
                </a:lnTo>
                <a:lnTo>
                  <a:pt x="183969" y="852111"/>
                </a:lnTo>
                <a:lnTo>
                  <a:pt x="221784" y="878664"/>
                </a:lnTo>
                <a:lnTo>
                  <a:pt x="262351" y="901579"/>
                </a:lnTo>
                <a:lnTo>
                  <a:pt x="305471" y="920580"/>
                </a:lnTo>
                <a:lnTo>
                  <a:pt x="350947" y="935392"/>
                </a:lnTo>
                <a:lnTo>
                  <a:pt x="398582" y="945740"/>
                </a:lnTo>
                <a:lnTo>
                  <a:pt x="447016" y="951214"/>
                </a:lnTo>
                <a:lnTo>
                  <a:pt x="494835" y="951766"/>
                </a:lnTo>
                <a:lnTo>
                  <a:pt x="541764" y="947593"/>
                </a:lnTo>
                <a:lnTo>
                  <a:pt x="587529" y="938892"/>
                </a:lnTo>
                <a:lnTo>
                  <a:pt x="631853" y="925861"/>
                </a:lnTo>
                <a:lnTo>
                  <a:pt x="674463" y="908698"/>
                </a:lnTo>
                <a:lnTo>
                  <a:pt x="715082" y="887599"/>
                </a:lnTo>
                <a:lnTo>
                  <a:pt x="753436" y="862762"/>
                </a:lnTo>
                <a:lnTo>
                  <a:pt x="789250" y="834384"/>
                </a:lnTo>
                <a:lnTo>
                  <a:pt x="822248" y="802663"/>
                </a:lnTo>
                <a:lnTo>
                  <a:pt x="852155" y="767796"/>
                </a:lnTo>
                <a:lnTo>
                  <a:pt x="878696" y="729981"/>
                </a:lnTo>
                <a:lnTo>
                  <a:pt x="901596" y="689415"/>
                </a:lnTo>
                <a:lnTo>
                  <a:pt x="920580" y="646295"/>
                </a:lnTo>
                <a:lnTo>
                  <a:pt x="935372" y="600818"/>
                </a:lnTo>
                <a:lnTo>
                  <a:pt x="945698" y="553183"/>
                </a:lnTo>
                <a:lnTo>
                  <a:pt x="951174" y="504750"/>
                </a:lnTo>
                <a:lnTo>
                  <a:pt x="951729" y="456931"/>
                </a:lnTo>
                <a:lnTo>
                  <a:pt x="947562" y="410002"/>
                </a:lnTo>
                <a:lnTo>
                  <a:pt x="938868" y="364237"/>
                </a:lnTo>
                <a:lnTo>
                  <a:pt x="925845" y="319912"/>
                </a:lnTo>
                <a:lnTo>
                  <a:pt x="908689" y="277303"/>
                </a:lnTo>
                <a:lnTo>
                  <a:pt x="887598" y="236683"/>
                </a:lnTo>
                <a:lnTo>
                  <a:pt x="862767" y="198329"/>
                </a:lnTo>
                <a:lnTo>
                  <a:pt x="834395" y="162516"/>
                </a:lnTo>
                <a:lnTo>
                  <a:pt x="802677" y="129518"/>
                </a:lnTo>
                <a:lnTo>
                  <a:pt x="767811" y="99611"/>
                </a:lnTo>
                <a:lnTo>
                  <a:pt x="729993" y="73070"/>
                </a:lnTo>
                <a:lnTo>
                  <a:pt x="689420" y="50170"/>
                </a:lnTo>
                <a:lnTo>
                  <a:pt x="646289" y="31186"/>
                </a:lnTo>
                <a:lnTo>
                  <a:pt x="600797" y="16393"/>
                </a:lnTo>
                <a:lnTo>
                  <a:pt x="553141" y="6067"/>
                </a:lnTo>
                <a:lnTo>
                  <a:pt x="504708" y="571"/>
                </a:lnTo>
                <a:lnTo>
                  <a:pt x="456889" y="0"/>
                </a:lnTo>
                <a:close/>
              </a:path>
            </a:pathLst>
          </a:custGeom>
          <a:solidFill>
            <a:srgbClr val="D9D9D9"/>
          </a:solidFill>
        </p:spPr>
        <p:txBody>
          <a:bodyPr wrap="square" lIns="0" tIns="0" rIns="0" bIns="0" rtlCol="0"/>
          <a:lstStyle/>
          <a:p>
            <a:endParaRPr dirty="0"/>
          </a:p>
        </p:txBody>
      </p:sp>
      <p:sp>
        <p:nvSpPr>
          <p:cNvPr id="4" name="ZoneTexte 3">
            <a:extLst>
              <a:ext uri="{FF2B5EF4-FFF2-40B4-BE49-F238E27FC236}">
                <a16:creationId xmlns:a16="http://schemas.microsoft.com/office/drawing/2014/main" id="{F7D5CF93-5BAA-5F43-F812-399F1278FC2B}"/>
              </a:ext>
            </a:extLst>
          </p:cNvPr>
          <p:cNvSpPr txBox="1"/>
          <p:nvPr/>
        </p:nvSpPr>
        <p:spPr>
          <a:xfrm>
            <a:off x="7659232" y="1366971"/>
            <a:ext cx="824399" cy="738664"/>
          </a:xfrm>
          <a:prstGeom prst="rect">
            <a:avLst/>
          </a:prstGeom>
          <a:noFill/>
        </p:spPr>
        <p:txBody>
          <a:bodyPr wrap="square">
            <a:spAutoFit/>
          </a:bodyPr>
          <a:lstStyle/>
          <a:p>
            <a:pPr algn="ctr"/>
            <a:r>
              <a:rPr lang="fr-FR" sz="1800" spc="-5" dirty="0">
                <a:solidFill>
                  <a:schemeClr val="bg1"/>
                </a:solidFill>
                <a:latin typeface="Arial MT"/>
                <a:cs typeface="Arial MT"/>
              </a:rPr>
              <a:t>Week </a:t>
            </a:r>
            <a:r>
              <a:rPr lang="fr-FR" sz="2400" b="1" spc="-5" dirty="0">
                <a:solidFill>
                  <a:schemeClr val="bg1"/>
                </a:solidFill>
                <a:latin typeface="Arial MT"/>
                <a:cs typeface="Arial MT"/>
              </a:rPr>
              <a:t>52</a:t>
            </a:r>
            <a:endParaRPr lang="fr-FR" b="1" dirty="0">
              <a:solidFill>
                <a:schemeClr val="bg1"/>
              </a:solidFill>
            </a:endParaRPr>
          </a:p>
        </p:txBody>
      </p:sp>
      <p:sp>
        <p:nvSpPr>
          <p:cNvPr id="5" name="object 2">
            <a:extLst>
              <a:ext uri="{FF2B5EF4-FFF2-40B4-BE49-F238E27FC236}">
                <a16:creationId xmlns:a16="http://schemas.microsoft.com/office/drawing/2014/main" id="{51504630-9B82-AA36-C3AD-2C8D173E2CEF}"/>
              </a:ext>
            </a:extLst>
          </p:cNvPr>
          <p:cNvSpPr/>
          <p:nvPr/>
        </p:nvSpPr>
        <p:spPr>
          <a:xfrm>
            <a:off x="7920531" y="2519039"/>
            <a:ext cx="2009139" cy="2010410"/>
          </a:xfrm>
          <a:custGeom>
            <a:avLst/>
            <a:gdLst/>
            <a:ahLst/>
            <a:cxnLst/>
            <a:rect l="l" t="t" r="r" b="b"/>
            <a:pathLst>
              <a:path w="2009140" h="2010410">
                <a:moveTo>
                  <a:pt x="1004316" y="0"/>
                </a:moveTo>
                <a:lnTo>
                  <a:pt x="955660" y="1158"/>
                </a:lnTo>
                <a:lnTo>
                  <a:pt x="907602" y="4600"/>
                </a:lnTo>
                <a:lnTo>
                  <a:pt x="860194" y="10272"/>
                </a:lnTo>
                <a:lnTo>
                  <a:pt x="813488" y="18122"/>
                </a:lnTo>
                <a:lnTo>
                  <a:pt x="767538" y="28096"/>
                </a:lnTo>
                <a:lnTo>
                  <a:pt x="722394" y="40142"/>
                </a:lnTo>
                <a:lnTo>
                  <a:pt x="678112" y="54209"/>
                </a:lnTo>
                <a:lnTo>
                  <a:pt x="634742" y="70242"/>
                </a:lnTo>
                <a:lnTo>
                  <a:pt x="592337" y="88189"/>
                </a:lnTo>
                <a:lnTo>
                  <a:pt x="550951" y="107999"/>
                </a:lnTo>
                <a:lnTo>
                  <a:pt x="510636" y="129617"/>
                </a:lnTo>
                <a:lnTo>
                  <a:pt x="471444" y="152992"/>
                </a:lnTo>
                <a:lnTo>
                  <a:pt x="433428" y="178070"/>
                </a:lnTo>
                <a:lnTo>
                  <a:pt x="396641" y="204800"/>
                </a:lnTo>
                <a:lnTo>
                  <a:pt x="361136" y="233128"/>
                </a:lnTo>
                <a:lnTo>
                  <a:pt x="326964" y="263002"/>
                </a:lnTo>
                <a:lnTo>
                  <a:pt x="294179" y="294370"/>
                </a:lnTo>
                <a:lnTo>
                  <a:pt x="262834" y="327178"/>
                </a:lnTo>
                <a:lnTo>
                  <a:pt x="232980" y="361374"/>
                </a:lnTo>
                <a:lnTo>
                  <a:pt x="204671" y="396905"/>
                </a:lnTo>
                <a:lnTo>
                  <a:pt x="177959" y="433719"/>
                </a:lnTo>
                <a:lnTo>
                  <a:pt x="152897" y="471763"/>
                </a:lnTo>
                <a:lnTo>
                  <a:pt x="129537" y="510984"/>
                </a:lnTo>
                <a:lnTo>
                  <a:pt x="107933" y="551331"/>
                </a:lnTo>
                <a:lnTo>
                  <a:pt x="88136" y="592749"/>
                </a:lnTo>
                <a:lnTo>
                  <a:pt x="70200" y="635187"/>
                </a:lnTo>
                <a:lnTo>
                  <a:pt x="54176" y="678592"/>
                </a:lnTo>
                <a:lnTo>
                  <a:pt x="40119" y="722911"/>
                </a:lnTo>
                <a:lnTo>
                  <a:pt x="28079" y="768092"/>
                </a:lnTo>
                <a:lnTo>
                  <a:pt x="18111" y="814082"/>
                </a:lnTo>
                <a:lnTo>
                  <a:pt x="10266" y="860828"/>
                </a:lnTo>
                <a:lnTo>
                  <a:pt x="4598" y="908277"/>
                </a:lnTo>
                <a:lnTo>
                  <a:pt x="1158" y="956378"/>
                </a:lnTo>
                <a:lnTo>
                  <a:pt x="0" y="1005077"/>
                </a:lnTo>
                <a:lnTo>
                  <a:pt x="1158" y="1053777"/>
                </a:lnTo>
                <a:lnTo>
                  <a:pt x="4598" y="1101878"/>
                </a:lnTo>
                <a:lnTo>
                  <a:pt x="10266" y="1149327"/>
                </a:lnTo>
                <a:lnTo>
                  <a:pt x="18111" y="1196073"/>
                </a:lnTo>
                <a:lnTo>
                  <a:pt x="28079" y="1242063"/>
                </a:lnTo>
                <a:lnTo>
                  <a:pt x="40119" y="1287244"/>
                </a:lnTo>
                <a:lnTo>
                  <a:pt x="54176" y="1331563"/>
                </a:lnTo>
                <a:lnTo>
                  <a:pt x="70200" y="1374968"/>
                </a:lnTo>
                <a:lnTo>
                  <a:pt x="88136" y="1417406"/>
                </a:lnTo>
                <a:lnTo>
                  <a:pt x="107933" y="1458824"/>
                </a:lnTo>
                <a:lnTo>
                  <a:pt x="129537" y="1499171"/>
                </a:lnTo>
                <a:lnTo>
                  <a:pt x="152897" y="1538392"/>
                </a:lnTo>
                <a:lnTo>
                  <a:pt x="177959" y="1576436"/>
                </a:lnTo>
                <a:lnTo>
                  <a:pt x="204671" y="1613250"/>
                </a:lnTo>
                <a:lnTo>
                  <a:pt x="232980" y="1648781"/>
                </a:lnTo>
                <a:lnTo>
                  <a:pt x="262834" y="1682977"/>
                </a:lnTo>
                <a:lnTo>
                  <a:pt x="294179" y="1715785"/>
                </a:lnTo>
                <a:lnTo>
                  <a:pt x="326964" y="1747153"/>
                </a:lnTo>
                <a:lnTo>
                  <a:pt x="361136" y="1777027"/>
                </a:lnTo>
                <a:lnTo>
                  <a:pt x="396641" y="1805355"/>
                </a:lnTo>
                <a:lnTo>
                  <a:pt x="433428" y="1832085"/>
                </a:lnTo>
                <a:lnTo>
                  <a:pt x="471444" y="1857163"/>
                </a:lnTo>
                <a:lnTo>
                  <a:pt x="510636" y="1880538"/>
                </a:lnTo>
                <a:lnTo>
                  <a:pt x="550951" y="1902156"/>
                </a:lnTo>
                <a:lnTo>
                  <a:pt x="592337" y="1921966"/>
                </a:lnTo>
                <a:lnTo>
                  <a:pt x="634742" y="1939913"/>
                </a:lnTo>
                <a:lnTo>
                  <a:pt x="678112" y="1955946"/>
                </a:lnTo>
                <a:lnTo>
                  <a:pt x="722394" y="1970013"/>
                </a:lnTo>
                <a:lnTo>
                  <a:pt x="767538" y="1982059"/>
                </a:lnTo>
                <a:lnTo>
                  <a:pt x="813488" y="1992033"/>
                </a:lnTo>
                <a:lnTo>
                  <a:pt x="860194" y="1999883"/>
                </a:lnTo>
                <a:lnTo>
                  <a:pt x="907602" y="2005555"/>
                </a:lnTo>
                <a:lnTo>
                  <a:pt x="955660" y="2008997"/>
                </a:lnTo>
                <a:lnTo>
                  <a:pt x="1004316" y="2010155"/>
                </a:lnTo>
                <a:lnTo>
                  <a:pt x="1052971" y="2008997"/>
                </a:lnTo>
                <a:lnTo>
                  <a:pt x="1101029" y="2005555"/>
                </a:lnTo>
                <a:lnTo>
                  <a:pt x="1148437" y="1999883"/>
                </a:lnTo>
                <a:lnTo>
                  <a:pt x="1195143" y="1992033"/>
                </a:lnTo>
                <a:lnTo>
                  <a:pt x="1241093" y="1982059"/>
                </a:lnTo>
                <a:lnTo>
                  <a:pt x="1286237" y="1970013"/>
                </a:lnTo>
                <a:lnTo>
                  <a:pt x="1330519" y="1955946"/>
                </a:lnTo>
                <a:lnTo>
                  <a:pt x="1373889" y="1939913"/>
                </a:lnTo>
                <a:lnTo>
                  <a:pt x="1416294" y="1921966"/>
                </a:lnTo>
                <a:lnTo>
                  <a:pt x="1457680" y="1902156"/>
                </a:lnTo>
                <a:lnTo>
                  <a:pt x="1497995" y="1880538"/>
                </a:lnTo>
                <a:lnTo>
                  <a:pt x="1537187" y="1857163"/>
                </a:lnTo>
                <a:lnTo>
                  <a:pt x="1575203" y="1832085"/>
                </a:lnTo>
                <a:lnTo>
                  <a:pt x="1611990" y="1805355"/>
                </a:lnTo>
                <a:lnTo>
                  <a:pt x="1647495" y="1777027"/>
                </a:lnTo>
                <a:lnTo>
                  <a:pt x="1681667" y="1747153"/>
                </a:lnTo>
                <a:lnTo>
                  <a:pt x="1714452" y="1715785"/>
                </a:lnTo>
                <a:lnTo>
                  <a:pt x="1745797" y="1682977"/>
                </a:lnTo>
                <a:lnTo>
                  <a:pt x="1775651" y="1648781"/>
                </a:lnTo>
                <a:lnTo>
                  <a:pt x="1803960" y="1613250"/>
                </a:lnTo>
                <a:lnTo>
                  <a:pt x="1830672" y="1576436"/>
                </a:lnTo>
                <a:lnTo>
                  <a:pt x="1855734" y="1538392"/>
                </a:lnTo>
                <a:lnTo>
                  <a:pt x="1879094" y="1499171"/>
                </a:lnTo>
                <a:lnTo>
                  <a:pt x="1900698" y="1458824"/>
                </a:lnTo>
                <a:lnTo>
                  <a:pt x="1920495" y="1417406"/>
                </a:lnTo>
                <a:lnTo>
                  <a:pt x="1938431" y="1374968"/>
                </a:lnTo>
                <a:lnTo>
                  <a:pt x="1954455" y="1331563"/>
                </a:lnTo>
                <a:lnTo>
                  <a:pt x="1968512" y="1287244"/>
                </a:lnTo>
                <a:lnTo>
                  <a:pt x="1980552" y="1242063"/>
                </a:lnTo>
                <a:lnTo>
                  <a:pt x="1990520" y="1196073"/>
                </a:lnTo>
                <a:lnTo>
                  <a:pt x="1998365" y="1149327"/>
                </a:lnTo>
                <a:lnTo>
                  <a:pt x="2004033" y="1101878"/>
                </a:lnTo>
                <a:lnTo>
                  <a:pt x="2007473" y="1053777"/>
                </a:lnTo>
                <a:lnTo>
                  <a:pt x="2008631" y="1005077"/>
                </a:lnTo>
                <a:lnTo>
                  <a:pt x="2007473" y="956378"/>
                </a:lnTo>
                <a:lnTo>
                  <a:pt x="2004033" y="908277"/>
                </a:lnTo>
                <a:lnTo>
                  <a:pt x="1998365" y="860828"/>
                </a:lnTo>
                <a:lnTo>
                  <a:pt x="1990520" y="814082"/>
                </a:lnTo>
                <a:lnTo>
                  <a:pt x="1980552" y="768092"/>
                </a:lnTo>
                <a:lnTo>
                  <a:pt x="1968512" y="722911"/>
                </a:lnTo>
                <a:lnTo>
                  <a:pt x="1954455" y="678592"/>
                </a:lnTo>
                <a:lnTo>
                  <a:pt x="1938431" y="635187"/>
                </a:lnTo>
                <a:lnTo>
                  <a:pt x="1920495" y="592749"/>
                </a:lnTo>
                <a:lnTo>
                  <a:pt x="1900698" y="551331"/>
                </a:lnTo>
                <a:lnTo>
                  <a:pt x="1879094" y="510984"/>
                </a:lnTo>
                <a:lnTo>
                  <a:pt x="1855734" y="471763"/>
                </a:lnTo>
                <a:lnTo>
                  <a:pt x="1830672" y="433719"/>
                </a:lnTo>
                <a:lnTo>
                  <a:pt x="1803960" y="396905"/>
                </a:lnTo>
                <a:lnTo>
                  <a:pt x="1775651" y="361374"/>
                </a:lnTo>
                <a:lnTo>
                  <a:pt x="1745797" y="327178"/>
                </a:lnTo>
                <a:lnTo>
                  <a:pt x="1714452" y="294370"/>
                </a:lnTo>
                <a:lnTo>
                  <a:pt x="1681667" y="263002"/>
                </a:lnTo>
                <a:lnTo>
                  <a:pt x="1647495" y="233128"/>
                </a:lnTo>
                <a:lnTo>
                  <a:pt x="1611990" y="204800"/>
                </a:lnTo>
                <a:lnTo>
                  <a:pt x="1575203" y="178070"/>
                </a:lnTo>
                <a:lnTo>
                  <a:pt x="1537187" y="152992"/>
                </a:lnTo>
                <a:lnTo>
                  <a:pt x="1497995" y="129617"/>
                </a:lnTo>
                <a:lnTo>
                  <a:pt x="1457680" y="107999"/>
                </a:lnTo>
                <a:lnTo>
                  <a:pt x="1416294" y="88189"/>
                </a:lnTo>
                <a:lnTo>
                  <a:pt x="1373889" y="70242"/>
                </a:lnTo>
                <a:lnTo>
                  <a:pt x="1330519" y="54209"/>
                </a:lnTo>
                <a:lnTo>
                  <a:pt x="1286237" y="40142"/>
                </a:lnTo>
                <a:lnTo>
                  <a:pt x="1241093" y="28096"/>
                </a:lnTo>
                <a:lnTo>
                  <a:pt x="1195143" y="18122"/>
                </a:lnTo>
                <a:lnTo>
                  <a:pt x="1148437" y="10272"/>
                </a:lnTo>
                <a:lnTo>
                  <a:pt x="1101029" y="4600"/>
                </a:lnTo>
                <a:lnTo>
                  <a:pt x="1052971" y="1158"/>
                </a:lnTo>
                <a:lnTo>
                  <a:pt x="1004316" y="0"/>
                </a:lnTo>
                <a:close/>
              </a:path>
            </a:pathLst>
          </a:custGeom>
          <a:solidFill>
            <a:srgbClr val="F1F1F1"/>
          </a:solidFill>
        </p:spPr>
        <p:txBody>
          <a:bodyPr wrap="square" lIns="0" tIns="0" rIns="0" bIns="0" rtlCol="0"/>
          <a:lstStyle/>
          <a:p>
            <a:endParaRPr/>
          </a:p>
        </p:txBody>
      </p:sp>
      <p:sp>
        <p:nvSpPr>
          <p:cNvPr id="6" name="object 5">
            <a:extLst>
              <a:ext uri="{FF2B5EF4-FFF2-40B4-BE49-F238E27FC236}">
                <a16:creationId xmlns:a16="http://schemas.microsoft.com/office/drawing/2014/main" id="{39789A43-2053-8984-AA55-F5383AAAF1E6}"/>
              </a:ext>
            </a:extLst>
          </p:cNvPr>
          <p:cNvSpPr txBox="1"/>
          <p:nvPr/>
        </p:nvSpPr>
        <p:spPr>
          <a:xfrm>
            <a:off x="4404106" y="4890269"/>
            <a:ext cx="1635760" cy="258404"/>
          </a:xfrm>
          <a:prstGeom prst="rect">
            <a:avLst/>
          </a:prstGeom>
        </p:spPr>
        <p:txBody>
          <a:bodyPr vert="horz" wrap="square" lIns="0" tIns="12065" rIns="0" bIns="0" rtlCol="0">
            <a:spAutoFit/>
          </a:bodyPr>
          <a:lstStyle/>
          <a:p>
            <a:pPr marL="12700">
              <a:lnSpc>
                <a:spcPct val="100000"/>
              </a:lnSpc>
              <a:spcBef>
                <a:spcPts val="95"/>
              </a:spcBef>
            </a:pPr>
            <a:r>
              <a:rPr lang="fr-FR" sz="1600" spc="-5" dirty="0" err="1">
                <a:solidFill>
                  <a:srgbClr val="7E7E7E"/>
                </a:solidFill>
                <a:latin typeface="Arial MT"/>
                <a:cs typeface="Arial MT"/>
              </a:rPr>
              <a:t>Visit</a:t>
            </a:r>
            <a:r>
              <a:rPr lang="fr-FR" sz="1600" spc="-5" dirty="0">
                <a:solidFill>
                  <a:srgbClr val="7E7E7E"/>
                </a:solidFill>
                <a:latin typeface="Arial MT"/>
                <a:cs typeface="Arial MT"/>
              </a:rPr>
              <a:t> </a:t>
            </a:r>
            <a:r>
              <a:rPr sz="1600" spc="-10" dirty="0">
                <a:solidFill>
                  <a:srgbClr val="7E7E7E"/>
                </a:solidFill>
                <a:latin typeface="Arial MT"/>
                <a:cs typeface="Arial MT"/>
              </a:rPr>
              <a:t>(</a:t>
            </a:r>
            <a:r>
              <a:rPr lang="fr-FR" sz="1600" spc="-10" dirty="0" err="1">
                <a:solidFill>
                  <a:srgbClr val="7E7E7E"/>
                </a:solidFill>
                <a:latin typeface="Arial MT"/>
                <a:cs typeface="Arial MT"/>
              </a:rPr>
              <a:t>week</a:t>
            </a:r>
            <a:r>
              <a:rPr sz="1600" spc="-10" dirty="0">
                <a:solidFill>
                  <a:srgbClr val="7E7E7E"/>
                </a:solidFill>
                <a:latin typeface="Arial MT"/>
                <a:cs typeface="Arial MT"/>
              </a:rPr>
              <a:t>)</a:t>
            </a:r>
            <a:endParaRPr sz="1600" dirty="0">
              <a:latin typeface="Arial MT"/>
              <a:cs typeface="Arial MT"/>
            </a:endParaRPr>
          </a:p>
        </p:txBody>
      </p:sp>
      <p:sp>
        <p:nvSpPr>
          <p:cNvPr id="8" name="object 7">
            <a:extLst>
              <a:ext uri="{FF2B5EF4-FFF2-40B4-BE49-F238E27FC236}">
                <a16:creationId xmlns:a16="http://schemas.microsoft.com/office/drawing/2014/main" id="{078CF6FA-F2E1-9222-01CE-8E6506C01A01}"/>
              </a:ext>
            </a:extLst>
          </p:cNvPr>
          <p:cNvSpPr txBox="1"/>
          <p:nvPr/>
        </p:nvSpPr>
        <p:spPr>
          <a:xfrm>
            <a:off x="8050784" y="2860605"/>
            <a:ext cx="1775460" cy="1160780"/>
          </a:xfrm>
          <a:prstGeom prst="rect">
            <a:avLst/>
          </a:prstGeom>
        </p:spPr>
        <p:txBody>
          <a:bodyPr vert="horz" wrap="square" lIns="0" tIns="127000" rIns="0" bIns="0" rtlCol="0">
            <a:spAutoFit/>
          </a:bodyPr>
          <a:lstStyle/>
          <a:p>
            <a:pPr algn="ctr">
              <a:lnSpc>
                <a:spcPct val="100000"/>
              </a:lnSpc>
              <a:spcBef>
                <a:spcPts val="1000"/>
              </a:spcBef>
            </a:pPr>
            <a:r>
              <a:rPr sz="2400" spc="-800" dirty="0">
                <a:solidFill>
                  <a:srgbClr val="F36633"/>
                </a:solidFill>
                <a:latin typeface="Arial MT"/>
                <a:cs typeface="Arial MT"/>
              </a:rPr>
              <a:t>Δ</a:t>
            </a:r>
            <a:r>
              <a:rPr sz="2400" spc="-150" dirty="0">
                <a:solidFill>
                  <a:srgbClr val="F36633"/>
                </a:solidFill>
                <a:latin typeface="Arial MT"/>
                <a:cs typeface="Arial MT"/>
              </a:rPr>
              <a:t> </a:t>
            </a:r>
            <a:r>
              <a:rPr sz="3600" spc="-5" dirty="0">
                <a:solidFill>
                  <a:srgbClr val="F36633"/>
                </a:solidFill>
                <a:latin typeface="Arial MT"/>
                <a:cs typeface="Arial MT"/>
              </a:rPr>
              <a:t>+179</a:t>
            </a:r>
            <a:r>
              <a:rPr sz="3600" dirty="0">
                <a:solidFill>
                  <a:srgbClr val="F36633"/>
                </a:solidFill>
                <a:latin typeface="Arial MT"/>
                <a:cs typeface="Arial MT"/>
              </a:rPr>
              <a:t> </a:t>
            </a:r>
            <a:r>
              <a:rPr sz="2400" spc="-5" dirty="0">
                <a:solidFill>
                  <a:srgbClr val="F36633"/>
                </a:solidFill>
                <a:latin typeface="Arial MT"/>
                <a:cs typeface="Arial MT"/>
              </a:rPr>
              <a:t>ml</a:t>
            </a:r>
            <a:endParaRPr sz="2400" dirty="0">
              <a:latin typeface="Arial MT"/>
              <a:cs typeface="Arial MT"/>
            </a:endParaRPr>
          </a:p>
          <a:p>
            <a:pPr algn="ctr">
              <a:lnSpc>
                <a:spcPct val="100000"/>
              </a:lnSpc>
              <a:spcBef>
                <a:spcPts val="355"/>
              </a:spcBef>
            </a:pPr>
            <a:r>
              <a:rPr sz="1400" dirty="0">
                <a:solidFill>
                  <a:srgbClr val="7E7E7E"/>
                </a:solidFill>
                <a:latin typeface="Arial MT"/>
                <a:cs typeface="Arial MT"/>
              </a:rPr>
              <a:t>(95%</a:t>
            </a:r>
            <a:r>
              <a:rPr sz="1400" spc="-45" dirty="0">
                <a:solidFill>
                  <a:srgbClr val="7E7E7E"/>
                </a:solidFill>
                <a:latin typeface="Arial MT"/>
                <a:cs typeface="Arial MT"/>
              </a:rPr>
              <a:t> </a:t>
            </a:r>
            <a:r>
              <a:rPr sz="1400" dirty="0">
                <a:solidFill>
                  <a:srgbClr val="7E7E7E"/>
                </a:solidFill>
                <a:latin typeface="Arial MT"/>
                <a:cs typeface="Arial MT"/>
              </a:rPr>
              <a:t>I</a:t>
            </a:r>
            <a:r>
              <a:rPr lang="fr-FR" sz="1400" dirty="0">
                <a:solidFill>
                  <a:srgbClr val="7E7E7E"/>
                </a:solidFill>
                <a:latin typeface="Arial MT"/>
                <a:cs typeface="Arial MT"/>
              </a:rPr>
              <a:t>C</a:t>
            </a:r>
            <a:r>
              <a:rPr sz="1400" dirty="0">
                <a:solidFill>
                  <a:srgbClr val="7E7E7E"/>
                </a:solidFill>
                <a:latin typeface="Arial MT"/>
                <a:cs typeface="Arial MT"/>
              </a:rPr>
              <a:t>:</a:t>
            </a:r>
            <a:r>
              <a:rPr sz="1400" spc="-40" dirty="0">
                <a:solidFill>
                  <a:srgbClr val="7E7E7E"/>
                </a:solidFill>
                <a:latin typeface="Arial MT"/>
                <a:cs typeface="Arial MT"/>
              </a:rPr>
              <a:t> </a:t>
            </a:r>
            <a:r>
              <a:rPr sz="1400" dirty="0">
                <a:solidFill>
                  <a:srgbClr val="7E7E7E"/>
                </a:solidFill>
                <a:latin typeface="Arial MT"/>
                <a:cs typeface="Arial MT"/>
              </a:rPr>
              <a:t>131,</a:t>
            </a:r>
            <a:r>
              <a:rPr sz="1400" spc="-55" dirty="0">
                <a:solidFill>
                  <a:srgbClr val="7E7E7E"/>
                </a:solidFill>
                <a:latin typeface="Arial MT"/>
                <a:cs typeface="Arial MT"/>
              </a:rPr>
              <a:t> </a:t>
            </a:r>
            <a:r>
              <a:rPr sz="1400" dirty="0">
                <a:solidFill>
                  <a:srgbClr val="7E7E7E"/>
                </a:solidFill>
                <a:latin typeface="Arial MT"/>
                <a:cs typeface="Arial MT"/>
              </a:rPr>
              <a:t>226)</a:t>
            </a:r>
            <a:endParaRPr sz="1400" dirty="0">
              <a:latin typeface="Arial MT"/>
              <a:cs typeface="Arial MT"/>
            </a:endParaRPr>
          </a:p>
          <a:p>
            <a:pPr algn="ctr">
              <a:lnSpc>
                <a:spcPct val="100000"/>
              </a:lnSpc>
            </a:pPr>
            <a:r>
              <a:rPr sz="1400" dirty="0">
                <a:solidFill>
                  <a:srgbClr val="7E7E7E"/>
                </a:solidFill>
                <a:latin typeface="Arial MT"/>
                <a:cs typeface="Arial MT"/>
              </a:rPr>
              <a:t>p&lt;0.001</a:t>
            </a:r>
            <a:endParaRPr sz="1400" dirty="0">
              <a:latin typeface="Arial MT"/>
              <a:cs typeface="Arial MT"/>
            </a:endParaRPr>
          </a:p>
        </p:txBody>
      </p:sp>
      <p:sp>
        <p:nvSpPr>
          <p:cNvPr id="10" name="object 8">
            <a:extLst>
              <a:ext uri="{FF2B5EF4-FFF2-40B4-BE49-F238E27FC236}">
                <a16:creationId xmlns:a16="http://schemas.microsoft.com/office/drawing/2014/main" id="{7AAC9FD5-768A-922F-56CF-68DD63776EEE}"/>
              </a:ext>
            </a:extLst>
          </p:cNvPr>
          <p:cNvSpPr txBox="1"/>
          <p:nvPr/>
        </p:nvSpPr>
        <p:spPr>
          <a:xfrm>
            <a:off x="3714796" y="1293708"/>
            <a:ext cx="1382774" cy="443711"/>
          </a:xfrm>
          <a:prstGeom prst="rect">
            <a:avLst/>
          </a:prstGeom>
        </p:spPr>
        <p:txBody>
          <a:bodyPr vert="horz" wrap="square" lIns="0" tIns="12700" rIns="0" bIns="0" rtlCol="0">
            <a:spAutoFit/>
          </a:bodyPr>
          <a:lstStyle/>
          <a:p>
            <a:pPr marL="12700">
              <a:lnSpc>
                <a:spcPct val="100000"/>
              </a:lnSpc>
              <a:spcBef>
                <a:spcPts val="100"/>
              </a:spcBef>
            </a:pPr>
            <a:r>
              <a:rPr sz="1400" b="1" spc="-5" dirty="0">
                <a:latin typeface="Arial MT"/>
                <a:cs typeface="Arial MT"/>
              </a:rPr>
              <a:t>FF/UMEC/VI</a:t>
            </a:r>
            <a:endParaRPr sz="1400" b="1" dirty="0">
              <a:latin typeface="Arial MT"/>
              <a:cs typeface="Arial MT"/>
            </a:endParaRPr>
          </a:p>
          <a:p>
            <a:pPr marL="12700">
              <a:lnSpc>
                <a:spcPct val="100000"/>
              </a:lnSpc>
            </a:pPr>
            <a:r>
              <a:rPr sz="1400" b="1" spc="-5" dirty="0">
                <a:latin typeface="Arial MT"/>
                <a:cs typeface="Arial MT"/>
              </a:rPr>
              <a:t>100</a:t>
            </a:r>
            <a:r>
              <a:rPr sz="1400" b="1" dirty="0">
                <a:latin typeface="Arial MT"/>
                <a:cs typeface="Arial MT"/>
              </a:rPr>
              <a:t>/</a:t>
            </a:r>
            <a:r>
              <a:rPr sz="1400" b="1" spc="5" dirty="0">
                <a:latin typeface="Arial MT"/>
                <a:cs typeface="Arial MT"/>
              </a:rPr>
              <a:t>6</a:t>
            </a:r>
            <a:r>
              <a:rPr sz="1400" b="1" spc="-15" dirty="0">
                <a:latin typeface="Arial MT"/>
                <a:cs typeface="Arial MT"/>
              </a:rPr>
              <a:t>2</a:t>
            </a:r>
            <a:r>
              <a:rPr sz="1400" b="1" dirty="0">
                <a:latin typeface="Arial MT"/>
                <a:cs typeface="Arial MT"/>
              </a:rPr>
              <a:t>.</a:t>
            </a:r>
            <a:r>
              <a:rPr sz="1400" b="1" spc="-5" dirty="0">
                <a:latin typeface="Arial MT"/>
                <a:cs typeface="Arial MT"/>
              </a:rPr>
              <a:t>5</a:t>
            </a:r>
            <a:r>
              <a:rPr sz="1400" b="1" dirty="0">
                <a:latin typeface="Arial MT"/>
                <a:cs typeface="Arial MT"/>
              </a:rPr>
              <a:t>/</a:t>
            </a:r>
            <a:r>
              <a:rPr sz="1400" b="1" spc="5" dirty="0">
                <a:latin typeface="Arial MT"/>
                <a:cs typeface="Arial MT"/>
              </a:rPr>
              <a:t>2</a:t>
            </a:r>
            <a:r>
              <a:rPr sz="1400" b="1" spc="-5" dirty="0">
                <a:latin typeface="Arial MT"/>
                <a:cs typeface="Arial MT"/>
              </a:rPr>
              <a:t>5</a:t>
            </a:r>
            <a:r>
              <a:rPr sz="1400" b="1" spc="-45" dirty="0">
                <a:latin typeface="Arial MT"/>
                <a:cs typeface="Arial MT"/>
              </a:rPr>
              <a:t> </a:t>
            </a:r>
            <a:r>
              <a:rPr sz="1400" b="1" dirty="0">
                <a:latin typeface="Arial MT"/>
                <a:cs typeface="Arial MT"/>
              </a:rPr>
              <a:t>µ</a:t>
            </a:r>
            <a:r>
              <a:rPr sz="1400" b="1" spc="-5" dirty="0">
                <a:latin typeface="Arial MT"/>
                <a:cs typeface="Arial MT"/>
              </a:rPr>
              <a:t>g</a:t>
            </a:r>
            <a:endParaRPr sz="1400" b="1" dirty="0">
              <a:latin typeface="Arial MT"/>
              <a:cs typeface="Arial MT"/>
            </a:endParaRPr>
          </a:p>
        </p:txBody>
      </p:sp>
      <p:pic>
        <p:nvPicPr>
          <p:cNvPr id="11" name="object 9">
            <a:extLst>
              <a:ext uri="{FF2B5EF4-FFF2-40B4-BE49-F238E27FC236}">
                <a16:creationId xmlns:a16="http://schemas.microsoft.com/office/drawing/2014/main" id="{C55F08F4-5E7A-9FB6-8056-D71FBD2E16CC}"/>
              </a:ext>
            </a:extLst>
          </p:cNvPr>
          <p:cNvPicPr/>
          <p:nvPr/>
        </p:nvPicPr>
        <p:blipFill>
          <a:blip r:embed="rId3" cstate="print"/>
          <a:stretch>
            <a:fillRect/>
          </a:stretch>
        </p:blipFill>
        <p:spPr>
          <a:xfrm>
            <a:off x="3428538" y="1353906"/>
            <a:ext cx="219203" cy="208575"/>
          </a:xfrm>
          <a:prstGeom prst="rect">
            <a:avLst/>
          </a:prstGeom>
        </p:spPr>
      </p:pic>
      <p:pic>
        <p:nvPicPr>
          <p:cNvPr id="12" name="object 10">
            <a:extLst>
              <a:ext uri="{FF2B5EF4-FFF2-40B4-BE49-F238E27FC236}">
                <a16:creationId xmlns:a16="http://schemas.microsoft.com/office/drawing/2014/main" id="{28EC8576-D806-8FB1-48FE-1ECE703897A7}"/>
              </a:ext>
            </a:extLst>
          </p:cNvPr>
          <p:cNvPicPr/>
          <p:nvPr/>
        </p:nvPicPr>
        <p:blipFill>
          <a:blip r:embed="rId4" cstate="print"/>
          <a:stretch>
            <a:fillRect/>
          </a:stretch>
        </p:blipFill>
        <p:spPr>
          <a:xfrm>
            <a:off x="5088173" y="1370669"/>
            <a:ext cx="219203" cy="208575"/>
          </a:xfrm>
          <a:prstGeom prst="rect">
            <a:avLst/>
          </a:prstGeom>
        </p:spPr>
      </p:pic>
      <p:sp>
        <p:nvSpPr>
          <p:cNvPr id="13" name="object 11">
            <a:extLst>
              <a:ext uri="{FF2B5EF4-FFF2-40B4-BE49-F238E27FC236}">
                <a16:creationId xmlns:a16="http://schemas.microsoft.com/office/drawing/2014/main" id="{524BF3D1-B4A6-F103-4870-99FAA78678D7}"/>
              </a:ext>
            </a:extLst>
          </p:cNvPr>
          <p:cNvSpPr txBox="1"/>
          <p:nvPr/>
        </p:nvSpPr>
        <p:spPr>
          <a:xfrm>
            <a:off x="5350312" y="1304893"/>
            <a:ext cx="1758892" cy="456535"/>
          </a:xfrm>
          <a:prstGeom prst="rect">
            <a:avLst/>
          </a:prstGeom>
        </p:spPr>
        <p:txBody>
          <a:bodyPr vert="horz" wrap="square" lIns="0" tIns="12700" rIns="0" bIns="0" rtlCol="0">
            <a:spAutoFit/>
          </a:bodyPr>
          <a:lstStyle/>
          <a:p>
            <a:pPr marL="12700">
              <a:lnSpc>
                <a:spcPct val="100000"/>
              </a:lnSpc>
              <a:spcBef>
                <a:spcPts val="100"/>
              </a:spcBef>
            </a:pPr>
            <a:r>
              <a:rPr sz="1400" b="1" dirty="0">
                <a:latin typeface="Arial MT"/>
                <a:cs typeface="Arial MT"/>
              </a:rPr>
              <a:t>BUD/FOR</a:t>
            </a:r>
            <a:r>
              <a:rPr sz="1400" b="1" spc="-45" dirty="0">
                <a:latin typeface="Arial MT"/>
                <a:cs typeface="Arial MT"/>
              </a:rPr>
              <a:t> </a:t>
            </a:r>
            <a:endParaRPr lang="fr-FR" sz="1400" b="1" spc="-45" dirty="0">
              <a:latin typeface="Arial MT"/>
              <a:cs typeface="Arial MT"/>
            </a:endParaRPr>
          </a:p>
          <a:p>
            <a:pPr marL="12700">
              <a:lnSpc>
                <a:spcPct val="100000"/>
              </a:lnSpc>
              <a:spcBef>
                <a:spcPts val="100"/>
              </a:spcBef>
            </a:pPr>
            <a:r>
              <a:rPr sz="1400" b="1" dirty="0">
                <a:latin typeface="Arial MT"/>
                <a:cs typeface="Arial MT"/>
              </a:rPr>
              <a:t>400/12</a:t>
            </a:r>
            <a:r>
              <a:rPr sz="1400" b="1" spc="-75" dirty="0">
                <a:latin typeface="Arial MT"/>
                <a:cs typeface="Arial MT"/>
              </a:rPr>
              <a:t> </a:t>
            </a:r>
            <a:r>
              <a:rPr sz="1400" b="1" spc="-5" dirty="0">
                <a:latin typeface="Arial MT"/>
                <a:cs typeface="Arial MT"/>
              </a:rPr>
              <a:t>µg</a:t>
            </a:r>
            <a:endParaRPr sz="1400" b="1" dirty="0">
              <a:latin typeface="Arial MT"/>
              <a:cs typeface="Arial MT"/>
            </a:endParaRPr>
          </a:p>
        </p:txBody>
      </p:sp>
      <p:pic>
        <p:nvPicPr>
          <p:cNvPr id="15" name="object 13">
            <a:extLst>
              <a:ext uri="{FF2B5EF4-FFF2-40B4-BE49-F238E27FC236}">
                <a16:creationId xmlns:a16="http://schemas.microsoft.com/office/drawing/2014/main" id="{FC65C97F-A9F9-0D75-5612-E07D5C0682F3}"/>
              </a:ext>
            </a:extLst>
          </p:cNvPr>
          <p:cNvPicPr/>
          <p:nvPr/>
        </p:nvPicPr>
        <p:blipFill>
          <a:blip r:embed="rId5" cstate="print"/>
          <a:stretch>
            <a:fillRect/>
          </a:stretch>
        </p:blipFill>
        <p:spPr>
          <a:xfrm>
            <a:off x="2219394" y="2347430"/>
            <a:ext cx="5396902" cy="2394140"/>
          </a:xfrm>
          <a:prstGeom prst="rect">
            <a:avLst/>
          </a:prstGeom>
        </p:spPr>
      </p:pic>
      <p:sp>
        <p:nvSpPr>
          <p:cNvPr id="20" name="Text Placeholder 8">
            <a:extLst>
              <a:ext uri="{FF2B5EF4-FFF2-40B4-BE49-F238E27FC236}">
                <a16:creationId xmlns:a16="http://schemas.microsoft.com/office/drawing/2014/main" id="{ED305536-CE50-0595-7F23-6882A8F5D64F}"/>
              </a:ext>
            </a:extLst>
          </p:cNvPr>
          <p:cNvSpPr txBox="1">
            <a:spLocks/>
          </p:cNvSpPr>
          <p:nvPr/>
        </p:nvSpPr>
        <p:spPr>
          <a:xfrm>
            <a:off x="3223508" y="6245177"/>
            <a:ext cx="8171182" cy="468160"/>
          </a:xfrm>
          <a:prstGeom prst="rect">
            <a:avLst/>
          </a:prstGeom>
        </p:spPr>
        <p:txBody>
          <a:bodyPr vert="horz" wrap="square" lIns="180000" tIns="180000" rIns="180000" bIns="180000" rtlCol="0" anchor="b" anchorCtr="0">
            <a:spAutoFit/>
          </a:bodyPr>
          <a:lstStyle>
            <a:lvl1pPr marL="0" indent="0" algn="l" defTabSz="1219170" rtl="0" eaLnBrk="1" latinLnBrk="0" hangingPunct="1">
              <a:lnSpc>
                <a:spcPct val="85000"/>
              </a:lnSpc>
              <a:spcBef>
                <a:spcPts val="300"/>
              </a:spcBef>
              <a:spcAft>
                <a:spcPts val="0"/>
              </a:spcAft>
              <a:buClr>
                <a:schemeClr val="tx2"/>
              </a:buClr>
              <a:buSzPct val="110000"/>
              <a:buFont typeface="Arial" panose="020B0604020202020204" pitchFamily="34" charset="0"/>
              <a:buNone/>
              <a:defRPr sz="800" kern="1200" baseline="0">
                <a:solidFill>
                  <a:schemeClr val="tx1"/>
                </a:solidFill>
                <a:latin typeface="+mn-lt"/>
                <a:ea typeface="+mn-ea"/>
                <a:cs typeface="+mn-cs"/>
              </a:defRPr>
            </a:lvl1pPr>
            <a:lvl2pPr marL="268163" indent="0" algn="l" defTabSz="1219170" rtl="0" eaLnBrk="1" latinLnBrk="0" hangingPunct="1">
              <a:spcBef>
                <a:spcPts val="300"/>
              </a:spcBef>
              <a:spcAft>
                <a:spcPts val="300"/>
              </a:spcAft>
              <a:buClr>
                <a:schemeClr val="tx1"/>
              </a:buClr>
              <a:buFont typeface="Arial" panose="020B0604020202020204" pitchFamily="34" charset="0"/>
              <a:buNone/>
              <a:defRPr sz="800" kern="1200">
                <a:solidFill>
                  <a:schemeClr val="tx1"/>
                </a:solidFill>
                <a:latin typeface="+mn-lt"/>
                <a:ea typeface="+mn-ea"/>
                <a:cs typeface="+mn-cs"/>
              </a:defRPr>
            </a:lvl2pPr>
            <a:lvl3pPr marL="540000" indent="0" algn="l" defTabSz="1219170" rtl="0" eaLnBrk="1" latinLnBrk="0" hangingPunct="1">
              <a:spcBef>
                <a:spcPts val="300"/>
              </a:spcBef>
              <a:spcAft>
                <a:spcPts val="300"/>
              </a:spcAft>
              <a:buClr>
                <a:schemeClr val="tx1"/>
              </a:buClr>
              <a:buFont typeface="Arial" panose="020B0604020202020204" pitchFamily="34" charset="0"/>
              <a:buNone/>
              <a:defRPr sz="800" kern="1200">
                <a:solidFill>
                  <a:schemeClr val="tx1"/>
                </a:solidFill>
                <a:latin typeface="+mn-lt"/>
                <a:ea typeface="+mn-ea"/>
                <a:cs typeface="+mn-cs"/>
              </a:defRPr>
            </a:lvl3pPr>
            <a:lvl4pPr marL="811088" indent="0" algn="l" defTabSz="1219170" rtl="0" eaLnBrk="1" latinLnBrk="0" hangingPunct="1">
              <a:spcBef>
                <a:spcPts val="300"/>
              </a:spcBef>
              <a:spcAft>
                <a:spcPts val="300"/>
              </a:spcAft>
              <a:buClr>
                <a:schemeClr val="tx1"/>
              </a:buClr>
              <a:buFont typeface="Arial" panose="020B0604020202020204" pitchFamily="34" charset="0"/>
              <a:buNone/>
              <a:defRPr sz="800" kern="1200">
                <a:solidFill>
                  <a:schemeClr val="tx1"/>
                </a:solidFill>
                <a:latin typeface="+mn-lt"/>
                <a:ea typeface="+mn-ea"/>
                <a:cs typeface="+mn-cs"/>
              </a:defRPr>
            </a:lvl4pPr>
            <a:lvl5pPr marL="1080000" indent="0" algn="l" defTabSz="1219170" rtl="0" eaLnBrk="1" latinLnBrk="0" hangingPunct="1">
              <a:spcBef>
                <a:spcPts val="300"/>
              </a:spcBef>
              <a:spcAft>
                <a:spcPts val="300"/>
              </a:spcAft>
              <a:buClr>
                <a:schemeClr val="tx1"/>
              </a:buClr>
              <a:buFont typeface="Arial" panose="020B0604020202020204" pitchFamily="34" charset="0"/>
              <a:buNone/>
              <a:defRPr sz="8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algn="r"/>
            <a:r>
              <a:rPr lang="en-US"/>
              <a:t>Lipson DA </a:t>
            </a:r>
            <a:r>
              <a:rPr lang="en-US" i="1"/>
              <a:t>et al.</a:t>
            </a:r>
            <a:r>
              <a:rPr lang="en-US"/>
              <a:t> </a:t>
            </a:r>
            <a:r>
              <a:rPr lang="en-US" i="1"/>
              <a:t>Am J Resp Crit Care. </a:t>
            </a:r>
            <a:r>
              <a:rPr lang="en-US"/>
              <a:t>2017; 196:438–446.</a:t>
            </a:r>
            <a:endParaRPr lang="en-GB" dirty="0"/>
          </a:p>
        </p:txBody>
      </p:sp>
      <p:sp>
        <p:nvSpPr>
          <p:cNvPr id="21" name="ZoneTexte 20">
            <a:extLst>
              <a:ext uri="{FF2B5EF4-FFF2-40B4-BE49-F238E27FC236}">
                <a16:creationId xmlns:a16="http://schemas.microsoft.com/office/drawing/2014/main" id="{1F6F44AF-FE45-6A8C-0B6D-A1134970BBE6}"/>
              </a:ext>
            </a:extLst>
          </p:cNvPr>
          <p:cNvSpPr txBox="1"/>
          <p:nvPr/>
        </p:nvSpPr>
        <p:spPr>
          <a:xfrm rot="16200000">
            <a:off x="38526" y="2941616"/>
            <a:ext cx="3730971" cy="584775"/>
          </a:xfrm>
          <a:prstGeom prst="rect">
            <a:avLst/>
          </a:prstGeom>
          <a:noFill/>
        </p:spPr>
        <p:txBody>
          <a:bodyPr wrap="square">
            <a:spAutoFit/>
          </a:bodyPr>
          <a:lstStyle/>
          <a:p>
            <a:pPr algn="ctr"/>
            <a:r>
              <a:rPr lang="en-US" sz="1600" spc="-5" dirty="0">
                <a:solidFill>
                  <a:srgbClr val="7E7E7E"/>
                </a:solidFill>
                <a:latin typeface="Arial MT"/>
              </a:rPr>
              <a:t>LS mean change from baseline, mL</a:t>
            </a:r>
          </a:p>
          <a:p>
            <a:pPr algn="ctr"/>
            <a:r>
              <a:rPr lang="en-US" sz="1600" spc="-5" dirty="0">
                <a:solidFill>
                  <a:srgbClr val="7E7E7E"/>
                </a:solidFill>
                <a:latin typeface="Arial MT"/>
              </a:rPr>
              <a:t>(95% CI)</a:t>
            </a:r>
            <a:endParaRPr lang="fr-FR" sz="1600" spc="-5" dirty="0">
              <a:solidFill>
                <a:srgbClr val="7E7E7E"/>
              </a:solidFill>
              <a:latin typeface="Arial MT"/>
            </a:endParaRPr>
          </a:p>
        </p:txBody>
      </p:sp>
      <p:sp>
        <p:nvSpPr>
          <p:cNvPr id="22" name="TextBox 14">
            <a:extLst>
              <a:ext uri="{FF2B5EF4-FFF2-40B4-BE49-F238E27FC236}">
                <a16:creationId xmlns:a16="http://schemas.microsoft.com/office/drawing/2014/main" id="{4369CBA6-C82E-926F-0D8A-1842EA6CAF79}"/>
              </a:ext>
            </a:extLst>
          </p:cNvPr>
          <p:cNvSpPr txBox="1"/>
          <p:nvPr/>
        </p:nvSpPr>
        <p:spPr>
          <a:xfrm>
            <a:off x="1904998" y="5286127"/>
            <a:ext cx="8420400" cy="638637"/>
          </a:xfrm>
          <a:prstGeom prst="roundRect">
            <a:avLst/>
          </a:prstGeom>
          <a:solidFill>
            <a:schemeClr val="tx2"/>
          </a:solidFill>
          <a:ln w="22225">
            <a:noFill/>
          </a:ln>
          <a:effectLst>
            <a:outerShdw blurRad="50800" dist="38100" dir="2700000" algn="tl" rotWithShape="0">
              <a:prstClr val="black">
                <a:alpha val="40000"/>
              </a:prstClr>
            </a:outerShdw>
          </a:effectLst>
        </p:spPr>
        <p:txBody>
          <a:bodyPr wrap="square" lIns="72000" tIns="72000" rIns="72000" bIns="72000" rtlCol="0" anchor="ctr" anchorCtr="0">
            <a:noAutofit/>
          </a:bodyPr>
          <a:lstStyle>
            <a:defPPr>
              <a:defRPr lang="en-US"/>
            </a:defPPr>
            <a:lvl1pPr algn="ctr">
              <a:lnSpc>
                <a:spcPct val="90000"/>
              </a:lnSpc>
              <a:defRPr sz="1200">
                <a:latin typeface="+mj-lt"/>
                <a:cs typeface="Arial" panose="020B0604020202020204" pitchFamily="34" charset="0"/>
              </a:defRPr>
            </a:lvl1pPr>
          </a:lstStyle>
          <a:p>
            <a:pPr defTabSz="914400">
              <a:defRPr/>
            </a:pPr>
            <a:r>
              <a:rPr lang="en-GB" sz="1600" b="1" dirty="0">
                <a:solidFill>
                  <a:srgbClr val="FFFFFF"/>
                </a:solidFill>
                <a:latin typeface="Arial" panose="020B0604020202020204" pitchFamily="34" charset="0"/>
              </a:rPr>
              <a:t>At Week 52, there was a significant improvement in lung function for patients receiving single-inhaler triple therapy compared with those receiving ICS/LABA</a:t>
            </a:r>
          </a:p>
        </p:txBody>
      </p:sp>
    </p:spTree>
    <p:extLst>
      <p:ext uri="{BB962C8B-B14F-4D97-AF65-F5344CB8AC3E}">
        <p14:creationId xmlns:p14="http://schemas.microsoft.com/office/powerpoint/2010/main" val="1040485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466" y="1054903"/>
            <a:ext cx="10102852" cy="338554"/>
          </a:xfrm>
        </p:spPr>
        <p:txBody>
          <a:bodyPr vert="horz" lIns="0" tIns="0" rIns="0" bIns="720000" rtlCol="0" anchor="b" anchorCtr="0">
            <a:noAutofit/>
          </a:bodyPr>
          <a:lstStyle/>
          <a:p>
            <a:r>
              <a:rPr lang="en-US" sz="2400" dirty="0"/>
              <a:t>Once-daily single-inhaler triple therapy </a:t>
            </a:r>
            <a:r>
              <a:rPr lang="en-GB" sz="2400" dirty="0"/>
              <a:t>(FF/UMEC/VI) in COPD </a:t>
            </a:r>
            <a:r>
              <a:rPr lang="en-US" sz="2400" dirty="0"/>
              <a:t>significantly improved QoL vs </a:t>
            </a:r>
            <a:r>
              <a:rPr lang="en-GB" sz="2400" dirty="0"/>
              <a:t>BUD/FOR</a:t>
            </a:r>
          </a:p>
        </p:txBody>
      </p:sp>
      <p:sp>
        <p:nvSpPr>
          <p:cNvPr id="17" name="Text Placeholder 25"/>
          <p:cNvSpPr>
            <a:spLocks noGrp="1"/>
          </p:cNvSpPr>
          <p:nvPr>
            <p:ph type="body" sz="quarter" idx="14"/>
          </p:nvPr>
        </p:nvSpPr>
        <p:spPr>
          <a:xfrm>
            <a:off x="3064483" y="1254519"/>
            <a:ext cx="8035731" cy="200209"/>
          </a:xfrm>
        </p:spPr>
        <p:txBody>
          <a:bodyPr/>
          <a:lstStyle/>
          <a:p>
            <a:r>
              <a:rPr lang="en-US" sz="1800" b="1" i="0" dirty="0">
                <a:latin typeface="+mn-lt"/>
              </a:rPr>
              <a:t>Change from baseline SGRQ total in FULFIL at Week 24</a:t>
            </a:r>
            <a:endParaRPr lang="en-US" sz="1800" b="1" i="0" baseline="30000" dirty="0">
              <a:latin typeface="+mn-lt"/>
            </a:endParaRPr>
          </a:p>
          <a:p>
            <a:endParaRPr lang="en-US" sz="1800" dirty="0"/>
          </a:p>
        </p:txBody>
      </p:sp>
      <p:sp>
        <p:nvSpPr>
          <p:cNvPr id="10" name="Text Placeholder 9"/>
          <p:cNvSpPr>
            <a:spLocks noGrp="1"/>
          </p:cNvSpPr>
          <p:nvPr>
            <p:ph type="body" sz="quarter" idx="19"/>
          </p:nvPr>
        </p:nvSpPr>
        <p:spPr>
          <a:xfrm>
            <a:off x="3272417" y="6156396"/>
            <a:ext cx="8171182" cy="494321"/>
          </a:xfrm>
        </p:spPr>
        <p:txBody>
          <a:bodyPr/>
          <a:lstStyle/>
          <a:p>
            <a:pPr algn="r"/>
            <a:r>
              <a:rPr lang="en-US" sz="1000" dirty="0">
                <a:latin typeface="Calibri" panose="020F0502020204030204" pitchFamily="34" charset="0"/>
                <a:cs typeface="Calibri" panose="020F0502020204030204" pitchFamily="34" charset="0"/>
              </a:rPr>
              <a:t>Lipson DA </a:t>
            </a:r>
            <a:r>
              <a:rPr lang="en-US" sz="1000" i="1" dirty="0">
                <a:latin typeface="Calibri" panose="020F0502020204030204" pitchFamily="34" charset="0"/>
                <a:cs typeface="Calibri" panose="020F0502020204030204" pitchFamily="34" charset="0"/>
              </a:rPr>
              <a:t>et al</a:t>
            </a:r>
            <a:r>
              <a:rPr lang="en-US" sz="1000" dirty="0">
                <a:latin typeface="Calibri" panose="020F0502020204030204" pitchFamily="34" charset="0"/>
                <a:cs typeface="Calibri" panose="020F0502020204030204" pitchFamily="34" charset="0"/>
              </a:rPr>
              <a:t>. </a:t>
            </a:r>
            <a:r>
              <a:rPr lang="en-US" sz="1000" i="1" dirty="0">
                <a:latin typeface="Calibri" panose="020F0502020204030204" pitchFamily="34" charset="0"/>
                <a:cs typeface="Calibri" panose="020F0502020204030204" pitchFamily="34" charset="0"/>
              </a:rPr>
              <a:t>Am J </a:t>
            </a:r>
            <a:r>
              <a:rPr lang="en-US" sz="1000" i="1" dirty="0" err="1">
                <a:latin typeface="Calibri" panose="020F0502020204030204" pitchFamily="34" charset="0"/>
                <a:cs typeface="Calibri" panose="020F0502020204030204" pitchFamily="34" charset="0"/>
              </a:rPr>
              <a:t>Resp</a:t>
            </a:r>
            <a:r>
              <a:rPr lang="en-US" sz="1000" i="1" dirty="0">
                <a:latin typeface="Calibri" panose="020F0502020204030204" pitchFamily="34" charset="0"/>
                <a:cs typeface="Calibri" panose="020F0502020204030204" pitchFamily="34" charset="0"/>
              </a:rPr>
              <a:t> </a:t>
            </a:r>
            <a:r>
              <a:rPr lang="en-US" sz="1000" i="1" dirty="0" err="1">
                <a:latin typeface="Calibri" panose="020F0502020204030204" pitchFamily="34" charset="0"/>
                <a:cs typeface="Calibri" panose="020F0502020204030204" pitchFamily="34" charset="0"/>
              </a:rPr>
              <a:t>Crit</a:t>
            </a:r>
            <a:r>
              <a:rPr lang="en-US" sz="1000" i="1" dirty="0">
                <a:latin typeface="Calibri" panose="020F0502020204030204" pitchFamily="34" charset="0"/>
                <a:cs typeface="Calibri" panose="020F0502020204030204" pitchFamily="34" charset="0"/>
              </a:rPr>
              <a:t> Care. </a:t>
            </a:r>
            <a:r>
              <a:rPr lang="en-GB" sz="1000" dirty="0">
                <a:latin typeface="Calibri" panose="020F0502020204030204" pitchFamily="34" charset="0"/>
                <a:cs typeface="Calibri" panose="020F0502020204030204" pitchFamily="34" charset="0"/>
              </a:rPr>
              <a:t>2017; 196:438</a:t>
            </a:r>
            <a:r>
              <a:rPr lang="fr-FR" sz="1000" dirty="0">
                <a:latin typeface="Calibri" panose="020F0502020204030204" pitchFamily="34" charset="0"/>
                <a:cs typeface="Calibri" panose="020F0502020204030204" pitchFamily="34" charset="0"/>
              </a:rPr>
              <a:t>–</a:t>
            </a:r>
            <a:r>
              <a:rPr lang="en-GB" sz="1000" dirty="0">
                <a:latin typeface="Calibri" panose="020F0502020204030204" pitchFamily="34" charset="0"/>
                <a:cs typeface="Calibri" panose="020F0502020204030204" pitchFamily="34" charset="0"/>
              </a:rPr>
              <a:t>446.</a:t>
            </a:r>
          </a:p>
        </p:txBody>
      </p:sp>
      <p:grpSp>
        <p:nvGrpSpPr>
          <p:cNvPr id="5" name="Group 4"/>
          <p:cNvGrpSpPr/>
          <p:nvPr/>
        </p:nvGrpSpPr>
        <p:grpSpPr>
          <a:xfrm>
            <a:off x="2447536" y="1558925"/>
            <a:ext cx="7153665" cy="3828452"/>
            <a:chOff x="923535" y="1196975"/>
            <a:chExt cx="7153665" cy="3828452"/>
          </a:xfrm>
        </p:grpSpPr>
        <p:graphicFrame>
          <p:nvGraphicFramePr>
            <p:cNvPr id="28" name="Content Placeholder 7"/>
            <p:cNvGraphicFramePr>
              <a:graphicFrameLocks/>
            </p:cNvGraphicFramePr>
            <p:nvPr>
              <p:extLst>
                <p:ext uri="{D42A27DB-BD31-4B8C-83A1-F6EECF244321}">
                  <p14:modId xmlns:p14="http://schemas.microsoft.com/office/powerpoint/2010/main" val="4266894309"/>
                </p:ext>
              </p:extLst>
            </p:nvPr>
          </p:nvGraphicFramePr>
          <p:xfrm>
            <a:off x="923535" y="1196975"/>
            <a:ext cx="7153665" cy="3828452"/>
          </p:xfrm>
          <a:graphic>
            <a:graphicData uri="http://schemas.openxmlformats.org/drawingml/2006/chart">
              <c:chart xmlns:c="http://schemas.openxmlformats.org/drawingml/2006/chart" xmlns:r="http://schemas.openxmlformats.org/officeDocument/2006/relationships" r:id="rId3"/>
            </a:graphicData>
          </a:graphic>
        </p:graphicFrame>
        <p:sp>
          <p:nvSpPr>
            <p:cNvPr id="29" name="TextBox 28"/>
            <p:cNvSpPr txBox="1"/>
            <p:nvPr/>
          </p:nvSpPr>
          <p:spPr>
            <a:xfrm>
              <a:off x="2531012" y="4306835"/>
              <a:ext cx="2044882" cy="646331"/>
            </a:xfrm>
            <a:prstGeom prst="rect">
              <a:avLst/>
            </a:prstGeom>
            <a:noFill/>
          </p:spPr>
          <p:txBody>
            <a:bodyPr wrap="square" lIns="0" tIns="0" rIns="0" bIns="0" rtlCol="0">
              <a:spAutoFit/>
            </a:bodyPr>
            <a:lstStyle/>
            <a:p>
              <a:pPr algn="ctr" defTabSz="914400">
                <a:defRPr/>
              </a:pPr>
              <a:r>
                <a:rPr lang="en-GB" sz="1400" b="1" dirty="0">
                  <a:solidFill>
                    <a:srgbClr val="F36633"/>
                  </a:solidFill>
                  <a:latin typeface="Arial"/>
                </a:rPr>
                <a:t>FF/UMEC/VI</a:t>
              </a:r>
            </a:p>
            <a:p>
              <a:pPr algn="ctr" defTabSz="914400">
                <a:defRPr/>
              </a:pPr>
              <a:r>
                <a:rPr lang="en-GB" sz="1400" dirty="0">
                  <a:solidFill>
                    <a:srgbClr val="F36633"/>
                  </a:solidFill>
                  <a:latin typeface="Arial"/>
                </a:rPr>
                <a:t>100/62.5/25</a:t>
              </a:r>
            </a:p>
            <a:p>
              <a:pPr algn="ctr" defTabSz="914400">
                <a:defRPr/>
              </a:pPr>
              <a:r>
                <a:rPr lang="en-GB" sz="1400" dirty="0">
                  <a:solidFill>
                    <a:srgbClr val="F36633"/>
                  </a:solidFill>
                  <a:latin typeface="Arial"/>
                </a:rPr>
                <a:t>(n=846)</a:t>
              </a:r>
            </a:p>
          </p:txBody>
        </p:sp>
        <p:sp>
          <p:nvSpPr>
            <p:cNvPr id="32" name="TextBox 31"/>
            <p:cNvSpPr txBox="1"/>
            <p:nvPr/>
          </p:nvSpPr>
          <p:spPr>
            <a:xfrm>
              <a:off x="4907801" y="4306835"/>
              <a:ext cx="2219760" cy="646331"/>
            </a:xfrm>
            <a:prstGeom prst="rect">
              <a:avLst/>
            </a:prstGeom>
            <a:noFill/>
          </p:spPr>
          <p:txBody>
            <a:bodyPr wrap="square" lIns="0" tIns="0" rIns="0" bIns="0" rtlCol="0">
              <a:spAutoFit/>
            </a:bodyPr>
            <a:lstStyle/>
            <a:p>
              <a:pPr algn="ctr" defTabSz="914400">
                <a:defRPr/>
              </a:pPr>
              <a:r>
                <a:rPr lang="en-GB" sz="1400" b="1" dirty="0">
                  <a:solidFill>
                    <a:srgbClr val="15717D"/>
                  </a:solidFill>
                  <a:latin typeface="Arial"/>
                </a:rPr>
                <a:t>BUD/FOR</a:t>
              </a:r>
            </a:p>
            <a:p>
              <a:pPr algn="ctr" defTabSz="914400">
                <a:defRPr/>
              </a:pPr>
              <a:r>
                <a:rPr lang="en-GB" sz="1400" dirty="0">
                  <a:solidFill>
                    <a:srgbClr val="15717D"/>
                  </a:solidFill>
                  <a:latin typeface="Arial"/>
                </a:rPr>
                <a:t>400/12</a:t>
              </a:r>
            </a:p>
            <a:p>
              <a:pPr algn="ctr" defTabSz="914400">
                <a:defRPr/>
              </a:pPr>
              <a:r>
                <a:rPr lang="en-GB" sz="1400" dirty="0">
                  <a:solidFill>
                    <a:srgbClr val="15717D"/>
                  </a:solidFill>
                  <a:latin typeface="Arial"/>
                </a:rPr>
                <a:t>(n=791)</a:t>
              </a:r>
            </a:p>
          </p:txBody>
        </p:sp>
        <p:sp>
          <p:nvSpPr>
            <p:cNvPr id="33" name="TextBox 32"/>
            <p:cNvSpPr txBox="1"/>
            <p:nvPr/>
          </p:nvSpPr>
          <p:spPr>
            <a:xfrm rot="16200000">
              <a:off x="-21772" y="2715437"/>
              <a:ext cx="2693620" cy="430887"/>
            </a:xfrm>
            <a:prstGeom prst="rect">
              <a:avLst/>
            </a:prstGeom>
            <a:noFill/>
          </p:spPr>
          <p:txBody>
            <a:bodyPr wrap="square" lIns="0" tIns="0" rIns="0" bIns="0" rtlCol="0">
              <a:spAutoFit/>
            </a:bodyPr>
            <a:lstStyle/>
            <a:p>
              <a:pPr algn="ctr" defTabSz="914400">
                <a:defRPr/>
              </a:pPr>
              <a:r>
                <a:rPr lang="en-US" sz="1400" b="1" dirty="0">
                  <a:solidFill>
                    <a:srgbClr val="544F40"/>
                  </a:solidFill>
                  <a:latin typeface="Arial"/>
                </a:rPr>
                <a:t>LS mean (95%CI) change</a:t>
              </a:r>
              <a:br>
                <a:rPr lang="en-US" sz="1400" b="1" dirty="0">
                  <a:solidFill>
                    <a:srgbClr val="544F40"/>
                  </a:solidFill>
                  <a:latin typeface="Arial"/>
                </a:rPr>
              </a:br>
              <a:r>
                <a:rPr lang="en-US" sz="1400" b="1" dirty="0">
                  <a:solidFill>
                    <a:srgbClr val="544F40"/>
                  </a:solidFill>
                  <a:latin typeface="Arial"/>
                </a:rPr>
                <a:t>from baseline</a:t>
              </a:r>
            </a:p>
          </p:txBody>
        </p:sp>
        <p:cxnSp>
          <p:nvCxnSpPr>
            <p:cNvPr id="34" name="Straight Arrow Connector 33"/>
            <p:cNvCxnSpPr/>
            <p:nvPr/>
          </p:nvCxnSpPr>
          <p:spPr>
            <a:xfrm>
              <a:off x="6016887" y="3281085"/>
              <a:ext cx="0" cy="981197"/>
            </a:xfrm>
            <a:prstGeom prst="straightConnector1">
              <a:avLst/>
            </a:prstGeom>
            <a:ln w="28575">
              <a:solidFill>
                <a:srgbClr val="F36633"/>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5074165" y="3558205"/>
              <a:ext cx="1885444" cy="369332"/>
            </a:xfrm>
            <a:prstGeom prst="rect">
              <a:avLst/>
            </a:prstGeom>
            <a:solidFill>
              <a:schemeClr val="bg1"/>
            </a:solidFill>
          </p:spPr>
          <p:txBody>
            <a:bodyPr wrap="square" lIns="0" tIns="0" rIns="0" bIns="0" rtlCol="0">
              <a:spAutoFit/>
            </a:bodyPr>
            <a:lstStyle/>
            <a:p>
              <a:pPr algn="ctr" defTabSz="914400">
                <a:defRPr/>
              </a:pPr>
              <a:r>
                <a:rPr lang="en-GB" sz="1200" dirty="0">
                  <a:solidFill>
                    <a:srgbClr val="F36633"/>
                  </a:solidFill>
                  <a:latin typeface="Symbol" pitchFamily="18" charset="2"/>
                </a:rPr>
                <a:t>D</a:t>
              </a:r>
              <a:r>
                <a:rPr lang="en-GB" sz="1200" dirty="0">
                  <a:solidFill>
                    <a:srgbClr val="F36633"/>
                  </a:solidFill>
                  <a:latin typeface="Arial"/>
                </a:rPr>
                <a:t> -2.2 (95% CI: -3.5, -1.0)</a:t>
              </a:r>
            </a:p>
            <a:p>
              <a:pPr algn="ctr" defTabSz="914400">
                <a:defRPr/>
              </a:pPr>
              <a:r>
                <a:rPr lang="en-GB" sz="1200" i="1" dirty="0">
                  <a:solidFill>
                    <a:srgbClr val="F36633"/>
                  </a:solidFill>
                  <a:latin typeface="Arial"/>
                </a:rPr>
                <a:t>P</a:t>
              </a:r>
              <a:r>
                <a:rPr lang="en-GB" sz="1200" dirty="0">
                  <a:solidFill>
                    <a:srgbClr val="F36633"/>
                  </a:solidFill>
                  <a:latin typeface="Arial"/>
                </a:rPr>
                <a:t>&lt;0.001 </a:t>
              </a:r>
            </a:p>
          </p:txBody>
        </p:sp>
      </p:grpSp>
      <p:sp>
        <p:nvSpPr>
          <p:cNvPr id="3" name="ZoneTexte 2">
            <a:extLst>
              <a:ext uri="{FF2B5EF4-FFF2-40B4-BE49-F238E27FC236}">
                <a16:creationId xmlns:a16="http://schemas.microsoft.com/office/drawing/2014/main" id="{59429671-2A95-2A1E-3520-F4DE3D62FA43}"/>
              </a:ext>
            </a:extLst>
          </p:cNvPr>
          <p:cNvSpPr txBox="1"/>
          <p:nvPr/>
        </p:nvSpPr>
        <p:spPr>
          <a:xfrm>
            <a:off x="893690" y="5905284"/>
            <a:ext cx="10404618" cy="338554"/>
          </a:xfrm>
          <a:prstGeom prst="rect">
            <a:avLst/>
          </a:prstGeom>
          <a:noFill/>
        </p:spPr>
        <p:txBody>
          <a:bodyPr wrap="square">
            <a:spAutoFit/>
          </a:bodyPr>
          <a:lstStyle/>
          <a:p>
            <a:r>
              <a:rPr lang="fr-FR" sz="800" dirty="0"/>
              <a:t>BUD, </a:t>
            </a:r>
            <a:r>
              <a:rPr lang="fr-FR" sz="800" dirty="0" err="1"/>
              <a:t>budesonide</a:t>
            </a:r>
            <a:r>
              <a:rPr lang="fr-FR" sz="800" dirty="0"/>
              <a:t>; CI, confidence </a:t>
            </a:r>
            <a:r>
              <a:rPr lang="fr-FR" sz="800" dirty="0" err="1"/>
              <a:t>interval</a:t>
            </a:r>
            <a:r>
              <a:rPr lang="fr-FR" sz="800" dirty="0"/>
              <a:t>; COPD, </a:t>
            </a:r>
            <a:r>
              <a:rPr lang="fr-FR" sz="800" dirty="0" err="1"/>
              <a:t>chronic</a:t>
            </a:r>
            <a:r>
              <a:rPr lang="fr-FR" sz="800" dirty="0"/>
              <a:t> obstructive </a:t>
            </a:r>
            <a:r>
              <a:rPr lang="fr-FR" sz="800" dirty="0" err="1"/>
              <a:t>pulmonary</a:t>
            </a:r>
            <a:r>
              <a:rPr lang="fr-FR" sz="800" dirty="0"/>
              <a:t> </a:t>
            </a:r>
            <a:r>
              <a:rPr lang="fr-FR" sz="800" dirty="0" err="1"/>
              <a:t>disease</a:t>
            </a:r>
            <a:r>
              <a:rPr lang="fr-FR" sz="800" dirty="0"/>
              <a:t>; FEV1, </a:t>
            </a:r>
            <a:r>
              <a:rPr lang="fr-FR" sz="800" dirty="0" err="1"/>
              <a:t>forced</a:t>
            </a:r>
            <a:r>
              <a:rPr lang="fr-FR" sz="800" dirty="0"/>
              <a:t> </a:t>
            </a:r>
            <a:r>
              <a:rPr lang="fr-FR" sz="800" dirty="0" err="1"/>
              <a:t>expiratory</a:t>
            </a:r>
            <a:r>
              <a:rPr lang="fr-FR" sz="800" dirty="0"/>
              <a:t> volume in 1 second;</a:t>
            </a:r>
            <a:br>
              <a:rPr lang="fr-FR" sz="800" dirty="0"/>
            </a:br>
            <a:r>
              <a:rPr lang="fr-FR" sz="800" dirty="0"/>
              <a:t>FF, fluticasone </a:t>
            </a:r>
            <a:r>
              <a:rPr lang="fr-FR" sz="800" dirty="0" err="1"/>
              <a:t>furoate</a:t>
            </a:r>
            <a:r>
              <a:rPr lang="fr-FR" sz="800" dirty="0"/>
              <a:t>; FOR, </a:t>
            </a:r>
            <a:r>
              <a:rPr lang="fr-FR" sz="800" dirty="0" err="1"/>
              <a:t>formoterol</a:t>
            </a:r>
            <a:r>
              <a:rPr lang="fr-FR" sz="800" dirty="0"/>
              <a:t>; ICS, </a:t>
            </a:r>
            <a:r>
              <a:rPr lang="fr-FR" sz="800" dirty="0" err="1"/>
              <a:t>inhaled</a:t>
            </a:r>
            <a:r>
              <a:rPr lang="fr-FR" sz="800" dirty="0"/>
              <a:t> </a:t>
            </a:r>
            <a:r>
              <a:rPr lang="fr-FR" sz="800" dirty="0" err="1"/>
              <a:t>corticosteroid</a:t>
            </a:r>
            <a:r>
              <a:rPr lang="fr-FR" sz="800" dirty="0"/>
              <a:t>; LABA, long-acting </a:t>
            </a:r>
            <a:r>
              <a:rPr lang="el-GR" sz="800" dirty="0"/>
              <a:t>β </a:t>
            </a:r>
            <a:r>
              <a:rPr lang="fr-FR" sz="800" dirty="0" err="1"/>
              <a:t>adrenoceptor</a:t>
            </a:r>
            <a:r>
              <a:rPr lang="fr-FR" sz="800" dirty="0"/>
              <a:t> </a:t>
            </a:r>
            <a:r>
              <a:rPr lang="fr-FR" sz="800" dirty="0" err="1"/>
              <a:t>agonists</a:t>
            </a:r>
            <a:r>
              <a:rPr lang="fr-FR" sz="800" dirty="0"/>
              <a:t>; UMEC, </a:t>
            </a:r>
            <a:r>
              <a:rPr lang="fr-FR" sz="800" dirty="0" err="1"/>
              <a:t>umeclidinium</a:t>
            </a:r>
            <a:r>
              <a:rPr lang="fr-FR" sz="800" dirty="0"/>
              <a:t>; VI, </a:t>
            </a:r>
            <a:r>
              <a:rPr lang="fr-FR" sz="800" dirty="0" err="1"/>
              <a:t>vilanterol</a:t>
            </a:r>
            <a:endParaRPr lang="fr-FR" sz="800" dirty="0"/>
          </a:p>
        </p:txBody>
      </p:sp>
      <p:sp>
        <p:nvSpPr>
          <p:cNvPr id="8" name="Slide Number Placeholder 4">
            <a:extLst>
              <a:ext uri="{FF2B5EF4-FFF2-40B4-BE49-F238E27FC236}">
                <a16:creationId xmlns:a16="http://schemas.microsoft.com/office/drawing/2014/main" id="{A622F044-6C2C-8D1F-378C-F3D6E9AC79CB}"/>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12</a:t>
            </a:fld>
            <a:endParaRPr lang="en-GB" sz="1000" dirty="0">
              <a:solidFill>
                <a:srgbClr val="000000"/>
              </a:solidFill>
              <a:latin typeface="Arial"/>
              <a:cs typeface="Noto Sans"/>
            </a:endParaRPr>
          </a:p>
        </p:txBody>
      </p:sp>
    </p:spTree>
    <p:extLst>
      <p:ext uri="{BB962C8B-B14F-4D97-AF65-F5344CB8AC3E}">
        <p14:creationId xmlns:p14="http://schemas.microsoft.com/office/powerpoint/2010/main" val="4906072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2609" y="957228"/>
            <a:ext cx="10102852" cy="338554"/>
          </a:xfrm>
        </p:spPr>
        <p:txBody>
          <a:bodyPr vert="horz" lIns="0" tIns="0" rIns="0" bIns="720000" rtlCol="0" anchor="b" anchorCtr="0">
            <a:noAutofit/>
          </a:bodyPr>
          <a:lstStyle/>
          <a:p>
            <a:r>
              <a:rPr lang="en-US" sz="2400" dirty="0"/>
              <a:t>Once-daily single-inhaler triple therapy (FF/UMEC/VI) in COPD significantly improved QoL vs BD </a:t>
            </a:r>
            <a:r>
              <a:rPr lang="en-GB" sz="2400" dirty="0"/>
              <a:t>BUD/FOR </a:t>
            </a:r>
            <a:endParaRPr lang="en-US" sz="2400" dirty="0"/>
          </a:p>
        </p:txBody>
      </p:sp>
      <p:sp>
        <p:nvSpPr>
          <p:cNvPr id="40" name="Text Placeholder 25"/>
          <p:cNvSpPr>
            <a:spLocks noGrp="1"/>
          </p:cNvSpPr>
          <p:nvPr>
            <p:ph type="body" sz="quarter" idx="14"/>
          </p:nvPr>
        </p:nvSpPr>
        <p:spPr>
          <a:xfrm>
            <a:off x="452609" y="810918"/>
            <a:ext cx="10130368" cy="234950"/>
          </a:xfrm>
        </p:spPr>
        <p:txBody>
          <a:bodyPr/>
          <a:lstStyle/>
          <a:p>
            <a:r>
              <a:rPr lang="en-US" sz="2000" b="1" i="0" dirty="0"/>
              <a:t>SGRQ total score &amp; SGRQ </a:t>
            </a:r>
            <a:r>
              <a:rPr lang="en-US" sz="2000" b="1" i="0" u="sng" dirty="0"/>
              <a:t>responders</a:t>
            </a:r>
            <a:r>
              <a:rPr lang="en-US" sz="2000" b="1" i="0" dirty="0"/>
              <a:t> in FULFIL</a:t>
            </a:r>
            <a:endParaRPr lang="en-US" sz="2000" b="1" i="0" baseline="30000" dirty="0"/>
          </a:p>
          <a:p>
            <a:endParaRPr lang="en-US" sz="2000" b="1" i="0" dirty="0"/>
          </a:p>
        </p:txBody>
      </p:sp>
      <p:sp>
        <p:nvSpPr>
          <p:cNvPr id="2" name="Text Placeholder 1"/>
          <p:cNvSpPr>
            <a:spLocks noGrp="1"/>
          </p:cNvSpPr>
          <p:nvPr>
            <p:ph type="body" sz="quarter" idx="19"/>
          </p:nvPr>
        </p:nvSpPr>
        <p:spPr>
          <a:xfrm>
            <a:off x="366712" y="6230271"/>
            <a:ext cx="10894909" cy="494321"/>
          </a:xfrm>
        </p:spPr>
        <p:txBody>
          <a:bodyPr/>
          <a:lstStyle/>
          <a:p>
            <a:pPr algn="r"/>
            <a:r>
              <a:rPr lang="en-US" sz="1000" dirty="0">
                <a:latin typeface="Calibri" panose="020F0502020204030204" pitchFamily="34" charset="0"/>
                <a:cs typeface="Calibri" panose="020F0502020204030204" pitchFamily="34" charset="0"/>
              </a:rPr>
              <a:t>Lipson DA </a:t>
            </a:r>
            <a:r>
              <a:rPr lang="en-US" sz="1000" i="1" dirty="0">
                <a:latin typeface="Calibri" panose="020F0502020204030204" pitchFamily="34" charset="0"/>
                <a:cs typeface="Calibri" panose="020F0502020204030204" pitchFamily="34" charset="0"/>
              </a:rPr>
              <a:t>et al.</a:t>
            </a:r>
            <a:r>
              <a:rPr lang="en-US" sz="1000" dirty="0">
                <a:latin typeface="Calibri" panose="020F0502020204030204" pitchFamily="34" charset="0"/>
                <a:cs typeface="Calibri" panose="020F0502020204030204" pitchFamily="34" charset="0"/>
              </a:rPr>
              <a:t> </a:t>
            </a:r>
            <a:r>
              <a:rPr lang="en-US" sz="1000" i="1" dirty="0">
                <a:latin typeface="Calibri" panose="020F0502020204030204" pitchFamily="34" charset="0"/>
                <a:cs typeface="Calibri" panose="020F0502020204030204" pitchFamily="34" charset="0"/>
              </a:rPr>
              <a:t>Am J </a:t>
            </a:r>
            <a:r>
              <a:rPr lang="en-US" sz="1000" i="1" dirty="0" err="1">
                <a:latin typeface="Calibri" panose="020F0502020204030204" pitchFamily="34" charset="0"/>
                <a:cs typeface="Calibri" panose="020F0502020204030204" pitchFamily="34" charset="0"/>
              </a:rPr>
              <a:t>Resp</a:t>
            </a:r>
            <a:r>
              <a:rPr lang="en-US" sz="1000" i="1" dirty="0">
                <a:latin typeface="Calibri" panose="020F0502020204030204" pitchFamily="34" charset="0"/>
                <a:cs typeface="Calibri" panose="020F0502020204030204" pitchFamily="34" charset="0"/>
              </a:rPr>
              <a:t> </a:t>
            </a:r>
            <a:r>
              <a:rPr lang="en-US" sz="1000" i="1" dirty="0" err="1">
                <a:latin typeface="Calibri" panose="020F0502020204030204" pitchFamily="34" charset="0"/>
                <a:cs typeface="Calibri" panose="020F0502020204030204" pitchFamily="34" charset="0"/>
              </a:rPr>
              <a:t>Crit</a:t>
            </a:r>
            <a:r>
              <a:rPr lang="en-US" sz="1000" i="1" dirty="0">
                <a:latin typeface="Calibri" panose="020F0502020204030204" pitchFamily="34" charset="0"/>
                <a:cs typeface="Calibri" panose="020F0502020204030204" pitchFamily="34" charset="0"/>
              </a:rPr>
              <a:t> Care. </a:t>
            </a:r>
            <a:r>
              <a:rPr lang="en-US" sz="1000" dirty="0">
                <a:latin typeface="Calibri" panose="020F0502020204030204" pitchFamily="34" charset="0"/>
                <a:cs typeface="Calibri" panose="020F0502020204030204" pitchFamily="34" charset="0"/>
              </a:rPr>
              <a:t>2017; 196:438–446.</a:t>
            </a:r>
            <a:endParaRPr lang="en-GB" sz="1000" dirty="0">
              <a:latin typeface="Calibri" panose="020F0502020204030204" pitchFamily="34" charset="0"/>
              <a:cs typeface="Calibri" panose="020F0502020204030204" pitchFamily="34" charset="0"/>
            </a:endParaRPr>
          </a:p>
        </p:txBody>
      </p:sp>
      <p:graphicFrame>
        <p:nvGraphicFramePr>
          <p:cNvPr id="35" name="Content Placeholder 8"/>
          <p:cNvGraphicFramePr>
            <a:graphicFrameLocks/>
          </p:cNvGraphicFramePr>
          <p:nvPr>
            <p:extLst>
              <p:ext uri="{D42A27DB-BD31-4B8C-83A1-F6EECF244321}">
                <p14:modId xmlns:p14="http://schemas.microsoft.com/office/powerpoint/2010/main" val="32812716"/>
              </p:ext>
            </p:extLst>
          </p:nvPr>
        </p:nvGraphicFramePr>
        <p:xfrm>
          <a:off x="1668633" y="2258622"/>
          <a:ext cx="4577182" cy="420306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9" name="Content Placeholder 7"/>
          <p:cNvGraphicFramePr>
            <a:graphicFrameLocks/>
          </p:cNvGraphicFramePr>
          <p:nvPr>
            <p:extLst>
              <p:ext uri="{D42A27DB-BD31-4B8C-83A1-F6EECF244321}">
                <p14:modId xmlns:p14="http://schemas.microsoft.com/office/powerpoint/2010/main" val="4009548156"/>
              </p:ext>
            </p:extLst>
          </p:nvPr>
        </p:nvGraphicFramePr>
        <p:xfrm>
          <a:off x="6105241" y="2418083"/>
          <a:ext cx="4181174" cy="3433163"/>
        </p:xfrm>
        <a:graphic>
          <a:graphicData uri="http://schemas.openxmlformats.org/drawingml/2006/chart">
            <c:chart xmlns:c="http://schemas.openxmlformats.org/drawingml/2006/chart" xmlns:r="http://schemas.openxmlformats.org/officeDocument/2006/relationships" r:id="rId4"/>
          </a:graphicData>
        </a:graphic>
      </p:graphicFrame>
      <p:sp>
        <p:nvSpPr>
          <p:cNvPr id="70" name="TextBox 69"/>
          <p:cNvSpPr txBox="1"/>
          <p:nvPr/>
        </p:nvSpPr>
        <p:spPr>
          <a:xfrm>
            <a:off x="2664571" y="5361510"/>
            <a:ext cx="726160" cy="461665"/>
          </a:xfrm>
          <a:prstGeom prst="rect">
            <a:avLst/>
          </a:prstGeom>
          <a:noFill/>
        </p:spPr>
        <p:txBody>
          <a:bodyPr wrap="none" lIns="0" tIns="0" rIns="0" bIns="0" rtlCol="0">
            <a:spAutoFit/>
          </a:bodyPr>
          <a:lstStyle/>
          <a:p>
            <a:pPr algn="ctr" defTabSz="914400">
              <a:defRPr/>
            </a:pPr>
            <a:r>
              <a:rPr lang="en-GB" sz="1000" dirty="0">
                <a:solidFill>
                  <a:srgbClr val="544F40"/>
                </a:solidFill>
                <a:latin typeface="Arial"/>
              </a:rPr>
              <a:t>FF/UMEC/VI</a:t>
            </a:r>
          </a:p>
          <a:p>
            <a:pPr algn="ctr" defTabSz="914400">
              <a:defRPr/>
            </a:pPr>
            <a:r>
              <a:rPr lang="en-GB" sz="1000" dirty="0">
                <a:solidFill>
                  <a:srgbClr val="544F40"/>
                </a:solidFill>
                <a:latin typeface="Arial"/>
              </a:rPr>
              <a:t>100/62.5/25</a:t>
            </a:r>
          </a:p>
          <a:p>
            <a:pPr algn="ctr" defTabSz="914400">
              <a:defRPr/>
            </a:pPr>
            <a:r>
              <a:rPr lang="en-GB" sz="1000" dirty="0">
                <a:solidFill>
                  <a:srgbClr val="544F40"/>
                </a:solidFill>
                <a:latin typeface="Arial"/>
              </a:rPr>
              <a:t>(n=904)</a:t>
            </a:r>
          </a:p>
        </p:txBody>
      </p:sp>
      <p:sp>
        <p:nvSpPr>
          <p:cNvPr id="71" name="TextBox 70"/>
          <p:cNvSpPr txBox="1"/>
          <p:nvPr/>
        </p:nvSpPr>
        <p:spPr>
          <a:xfrm>
            <a:off x="3468893" y="5361510"/>
            <a:ext cx="577081" cy="461665"/>
          </a:xfrm>
          <a:prstGeom prst="rect">
            <a:avLst/>
          </a:prstGeom>
          <a:noFill/>
        </p:spPr>
        <p:txBody>
          <a:bodyPr wrap="none" lIns="0" tIns="0" rIns="0" bIns="0" rtlCol="0">
            <a:spAutoFit/>
          </a:bodyPr>
          <a:lstStyle/>
          <a:p>
            <a:pPr algn="ctr" defTabSz="914400">
              <a:defRPr/>
            </a:pPr>
            <a:r>
              <a:rPr lang="en-GB" sz="1000" dirty="0">
                <a:solidFill>
                  <a:srgbClr val="544F40"/>
                </a:solidFill>
                <a:latin typeface="Arial"/>
              </a:rPr>
              <a:t>BUD/FOR</a:t>
            </a:r>
          </a:p>
          <a:p>
            <a:pPr algn="ctr" defTabSz="914400">
              <a:defRPr/>
            </a:pPr>
            <a:r>
              <a:rPr lang="en-GB" sz="1000" dirty="0">
                <a:solidFill>
                  <a:srgbClr val="544F40"/>
                </a:solidFill>
                <a:latin typeface="Arial"/>
              </a:rPr>
              <a:t>400/12</a:t>
            </a:r>
          </a:p>
          <a:p>
            <a:pPr algn="ctr" defTabSz="914400">
              <a:defRPr/>
            </a:pPr>
            <a:r>
              <a:rPr lang="en-GB" sz="1000" dirty="0">
                <a:solidFill>
                  <a:srgbClr val="544F40"/>
                </a:solidFill>
                <a:latin typeface="Arial"/>
              </a:rPr>
              <a:t>(n=893)</a:t>
            </a:r>
          </a:p>
        </p:txBody>
      </p:sp>
      <p:sp>
        <p:nvSpPr>
          <p:cNvPr id="72" name="TextBox 71"/>
          <p:cNvSpPr txBox="1"/>
          <p:nvPr/>
        </p:nvSpPr>
        <p:spPr>
          <a:xfrm>
            <a:off x="4457600" y="5361510"/>
            <a:ext cx="726160" cy="461665"/>
          </a:xfrm>
          <a:prstGeom prst="rect">
            <a:avLst/>
          </a:prstGeom>
          <a:noFill/>
        </p:spPr>
        <p:txBody>
          <a:bodyPr wrap="none" lIns="0" tIns="0" rIns="0" bIns="0" rtlCol="0">
            <a:spAutoFit/>
          </a:bodyPr>
          <a:lstStyle/>
          <a:p>
            <a:pPr algn="ctr" defTabSz="914400">
              <a:defRPr/>
            </a:pPr>
            <a:r>
              <a:rPr lang="en-GB" sz="1000" dirty="0">
                <a:solidFill>
                  <a:srgbClr val="544F40"/>
                </a:solidFill>
                <a:latin typeface="Arial"/>
              </a:rPr>
              <a:t>FF/UMEC/VI</a:t>
            </a:r>
          </a:p>
          <a:p>
            <a:pPr algn="ctr" defTabSz="914400">
              <a:defRPr/>
            </a:pPr>
            <a:r>
              <a:rPr lang="en-GB" sz="1000" dirty="0">
                <a:solidFill>
                  <a:srgbClr val="544F40"/>
                </a:solidFill>
                <a:latin typeface="Arial"/>
              </a:rPr>
              <a:t>100/62.5/25</a:t>
            </a:r>
          </a:p>
          <a:p>
            <a:pPr algn="ctr" defTabSz="914400">
              <a:defRPr/>
            </a:pPr>
            <a:r>
              <a:rPr lang="en-GB" sz="1000" dirty="0">
                <a:solidFill>
                  <a:srgbClr val="544F40"/>
                </a:solidFill>
                <a:latin typeface="Arial"/>
              </a:rPr>
              <a:t>(n=209)</a:t>
            </a:r>
          </a:p>
        </p:txBody>
      </p:sp>
      <p:sp>
        <p:nvSpPr>
          <p:cNvPr id="73" name="TextBox 72"/>
          <p:cNvSpPr txBox="1"/>
          <p:nvPr/>
        </p:nvSpPr>
        <p:spPr>
          <a:xfrm>
            <a:off x="5261922" y="5361510"/>
            <a:ext cx="577081" cy="461665"/>
          </a:xfrm>
          <a:prstGeom prst="rect">
            <a:avLst/>
          </a:prstGeom>
          <a:noFill/>
        </p:spPr>
        <p:txBody>
          <a:bodyPr wrap="none" lIns="0" tIns="0" rIns="0" bIns="0" rtlCol="0">
            <a:spAutoFit/>
          </a:bodyPr>
          <a:lstStyle/>
          <a:p>
            <a:pPr algn="ctr" defTabSz="914400">
              <a:defRPr/>
            </a:pPr>
            <a:r>
              <a:rPr lang="en-GB" sz="1000" dirty="0">
                <a:solidFill>
                  <a:srgbClr val="544F40"/>
                </a:solidFill>
                <a:latin typeface="Arial"/>
              </a:rPr>
              <a:t>BUD/FOR</a:t>
            </a:r>
          </a:p>
          <a:p>
            <a:pPr algn="ctr" defTabSz="914400">
              <a:defRPr/>
            </a:pPr>
            <a:r>
              <a:rPr lang="en-GB" sz="1000" dirty="0">
                <a:solidFill>
                  <a:srgbClr val="544F40"/>
                </a:solidFill>
                <a:latin typeface="Arial"/>
              </a:rPr>
              <a:t>400/12</a:t>
            </a:r>
          </a:p>
          <a:p>
            <a:pPr algn="ctr" defTabSz="914400">
              <a:defRPr/>
            </a:pPr>
            <a:r>
              <a:rPr lang="en-GB" sz="1000" dirty="0">
                <a:solidFill>
                  <a:srgbClr val="544F40"/>
                </a:solidFill>
                <a:latin typeface="Arial"/>
              </a:rPr>
              <a:t>(n=219)</a:t>
            </a:r>
          </a:p>
        </p:txBody>
      </p:sp>
      <p:sp>
        <p:nvSpPr>
          <p:cNvPr id="74" name="TextBox 73"/>
          <p:cNvSpPr txBox="1"/>
          <p:nvPr/>
        </p:nvSpPr>
        <p:spPr>
          <a:xfrm>
            <a:off x="6824319" y="5279214"/>
            <a:ext cx="726160" cy="461665"/>
          </a:xfrm>
          <a:prstGeom prst="rect">
            <a:avLst/>
          </a:prstGeom>
          <a:noFill/>
        </p:spPr>
        <p:txBody>
          <a:bodyPr wrap="none" lIns="0" tIns="0" rIns="0" bIns="0" rtlCol="0">
            <a:spAutoFit/>
          </a:bodyPr>
          <a:lstStyle/>
          <a:p>
            <a:pPr algn="ctr" defTabSz="914400">
              <a:defRPr/>
            </a:pPr>
            <a:r>
              <a:rPr lang="en-GB" sz="1000" dirty="0">
                <a:solidFill>
                  <a:srgbClr val="544F40"/>
                </a:solidFill>
                <a:latin typeface="Arial"/>
              </a:rPr>
              <a:t>FF/UMEC/VI</a:t>
            </a:r>
          </a:p>
          <a:p>
            <a:pPr algn="ctr" defTabSz="914400">
              <a:defRPr/>
            </a:pPr>
            <a:r>
              <a:rPr lang="en-GB" sz="1000" dirty="0">
                <a:solidFill>
                  <a:srgbClr val="544F40"/>
                </a:solidFill>
                <a:latin typeface="Arial"/>
              </a:rPr>
              <a:t>100/62.5/25</a:t>
            </a:r>
          </a:p>
          <a:p>
            <a:pPr algn="ctr" defTabSz="914400">
              <a:defRPr/>
            </a:pPr>
            <a:r>
              <a:rPr lang="en-GB" sz="1000" dirty="0">
                <a:solidFill>
                  <a:srgbClr val="544F40"/>
                </a:solidFill>
                <a:latin typeface="Arial"/>
              </a:rPr>
              <a:t>(n=846)</a:t>
            </a:r>
          </a:p>
        </p:txBody>
      </p:sp>
      <p:sp>
        <p:nvSpPr>
          <p:cNvPr id="75" name="TextBox 74"/>
          <p:cNvSpPr txBox="1"/>
          <p:nvPr/>
        </p:nvSpPr>
        <p:spPr>
          <a:xfrm>
            <a:off x="7612626" y="5279214"/>
            <a:ext cx="577081" cy="461665"/>
          </a:xfrm>
          <a:prstGeom prst="rect">
            <a:avLst/>
          </a:prstGeom>
          <a:noFill/>
        </p:spPr>
        <p:txBody>
          <a:bodyPr wrap="none" lIns="0" tIns="0" rIns="0" bIns="0" rtlCol="0">
            <a:spAutoFit/>
          </a:bodyPr>
          <a:lstStyle/>
          <a:p>
            <a:pPr algn="ctr" defTabSz="914400">
              <a:defRPr/>
            </a:pPr>
            <a:r>
              <a:rPr lang="en-GB" sz="1000" dirty="0">
                <a:solidFill>
                  <a:srgbClr val="544F40"/>
                </a:solidFill>
                <a:latin typeface="Arial"/>
              </a:rPr>
              <a:t>BUD/FOR</a:t>
            </a:r>
          </a:p>
          <a:p>
            <a:pPr algn="ctr" defTabSz="914400">
              <a:defRPr/>
            </a:pPr>
            <a:r>
              <a:rPr lang="en-GB" sz="1000" dirty="0">
                <a:solidFill>
                  <a:srgbClr val="544F40"/>
                </a:solidFill>
                <a:latin typeface="Arial"/>
              </a:rPr>
              <a:t>400/12</a:t>
            </a:r>
          </a:p>
          <a:p>
            <a:pPr algn="ctr" defTabSz="914400">
              <a:defRPr/>
            </a:pPr>
            <a:r>
              <a:rPr lang="en-GB" sz="1000" dirty="0">
                <a:solidFill>
                  <a:srgbClr val="544F40"/>
                </a:solidFill>
                <a:latin typeface="Arial"/>
              </a:rPr>
              <a:t>(n=791)</a:t>
            </a:r>
          </a:p>
        </p:txBody>
      </p:sp>
      <p:sp>
        <p:nvSpPr>
          <p:cNvPr id="76" name="TextBox 75"/>
          <p:cNvSpPr txBox="1"/>
          <p:nvPr/>
        </p:nvSpPr>
        <p:spPr>
          <a:xfrm>
            <a:off x="8794069" y="5261376"/>
            <a:ext cx="726160" cy="461665"/>
          </a:xfrm>
          <a:prstGeom prst="rect">
            <a:avLst/>
          </a:prstGeom>
          <a:noFill/>
        </p:spPr>
        <p:txBody>
          <a:bodyPr wrap="none" lIns="0" tIns="0" rIns="0" bIns="0" rtlCol="0">
            <a:spAutoFit/>
          </a:bodyPr>
          <a:lstStyle/>
          <a:p>
            <a:pPr algn="ctr" defTabSz="914400">
              <a:defRPr/>
            </a:pPr>
            <a:r>
              <a:rPr lang="en-GB" sz="1000" dirty="0">
                <a:solidFill>
                  <a:srgbClr val="544F40"/>
                </a:solidFill>
                <a:latin typeface="Arial"/>
              </a:rPr>
              <a:t>FF/UMEC/VI</a:t>
            </a:r>
          </a:p>
          <a:p>
            <a:pPr algn="ctr" defTabSz="914400">
              <a:defRPr/>
            </a:pPr>
            <a:r>
              <a:rPr lang="en-GB" sz="1000" dirty="0">
                <a:solidFill>
                  <a:srgbClr val="544F40"/>
                </a:solidFill>
                <a:latin typeface="Arial"/>
              </a:rPr>
              <a:t>100/62.5/25</a:t>
            </a:r>
          </a:p>
          <a:p>
            <a:pPr algn="ctr" defTabSz="914400">
              <a:defRPr/>
            </a:pPr>
            <a:r>
              <a:rPr lang="en-GB" sz="1000" dirty="0">
                <a:solidFill>
                  <a:srgbClr val="544F40"/>
                </a:solidFill>
                <a:latin typeface="Arial"/>
              </a:rPr>
              <a:t>(n=182)</a:t>
            </a:r>
          </a:p>
        </p:txBody>
      </p:sp>
      <p:sp>
        <p:nvSpPr>
          <p:cNvPr id="77" name="TextBox 76"/>
          <p:cNvSpPr txBox="1"/>
          <p:nvPr/>
        </p:nvSpPr>
        <p:spPr>
          <a:xfrm>
            <a:off x="9620813" y="5261376"/>
            <a:ext cx="577081" cy="461665"/>
          </a:xfrm>
          <a:prstGeom prst="rect">
            <a:avLst/>
          </a:prstGeom>
          <a:noFill/>
        </p:spPr>
        <p:txBody>
          <a:bodyPr wrap="none" lIns="0" tIns="0" rIns="0" bIns="0" rtlCol="0">
            <a:spAutoFit/>
          </a:bodyPr>
          <a:lstStyle/>
          <a:p>
            <a:pPr algn="ctr" defTabSz="914400">
              <a:defRPr/>
            </a:pPr>
            <a:r>
              <a:rPr lang="en-GB" sz="1000" dirty="0">
                <a:solidFill>
                  <a:srgbClr val="544F40"/>
                </a:solidFill>
                <a:latin typeface="Arial"/>
              </a:rPr>
              <a:t>BUD/FOR</a:t>
            </a:r>
          </a:p>
          <a:p>
            <a:pPr algn="ctr" defTabSz="914400">
              <a:defRPr/>
            </a:pPr>
            <a:r>
              <a:rPr lang="en-GB" sz="1000" dirty="0">
                <a:solidFill>
                  <a:srgbClr val="544F40"/>
                </a:solidFill>
                <a:latin typeface="Arial"/>
              </a:rPr>
              <a:t>400/12</a:t>
            </a:r>
          </a:p>
          <a:p>
            <a:pPr algn="ctr" defTabSz="914400">
              <a:defRPr/>
            </a:pPr>
            <a:r>
              <a:rPr lang="en-GB" sz="1000" dirty="0">
                <a:solidFill>
                  <a:srgbClr val="544F40"/>
                </a:solidFill>
                <a:latin typeface="Arial"/>
              </a:rPr>
              <a:t>(n=174)</a:t>
            </a:r>
          </a:p>
        </p:txBody>
      </p:sp>
      <p:sp>
        <p:nvSpPr>
          <p:cNvPr id="81" name="TextBox 80"/>
          <p:cNvSpPr txBox="1"/>
          <p:nvPr/>
        </p:nvSpPr>
        <p:spPr>
          <a:xfrm>
            <a:off x="2382145" y="1925202"/>
            <a:ext cx="1440000" cy="288000"/>
          </a:xfrm>
          <a:prstGeom prst="roundRect">
            <a:avLst/>
          </a:prstGeom>
          <a:solidFill>
            <a:schemeClr val="tx2"/>
          </a:solidFill>
          <a:ln>
            <a:noFill/>
          </a:ln>
          <a:effectLst>
            <a:outerShdw blurRad="50800" dist="38100" dir="2700000" algn="tl" rotWithShape="0">
              <a:prstClr val="black">
                <a:alpha val="40000"/>
              </a:prstClr>
            </a:outerShdw>
          </a:effectLst>
        </p:spPr>
        <p:txBody>
          <a:bodyPr wrap="none" lIns="0" tIns="0" rIns="0" bIns="0" rtlCol="0" anchor="ctr" anchorCtr="0">
            <a:noAutofit/>
          </a:bodyPr>
          <a:lstStyle/>
          <a:p>
            <a:pPr algn="ctr" defTabSz="914400">
              <a:defRPr/>
            </a:pPr>
            <a:r>
              <a:rPr lang="en-GB" sz="1200" b="1" dirty="0">
                <a:solidFill>
                  <a:srgbClr val="FFFFFF"/>
                </a:solidFill>
                <a:latin typeface="Arial"/>
              </a:rPr>
              <a:t>Up to 24 weeks</a:t>
            </a:r>
          </a:p>
        </p:txBody>
      </p:sp>
      <p:sp>
        <p:nvSpPr>
          <p:cNvPr id="82" name="TextBox 81"/>
          <p:cNvSpPr txBox="1"/>
          <p:nvPr/>
        </p:nvSpPr>
        <p:spPr>
          <a:xfrm>
            <a:off x="4373829" y="1925202"/>
            <a:ext cx="1440000" cy="288000"/>
          </a:xfrm>
          <a:prstGeom prst="roundRect">
            <a:avLst/>
          </a:prstGeom>
          <a:solidFill>
            <a:schemeClr val="tx2"/>
          </a:solidFill>
          <a:ln>
            <a:noFill/>
          </a:ln>
          <a:effectLst>
            <a:outerShdw blurRad="50800" dist="38100" dir="2700000" algn="tl" rotWithShape="0">
              <a:prstClr val="black">
                <a:alpha val="40000"/>
              </a:prstClr>
            </a:outerShdw>
          </a:effectLst>
        </p:spPr>
        <p:txBody>
          <a:bodyPr wrap="none" lIns="0" tIns="0" rIns="0" bIns="0" rtlCol="0" anchor="ctr" anchorCtr="0">
            <a:noAutofit/>
          </a:bodyPr>
          <a:lstStyle/>
          <a:p>
            <a:pPr algn="ctr" defTabSz="914400">
              <a:defRPr/>
            </a:pPr>
            <a:r>
              <a:rPr lang="en-GB" sz="1200" b="1" dirty="0">
                <a:solidFill>
                  <a:srgbClr val="FFFFFF"/>
                </a:solidFill>
                <a:latin typeface="Arial"/>
              </a:rPr>
              <a:t>Up to 52 weeks</a:t>
            </a:r>
          </a:p>
        </p:txBody>
      </p:sp>
      <p:sp>
        <p:nvSpPr>
          <p:cNvPr id="83" name="TextBox 82"/>
          <p:cNvSpPr txBox="1"/>
          <p:nvPr/>
        </p:nvSpPr>
        <p:spPr>
          <a:xfrm>
            <a:off x="2525493" y="2324284"/>
            <a:ext cx="1555134" cy="190821"/>
          </a:xfrm>
          <a:prstGeom prst="rect">
            <a:avLst/>
          </a:prstGeom>
          <a:solidFill>
            <a:schemeClr val="bg1"/>
          </a:solidFill>
        </p:spPr>
        <p:txBody>
          <a:bodyPr wrap="square" lIns="0" tIns="18288" rIns="0" bIns="18288" rtlCol="0">
            <a:spAutoFit/>
          </a:bodyPr>
          <a:lstStyle/>
          <a:p>
            <a:pPr defTabSz="914400">
              <a:defRPr/>
            </a:pPr>
            <a:r>
              <a:rPr lang="en-GB" sz="1000" dirty="0">
                <a:solidFill>
                  <a:srgbClr val="544F40"/>
                </a:solidFill>
                <a:latin typeface="Arial"/>
              </a:rPr>
              <a:t>OR 1.41; 95% CI 1.16, 1.70</a:t>
            </a:r>
            <a:endParaRPr lang="en-GB" sz="1000" b="1" dirty="0">
              <a:solidFill>
                <a:srgbClr val="544F40"/>
              </a:solidFill>
              <a:latin typeface="Arial"/>
            </a:endParaRPr>
          </a:p>
        </p:txBody>
      </p:sp>
      <p:sp>
        <p:nvSpPr>
          <p:cNvPr id="84" name="TextBox 83"/>
          <p:cNvSpPr txBox="1"/>
          <p:nvPr/>
        </p:nvSpPr>
        <p:spPr>
          <a:xfrm>
            <a:off x="4295858" y="2324284"/>
            <a:ext cx="1603713" cy="190821"/>
          </a:xfrm>
          <a:prstGeom prst="rect">
            <a:avLst/>
          </a:prstGeom>
          <a:solidFill>
            <a:schemeClr val="bg1"/>
          </a:solidFill>
        </p:spPr>
        <p:txBody>
          <a:bodyPr wrap="square" lIns="0" tIns="18288" rIns="0" bIns="18288" rtlCol="0">
            <a:spAutoFit/>
          </a:bodyPr>
          <a:lstStyle/>
          <a:p>
            <a:pPr defTabSz="914400">
              <a:defRPr/>
            </a:pPr>
            <a:r>
              <a:rPr lang="en-GB" sz="1000" dirty="0">
                <a:solidFill>
                  <a:srgbClr val="544F40"/>
                </a:solidFill>
                <a:latin typeface="Arial"/>
              </a:rPr>
              <a:t>OR 1.50; 95% CI 1.01, 2.24</a:t>
            </a:r>
            <a:endParaRPr lang="en-GB" sz="1000" b="1" dirty="0">
              <a:solidFill>
                <a:srgbClr val="544F40"/>
              </a:solidFill>
              <a:latin typeface="Arial"/>
            </a:endParaRPr>
          </a:p>
        </p:txBody>
      </p:sp>
      <p:sp>
        <p:nvSpPr>
          <p:cNvPr id="85" name="TextBox 84"/>
          <p:cNvSpPr txBox="1"/>
          <p:nvPr/>
        </p:nvSpPr>
        <p:spPr>
          <a:xfrm>
            <a:off x="6760311" y="1925202"/>
            <a:ext cx="1440000" cy="288000"/>
          </a:xfrm>
          <a:prstGeom prst="roundRect">
            <a:avLst/>
          </a:prstGeom>
          <a:solidFill>
            <a:schemeClr val="tx2"/>
          </a:solidFill>
          <a:ln>
            <a:noFill/>
          </a:ln>
          <a:effectLst>
            <a:outerShdw blurRad="50800" dist="38100" dir="2700000" algn="tl" rotWithShape="0">
              <a:prstClr val="black">
                <a:alpha val="40000"/>
              </a:prstClr>
            </a:outerShdw>
          </a:effectLst>
        </p:spPr>
        <p:txBody>
          <a:bodyPr wrap="none" lIns="0" tIns="0" rIns="0" bIns="0" rtlCol="0" anchor="ctr" anchorCtr="0">
            <a:noAutofit/>
          </a:bodyPr>
          <a:lstStyle/>
          <a:p>
            <a:pPr algn="ctr" defTabSz="914400">
              <a:defRPr/>
            </a:pPr>
            <a:r>
              <a:rPr lang="en-GB" sz="1200" b="1" dirty="0">
                <a:solidFill>
                  <a:srgbClr val="FFFFFF"/>
                </a:solidFill>
                <a:latin typeface="Arial"/>
              </a:rPr>
              <a:t>Up to 24 weeks</a:t>
            </a:r>
          </a:p>
        </p:txBody>
      </p:sp>
      <p:sp>
        <p:nvSpPr>
          <p:cNvPr id="86" name="TextBox 85"/>
          <p:cNvSpPr txBox="1"/>
          <p:nvPr/>
        </p:nvSpPr>
        <p:spPr>
          <a:xfrm>
            <a:off x="6710255" y="2247338"/>
            <a:ext cx="1561936" cy="344710"/>
          </a:xfrm>
          <a:prstGeom prst="rect">
            <a:avLst/>
          </a:prstGeom>
          <a:solidFill>
            <a:schemeClr val="bg1"/>
          </a:solidFill>
        </p:spPr>
        <p:txBody>
          <a:bodyPr wrap="square" lIns="0" tIns="18288" rIns="0" bIns="18288" rtlCol="0">
            <a:spAutoFit/>
          </a:bodyPr>
          <a:lstStyle/>
          <a:p>
            <a:pPr algn="ctr" defTabSz="914400">
              <a:defRPr/>
            </a:pPr>
            <a:r>
              <a:rPr lang="en-GB" sz="1000" dirty="0">
                <a:solidFill>
                  <a:srgbClr val="544F40"/>
                </a:solidFill>
                <a:latin typeface="Symbol" pitchFamily="18" charset="2"/>
              </a:rPr>
              <a:t>D</a:t>
            </a:r>
            <a:r>
              <a:rPr lang="en-GB" sz="1000" dirty="0">
                <a:solidFill>
                  <a:srgbClr val="544F40"/>
                </a:solidFill>
                <a:latin typeface="Arial"/>
              </a:rPr>
              <a:t> –2.2 (95% CI, –3.5, –1.0) </a:t>
            </a:r>
          </a:p>
          <a:p>
            <a:pPr algn="ctr" defTabSz="914400">
              <a:defRPr/>
            </a:pPr>
            <a:r>
              <a:rPr lang="en-GB" sz="1000" i="1" dirty="0">
                <a:solidFill>
                  <a:srgbClr val="544F40"/>
                </a:solidFill>
                <a:latin typeface="Arial"/>
              </a:rPr>
              <a:t>P</a:t>
            </a:r>
            <a:r>
              <a:rPr lang="en-GB" sz="1000" dirty="0">
                <a:solidFill>
                  <a:srgbClr val="544F40"/>
                </a:solidFill>
                <a:latin typeface="Arial"/>
              </a:rPr>
              <a:t>&lt;0.001</a:t>
            </a:r>
          </a:p>
        </p:txBody>
      </p:sp>
      <p:sp>
        <p:nvSpPr>
          <p:cNvPr id="87" name="TextBox 86"/>
          <p:cNvSpPr txBox="1"/>
          <p:nvPr/>
        </p:nvSpPr>
        <p:spPr>
          <a:xfrm>
            <a:off x="8792690" y="1925202"/>
            <a:ext cx="1440000" cy="288000"/>
          </a:xfrm>
          <a:prstGeom prst="roundRect">
            <a:avLst/>
          </a:prstGeom>
          <a:solidFill>
            <a:schemeClr val="tx2"/>
          </a:solidFill>
          <a:ln>
            <a:noFill/>
          </a:ln>
          <a:effectLst>
            <a:outerShdw blurRad="50800" dist="38100" dir="2700000" algn="tl" rotWithShape="0">
              <a:prstClr val="black">
                <a:alpha val="40000"/>
              </a:prstClr>
            </a:outerShdw>
          </a:effectLst>
        </p:spPr>
        <p:txBody>
          <a:bodyPr wrap="none" lIns="0" tIns="0" rIns="0" bIns="0" rtlCol="0" anchor="ctr" anchorCtr="0">
            <a:noAutofit/>
          </a:bodyPr>
          <a:lstStyle/>
          <a:p>
            <a:pPr algn="ctr" defTabSz="914400">
              <a:defRPr/>
            </a:pPr>
            <a:r>
              <a:rPr lang="en-GB" sz="1200" b="1" dirty="0">
                <a:solidFill>
                  <a:srgbClr val="FFFFFF"/>
                </a:solidFill>
                <a:latin typeface="Arial"/>
              </a:rPr>
              <a:t>Up to 52 weeks</a:t>
            </a:r>
          </a:p>
        </p:txBody>
      </p:sp>
      <p:sp>
        <p:nvSpPr>
          <p:cNvPr id="88" name="TextBox 87"/>
          <p:cNvSpPr txBox="1"/>
          <p:nvPr/>
        </p:nvSpPr>
        <p:spPr>
          <a:xfrm>
            <a:off x="8729366" y="2247338"/>
            <a:ext cx="1539121" cy="344710"/>
          </a:xfrm>
          <a:prstGeom prst="rect">
            <a:avLst/>
          </a:prstGeom>
          <a:solidFill>
            <a:schemeClr val="bg1"/>
          </a:solidFill>
        </p:spPr>
        <p:txBody>
          <a:bodyPr wrap="square" lIns="0" tIns="18288" rIns="0" bIns="18288" rtlCol="0">
            <a:spAutoFit/>
          </a:bodyPr>
          <a:lstStyle/>
          <a:p>
            <a:pPr algn="ctr" defTabSz="914400">
              <a:defRPr/>
            </a:pPr>
            <a:r>
              <a:rPr lang="en-GB" sz="1000" dirty="0">
                <a:solidFill>
                  <a:srgbClr val="544F40"/>
                </a:solidFill>
                <a:latin typeface="Symbol" pitchFamily="18" charset="2"/>
              </a:rPr>
              <a:t>D</a:t>
            </a:r>
            <a:r>
              <a:rPr lang="en-GB" sz="1000" dirty="0">
                <a:solidFill>
                  <a:srgbClr val="544F40"/>
                </a:solidFill>
                <a:latin typeface="Arial"/>
              </a:rPr>
              <a:t> –2.7 (95% CI, –5.5, 0.2) </a:t>
            </a:r>
            <a:r>
              <a:rPr lang="en-GB" sz="1000" i="1" dirty="0">
                <a:solidFill>
                  <a:srgbClr val="544F40"/>
                </a:solidFill>
                <a:latin typeface="Arial"/>
              </a:rPr>
              <a:t>P</a:t>
            </a:r>
            <a:r>
              <a:rPr lang="en-GB" sz="1000" dirty="0">
                <a:solidFill>
                  <a:srgbClr val="544F40"/>
                </a:solidFill>
                <a:latin typeface="Arial"/>
              </a:rPr>
              <a:t>&lt;0.065 </a:t>
            </a:r>
          </a:p>
        </p:txBody>
      </p:sp>
      <p:sp>
        <p:nvSpPr>
          <p:cNvPr id="36" name="TextBox 35"/>
          <p:cNvSpPr txBox="1"/>
          <p:nvPr/>
        </p:nvSpPr>
        <p:spPr>
          <a:xfrm>
            <a:off x="1926728" y="1361349"/>
            <a:ext cx="4140000" cy="468000"/>
          </a:xfrm>
          <a:prstGeom prst="roundRect">
            <a:avLst/>
          </a:prstGeom>
          <a:solidFill>
            <a:schemeClr val="bg2"/>
          </a:solidFill>
          <a:effectLst>
            <a:outerShdw blurRad="50800" dist="38100" dir="2700000" algn="tl" rotWithShape="0">
              <a:prstClr val="black">
                <a:alpha val="40000"/>
              </a:prstClr>
            </a:outerShdw>
          </a:effectLst>
        </p:spPr>
        <p:txBody>
          <a:bodyPr wrap="square" lIns="0" tIns="0" rIns="0" bIns="0" rtlCol="0" anchor="ctr" anchorCtr="0">
            <a:noAutofit/>
          </a:bodyPr>
          <a:lstStyle/>
          <a:p>
            <a:pPr algn="ctr" defTabSz="914400">
              <a:defRPr/>
            </a:pPr>
            <a:r>
              <a:rPr lang="en-GB" sz="1400" b="1" kern="0" dirty="0">
                <a:solidFill>
                  <a:srgbClr val="FFFFFF"/>
                </a:solidFill>
                <a:latin typeface="Arial"/>
              </a:rPr>
              <a:t>% SGRQ responders (≥4 unit decrease)</a:t>
            </a:r>
          </a:p>
        </p:txBody>
      </p:sp>
      <p:sp>
        <p:nvSpPr>
          <p:cNvPr id="37" name="TextBox 36"/>
          <p:cNvSpPr txBox="1"/>
          <p:nvPr/>
        </p:nvSpPr>
        <p:spPr>
          <a:xfrm>
            <a:off x="6245815" y="1361349"/>
            <a:ext cx="4140000" cy="468000"/>
          </a:xfrm>
          <a:prstGeom prst="roundRect">
            <a:avLst/>
          </a:prstGeom>
          <a:solidFill>
            <a:schemeClr val="bg2"/>
          </a:solidFill>
          <a:effectLst>
            <a:outerShdw blurRad="50800" dist="38100" dir="2700000" algn="tl" rotWithShape="0">
              <a:prstClr val="black">
                <a:alpha val="40000"/>
              </a:prstClr>
            </a:outerShdw>
          </a:effectLst>
        </p:spPr>
        <p:txBody>
          <a:bodyPr wrap="square" lIns="0" tIns="0" rIns="0" bIns="0" rtlCol="0" anchor="ctr" anchorCtr="0">
            <a:noAutofit/>
          </a:bodyPr>
          <a:lstStyle/>
          <a:p>
            <a:pPr algn="ctr" defTabSz="914400">
              <a:defRPr/>
            </a:pPr>
            <a:r>
              <a:rPr lang="en-GB" sz="1400" b="1" kern="0" dirty="0">
                <a:solidFill>
                  <a:srgbClr val="FFFFFF"/>
                </a:solidFill>
                <a:latin typeface="Arial"/>
              </a:rPr>
              <a:t>LS mean change from</a:t>
            </a:r>
            <a:br>
              <a:rPr lang="en-GB" sz="1400" b="1" kern="0" dirty="0">
                <a:solidFill>
                  <a:srgbClr val="FFFFFF"/>
                </a:solidFill>
                <a:latin typeface="Arial"/>
              </a:rPr>
            </a:br>
            <a:r>
              <a:rPr lang="en-GB" sz="1400" b="1" kern="0" dirty="0">
                <a:solidFill>
                  <a:srgbClr val="FFFFFF"/>
                </a:solidFill>
                <a:latin typeface="Arial"/>
              </a:rPr>
              <a:t>baseline total SGRQ score</a:t>
            </a:r>
          </a:p>
        </p:txBody>
      </p:sp>
      <p:sp>
        <p:nvSpPr>
          <p:cNvPr id="3" name="ZoneTexte 2">
            <a:extLst>
              <a:ext uri="{FF2B5EF4-FFF2-40B4-BE49-F238E27FC236}">
                <a16:creationId xmlns:a16="http://schemas.microsoft.com/office/drawing/2014/main" id="{01C90816-4CFB-0986-D96B-F2CA387E0788}"/>
              </a:ext>
            </a:extLst>
          </p:cNvPr>
          <p:cNvSpPr txBox="1"/>
          <p:nvPr/>
        </p:nvSpPr>
        <p:spPr>
          <a:xfrm>
            <a:off x="1296026" y="5995677"/>
            <a:ext cx="10404618" cy="338554"/>
          </a:xfrm>
          <a:prstGeom prst="rect">
            <a:avLst/>
          </a:prstGeom>
          <a:noFill/>
        </p:spPr>
        <p:txBody>
          <a:bodyPr wrap="square">
            <a:spAutoFit/>
          </a:bodyPr>
          <a:lstStyle/>
          <a:p>
            <a:r>
              <a:rPr lang="fr-FR" sz="800"/>
              <a:t>BUD, budesonide; CI, confidence interval; FF, fluticasone furoate; FOR, formoterol; LS, least squares; OR, odds ratio; QoL, quality of life; </a:t>
            </a:r>
            <a:br>
              <a:rPr lang="fr-FR" sz="800"/>
            </a:br>
            <a:r>
              <a:rPr lang="fr-FR" sz="800"/>
              <a:t>SGRQ, St. George’s Respiratory Questionnaire; UMEC, umeclidinium; VI, vilanterol; FULFIL, lung FUnction and quality of LiFe assessment in COPD with single inhaler trIpLe therapy</a:t>
            </a:r>
            <a:endParaRPr lang="fr-FR" sz="800" dirty="0"/>
          </a:p>
        </p:txBody>
      </p:sp>
      <p:sp>
        <p:nvSpPr>
          <p:cNvPr id="4" name="Slide Number Placeholder 4">
            <a:extLst>
              <a:ext uri="{FF2B5EF4-FFF2-40B4-BE49-F238E27FC236}">
                <a16:creationId xmlns:a16="http://schemas.microsoft.com/office/drawing/2014/main" id="{219DD241-20CC-D11F-7FE4-5EB822DF04EE}"/>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13</a:t>
            </a:fld>
            <a:endParaRPr lang="en-GB" sz="1000" dirty="0">
              <a:solidFill>
                <a:srgbClr val="000000"/>
              </a:solidFill>
              <a:latin typeface="Arial"/>
              <a:cs typeface="Noto Sans"/>
            </a:endParaRPr>
          </a:p>
        </p:txBody>
      </p:sp>
    </p:spTree>
    <p:extLst>
      <p:ext uri="{BB962C8B-B14F-4D97-AF65-F5344CB8AC3E}">
        <p14:creationId xmlns:p14="http://schemas.microsoft.com/office/powerpoint/2010/main" val="1617472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452609" y="957228"/>
            <a:ext cx="10102852" cy="338554"/>
          </a:xfrm>
        </p:spPr>
        <p:txBody>
          <a:bodyPr vert="horz" lIns="0" tIns="0" rIns="0" bIns="720000" rtlCol="0" anchor="b" anchorCtr="0">
            <a:noAutofit/>
          </a:bodyPr>
          <a:lstStyle/>
          <a:p>
            <a:r>
              <a:rPr lang="en-US" sz="2400" dirty="0"/>
              <a:t>Once-daily single-inhaler triple therapy (FF/UMEC/VI) in COPD significantly improved QoL vs BD </a:t>
            </a:r>
            <a:r>
              <a:rPr lang="en-GB" sz="2400" dirty="0"/>
              <a:t>BUD/FOR </a:t>
            </a:r>
            <a:endParaRPr lang="en-US" sz="2400" dirty="0"/>
          </a:p>
        </p:txBody>
      </p:sp>
      <p:sp>
        <p:nvSpPr>
          <p:cNvPr id="40" name="Text Placeholder 25"/>
          <p:cNvSpPr>
            <a:spLocks noGrp="1"/>
          </p:cNvSpPr>
          <p:nvPr>
            <p:ph type="body" sz="quarter" idx="14"/>
          </p:nvPr>
        </p:nvSpPr>
        <p:spPr>
          <a:xfrm>
            <a:off x="452609" y="810918"/>
            <a:ext cx="10130368" cy="234950"/>
          </a:xfrm>
        </p:spPr>
        <p:txBody>
          <a:bodyPr/>
          <a:lstStyle/>
          <a:p>
            <a:r>
              <a:rPr lang="fr-FR" sz="2000" b="1" i="0" dirty="0" err="1"/>
              <a:t>HRQoL</a:t>
            </a:r>
            <a:r>
              <a:rPr lang="fr-FR" sz="2000" b="1" i="0" dirty="0"/>
              <a:t> </a:t>
            </a:r>
            <a:r>
              <a:rPr lang="fr-FR" sz="2000" b="1" i="0" dirty="0" err="1"/>
              <a:t>Assessments</a:t>
            </a:r>
            <a:r>
              <a:rPr lang="fr-FR" sz="2000" b="1" i="0" dirty="0"/>
              <a:t> &amp; CAT </a:t>
            </a:r>
            <a:r>
              <a:rPr lang="fr-FR" sz="2000" b="1" i="0" dirty="0" err="1"/>
              <a:t>responders</a:t>
            </a:r>
            <a:r>
              <a:rPr lang="fr-FR" sz="2000" b="1" i="0" dirty="0"/>
              <a:t> </a:t>
            </a:r>
            <a:r>
              <a:rPr lang="en-US" sz="2000" b="1" i="0" dirty="0"/>
              <a:t>in FULFIL</a:t>
            </a:r>
            <a:r>
              <a:rPr lang="fr-FR" sz="2000" b="1" i="0" dirty="0"/>
              <a:t> </a:t>
            </a:r>
            <a:endParaRPr lang="en-US" sz="2000" b="1" i="0" dirty="0"/>
          </a:p>
        </p:txBody>
      </p:sp>
      <p:sp>
        <p:nvSpPr>
          <p:cNvPr id="3" name="ZoneTexte 2">
            <a:extLst>
              <a:ext uri="{FF2B5EF4-FFF2-40B4-BE49-F238E27FC236}">
                <a16:creationId xmlns:a16="http://schemas.microsoft.com/office/drawing/2014/main" id="{01C90816-4CFB-0986-D96B-F2CA387E0788}"/>
              </a:ext>
            </a:extLst>
          </p:cNvPr>
          <p:cNvSpPr txBox="1"/>
          <p:nvPr/>
        </p:nvSpPr>
        <p:spPr>
          <a:xfrm>
            <a:off x="1296026" y="5995677"/>
            <a:ext cx="10404618" cy="338554"/>
          </a:xfrm>
          <a:prstGeom prst="rect">
            <a:avLst/>
          </a:prstGeom>
          <a:noFill/>
        </p:spPr>
        <p:txBody>
          <a:bodyPr wrap="square">
            <a:spAutoFit/>
          </a:bodyPr>
          <a:lstStyle/>
          <a:p>
            <a:r>
              <a:rPr lang="fr-FR" sz="800"/>
              <a:t>BUD, budesonide; CI, confidence interval; FF, fluticasone furoate; FOR, formoterol; LS, least squares; OR, odds ratio; QoL, quality of life; </a:t>
            </a:r>
            <a:br>
              <a:rPr lang="fr-FR" sz="800"/>
            </a:br>
            <a:r>
              <a:rPr lang="fr-FR" sz="800"/>
              <a:t>SGRQ, St. George’s Respiratory Questionnaire; UMEC, umeclidinium; VI, vilanterol; FULFIL, lung FUnction and quality of LiFe assessment in COPD with single inhaler trIpLe therapy</a:t>
            </a:r>
            <a:endParaRPr lang="fr-FR" sz="800" dirty="0"/>
          </a:p>
        </p:txBody>
      </p:sp>
      <p:sp>
        <p:nvSpPr>
          <p:cNvPr id="5" name="ZoneTexte 4">
            <a:extLst>
              <a:ext uri="{FF2B5EF4-FFF2-40B4-BE49-F238E27FC236}">
                <a16:creationId xmlns:a16="http://schemas.microsoft.com/office/drawing/2014/main" id="{17710E1B-929A-6858-4739-FE6B17DA8413}"/>
              </a:ext>
            </a:extLst>
          </p:cNvPr>
          <p:cNvSpPr txBox="1"/>
          <p:nvPr/>
        </p:nvSpPr>
        <p:spPr>
          <a:xfrm>
            <a:off x="4569058" y="6354542"/>
            <a:ext cx="6094476" cy="246221"/>
          </a:xfrm>
          <a:prstGeom prst="rect">
            <a:avLst/>
          </a:prstGeom>
          <a:noFill/>
        </p:spPr>
        <p:txBody>
          <a:bodyPr wrap="square">
            <a:spAutoFit/>
          </a:bodyPr>
          <a:lstStyle/>
          <a:p>
            <a:pPr algn="r"/>
            <a:r>
              <a:rPr lang="fr-FR" sz="1000" i="1" dirty="0" err="1">
                <a:latin typeface="Calibri" panose="020F0502020204030204" pitchFamily="34" charset="0"/>
                <a:cs typeface="Calibri" panose="020F0502020204030204" pitchFamily="34" charset="0"/>
              </a:rPr>
              <a:t>Tabberer</a:t>
            </a:r>
            <a:r>
              <a:rPr lang="fr-FR" sz="1000" i="1" dirty="0">
                <a:latin typeface="Calibri" panose="020F0502020204030204" pitchFamily="34" charset="0"/>
                <a:cs typeface="Calibri" panose="020F0502020204030204" pitchFamily="34" charset="0"/>
              </a:rPr>
              <a:t> et al. Adv </a:t>
            </a:r>
            <a:r>
              <a:rPr lang="fr-FR" sz="1000" i="1" dirty="0" err="1">
                <a:latin typeface="Calibri" panose="020F0502020204030204" pitchFamily="34" charset="0"/>
                <a:cs typeface="Calibri" panose="020F0502020204030204" pitchFamily="34" charset="0"/>
              </a:rPr>
              <a:t>Ther</a:t>
            </a:r>
            <a:r>
              <a:rPr lang="fr-FR" sz="1000" i="1" dirty="0">
                <a:latin typeface="Calibri" panose="020F0502020204030204" pitchFamily="34" charset="0"/>
                <a:cs typeface="Calibri" panose="020F0502020204030204" pitchFamily="34" charset="0"/>
              </a:rPr>
              <a:t> (2018) 35:56–71</a:t>
            </a:r>
          </a:p>
        </p:txBody>
      </p:sp>
      <p:sp>
        <p:nvSpPr>
          <p:cNvPr id="8" name="object 3">
            <a:extLst>
              <a:ext uri="{FF2B5EF4-FFF2-40B4-BE49-F238E27FC236}">
                <a16:creationId xmlns:a16="http://schemas.microsoft.com/office/drawing/2014/main" id="{97614261-26D6-09E4-61F4-BF7D7E6E1B38}"/>
              </a:ext>
            </a:extLst>
          </p:cNvPr>
          <p:cNvSpPr/>
          <p:nvPr/>
        </p:nvSpPr>
        <p:spPr>
          <a:xfrm>
            <a:off x="3363468" y="2118531"/>
            <a:ext cx="5227320" cy="2853055"/>
          </a:xfrm>
          <a:custGeom>
            <a:avLst/>
            <a:gdLst/>
            <a:ahLst/>
            <a:cxnLst/>
            <a:rect l="l" t="t" r="r" b="b"/>
            <a:pathLst>
              <a:path w="5227320" h="2853054">
                <a:moveTo>
                  <a:pt x="60960" y="2852928"/>
                </a:moveTo>
                <a:lnTo>
                  <a:pt x="60960" y="0"/>
                </a:lnTo>
              </a:path>
              <a:path w="5227320" h="2853054">
                <a:moveTo>
                  <a:pt x="0" y="2852928"/>
                </a:moveTo>
                <a:lnTo>
                  <a:pt x="60960" y="2852928"/>
                </a:lnTo>
              </a:path>
              <a:path w="5227320" h="2853054">
                <a:moveTo>
                  <a:pt x="0" y="2282951"/>
                </a:moveTo>
                <a:lnTo>
                  <a:pt x="60960" y="2282951"/>
                </a:lnTo>
              </a:path>
              <a:path w="5227320" h="2853054">
                <a:moveTo>
                  <a:pt x="0" y="1711452"/>
                </a:moveTo>
                <a:lnTo>
                  <a:pt x="60960" y="1711452"/>
                </a:lnTo>
              </a:path>
              <a:path w="5227320" h="2853054">
                <a:moveTo>
                  <a:pt x="0" y="1141476"/>
                </a:moveTo>
                <a:lnTo>
                  <a:pt x="60960" y="1141476"/>
                </a:lnTo>
              </a:path>
              <a:path w="5227320" h="2853054">
                <a:moveTo>
                  <a:pt x="0" y="569976"/>
                </a:moveTo>
                <a:lnTo>
                  <a:pt x="60960" y="569976"/>
                </a:lnTo>
              </a:path>
              <a:path w="5227320" h="2853054">
                <a:moveTo>
                  <a:pt x="0" y="0"/>
                </a:moveTo>
                <a:lnTo>
                  <a:pt x="60960" y="0"/>
                </a:lnTo>
              </a:path>
              <a:path w="5227320" h="2853054">
                <a:moveTo>
                  <a:pt x="60960" y="2852928"/>
                </a:moveTo>
                <a:lnTo>
                  <a:pt x="5227320" y="2852928"/>
                </a:lnTo>
              </a:path>
            </a:pathLst>
          </a:custGeom>
          <a:ln w="19812">
            <a:solidFill>
              <a:srgbClr val="BEBEBE"/>
            </a:solidFill>
          </a:ln>
        </p:spPr>
        <p:txBody>
          <a:bodyPr wrap="square" lIns="0" tIns="0" rIns="0" bIns="0" rtlCol="0"/>
          <a:lstStyle/>
          <a:p>
            <a:endParaRPr/>
          </a:p>
        </p:txBody>
      </p:sp>
      <p:sp>
        <p:nvSpPr>
          <p:cNvPr id="9" name="object 4">
            <a:extLst>
              <a:ext uri="{FF2B5EF4-FFF2-40B4-BE49-F238E27FC236}">
                <a16:creationId xmlns:a16="http://schemas.microsoft.com/office/drawing/2014/main" id="{E76D3C3F-5D2A-8F9A-0747-D3CBAC46E086}"/>
              </a:ext>
            </a:extLst>
          </p:cNvPr>
          <p:cNvSpPr txBox="1"/>
          <p:nvPr/>
        </p:nvSpPr>
        <p:spPr>
          <a:xfrm>
            <a:off x="4007357" y="3458888"/>
            <a:ext cx="1419225" cy="1513840"/>
          </a:xfrm>
          <a:prstGeom prst="rect">
            <a:avLst/>
          </a:prstGeom>
          <a:solidFill>
            <a:schemeClr val="tx2"/>
          </a:solidFill>
        </p:spPr>
        <p:txBody>
          <a:bodyPr vert="horz" wrap="square" lIns="0" tIns="3810" rIns="0" bIns="0" rtlCol="0">
            <a:spAutoFit/>
          </a:bodyPr>
          <a:lstStyle/>
          <a:p>
            <a:pPr>
              <a:lnSpc>
                <a:spcPct val="100000"/>
              </a:lnSpc>
              <a:spcBef>
                <a:spcPts val="30"/>
              </a:spcBef>
            </a:pPr>
            <a:endParaRPr sz="1950" dirty="0">
              <a:latin typeface="Times New Roman"/>
              <a:cs typeface="Times New Roman"/>
            </a:endParaRPr>
          </a:p>
          <a:p>
            <a:pPr marR="18415" algn="ctr">
              <a:lnSpc>
                <a:spcPct val="100000"/>
              </a:lnSpc>
            </a:pPr>
            <a:r>
              <a:rPr sz="1600" spc="-5" dirty="0">
                <a:solidFill>
                  <a:srgbClr val="FFFFFF"/>
                </a:solidFill>
                <a:latin typeface="Arial MT"/>
                <a:cs typeface="Arial MT"/>
              </a:rPr>
              <a:t>53</a:t>
            </a:r>
            <a:endParaRPr sz="1600" dirty="0">
              <a:latin typeface="Arial MT"/>
              <a:cs typeface="Arial MT"/>
            </a:endParaRPr>
          </a:p>
        </p:txBody>
      </p:sp>
      <p:sp>
        <p:nvSpPr>
          <p:cNvPr id="10" name="object 5">
            <a:extLst>
              <a:ext uri="{FF2B5EF4-FFF2-40B4-BE49-F238E27FC236}">
                <a16:creationId xmlns:a16="http://schemas.microsoft.com/office/drawing/2014/main" id="{272D84CD-3B47-8908-0D06-1363820A7BF8}"/>
              </a:ext>
            </a:extLst>
          </p:cNvPr>
          <p:cNvSpPr txBox="1"/>
          <p:nvPr/>
        </p:nvSpPr>
        <p:spPr>
          <a:xfrm>
            <a:off x="6584442" y="3682916"/>
            <a:ext cx="1430020" cy="1294130"/>
          </a:xfrm>
          <a:prstGeom prst="rect">
            <a:avLst/>
          </a:prstGeom>
          <a:solidFill>
            <a:srgbClr val="15717D"/>
          </a:solidFill>
        </p:spPr>
        <p:txBody>
          <a:bodyPr vert="horz" wrap="square" lIns="0" tIns="5715" rIns="0" bIns="0" rtlCol="0">
            <a:spAutoFit/>
          </a:bodyPr>
          <a:lstStyle/>
          <a:p>
            <a:pPr>
              <a:lnSpc>
                <a:spcPct val="100000"/>
              </a:lnSpc>
              <a:spcBef>
                <a:spcPts val="45"/>
              </a:spcBef>
            </a:pPr>
            <a:endParaRPr sz="1450" dirty="0">
              <a:latin typeface="Times New Roman"/>
              <a:cs typeface="Times New Roman"/>
            </a:endParaRPr>
          </a:p>
          <a:p>
            <a:pPr marR="66675" algn="ctr">
              <a:lnSpc>
                <a:spcPct val="100000"/>
              </a:lnSpc>
              <a:spcBef>
                <a:spcPts val="5"/>
              </a:spcBef>
            </a:pPr>
            <a:r>
              <a:rPr sz="1600" spc="-5" dirty="0">
                <a:solidFill>
                  <a:srgbClr val="FFFFFF"/>
                </a:solidFill>
                <a:latin typeface="Arial MT"/>
                <a:cs typeface="Arial MT"/>
              </a:rPr>
              <a:t>45</a:t>
            </a:r>
            <a:endParaRPr sz="1600" dirty="0">
              <a:latin typeface="Arial MT"/>
              <a:cs typeface="Arial MT"/>
            </a:endParaRPr>
          </a:p>
        </p:txBody>
      </p:sp>
      <p:sp>
        <p:nvSpPr>
          <p:cNvPr id="12" name="object 6">
            <a:extLst>
              <a:ext uri="{FF2B5EF4-FFF2-40B4-BE49-F238E27FC236}">
                <a16:creationId xmlns:a16="http://schemas.microsoft.com/office/drawing/2014/main" id="{8BFF2355-4E36-FAF3-0397-84B58B8742FA}"/>
              </a:ext>
            </a:extLst>
          </p:cNvPr>
          <p:cNvSpPr txBox="1"/>
          <p:nvPr/>
        </p:nvSpPr>
        <p:spPr>
          <a:xfrm>
            <a:off x="3124453" y="4822360"/>
            <a:ext cx="138430"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7E7E7E"/>
                </a:solidFill>
                <a:latin typeface="Arial MT"/>
                <a:cs typeface="Arial MT"/>
              </a:rPr>
              <a:t>0</a:t>
            </a:r>
            <a:endParaRPr sz="1600">
              <a:latin typeface="Arial MT"/>
              <a:cs typeface="Arial MT"/>
            </a:endParaRPr>
          </a:p>
        </p:txBody>
      </p:sp>
      <p:sp>
        <p:nvSpPr>
          <p:cNvPr id="13" name="object 7">
            <a:extLst>
              <a:ext uri="{FF2B5EF4-FFF2-40B4-BE49-F238E27FC236}">
                <a16:creationId xmlns:a16="http://schemas.microsoft.com/office/drawing/2014/main" id="{3132FFC0-D462-479D-AF70-812B58E5A22B}"/>
              </a:ext>
            </a:extLst>
          </p:cNvPr>
          <p:cNvSpPr txBox="1"/>
          <p:nvPr/>
        </p:nvSpPr>
        <p:spPr>
          <a:xfrm>
            <a:off x="3011677" y="4251496"/>
            <a:ext cx="251460"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7E7E7E"/>
                </a:solidFill>
                <a:latin typeface="Arial MT"/>
                <a:cs typeface="Arial MT"/>
              </a:rPr>
              <a:t>20</a:t>
            </a:r>
            <a:endParaRPr sz="1600">
              <a:latin typeface="Arial MT"/>
              <a:cs typeface="Arial MT"/>
            </a:endParaRPr>
          </a:p>
        </p:txBody>
      </p:sp>
      <p:sp>
        <p:nvSpPr>
          <p:cNvPr id="14" name="object 8">
            <a:extLst>
              <a:ext uri="{FF2B5EF4-FFF2-40B4-BE49-F238E27FC236}">
                <a16:creationId xmlns:a16="http://schemas.microsoft.com/office/drawing/2014/main" id="{5B854B8C-94E4-3F4D-44BA-EC6FD1573618}"/>
              </a:ext>
            </a:extLst>
          </p:cNvPr>
          <p:cNvSpPr txBox="1"/>
          <p:nvPr/>
        </p:nvSpPr>
        <p:spPr>
          <a:xfrm>
            <a:off x="3011677" y="3680630"/>
            <a:ext cx="251460"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7E7E7E"/>
                </a:solidFill>
                <a:latin typeface="Arial MT"/>
                <a:cs typeface="Arial MT"/>
              </a:rPr>
              <a:t>40</a:t>
            </a:r>
            <a:endParaRPr sz="1600">
              <a:latin typeface="Arial MT"/>
              <a:cs typeface="Arial MT"/>
            </a:endParaRPr>
          </a:p>
        </p:txBody>
      </p:sp>
      <p:sp>
        <p:nvSpPr>
          <p:cNvPr id="15" name="object 9">
            <a:extLst>
              <a:ext uri="{FF2B5EF4-FFF2-40B4-BE49-F238E27FC236}">
                <a16:creationId xmlns:a16="http://schemas.microsoft.com/office/drawing/2014/main" id="{AE206C48-37EA-93A7-30EF-984B23B1DBC1}"/>
              </a:ext>
            </a:extLst>
          </p:cNvPr>
          <p:cNvSpPr txBox="1"/>
          <p:nvPr/>
        </p:nvSpPr>
        <p:spPr>
          <a:xfrm>
            <a:off x="3011677" y="3110019"/>
            <a:ext cx="251460"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7E7E7E"/>
                </a:solidFill>
                <a:latin typeface="Arial MT"/>
                <a:cs typeface="Arial MT"/>
              </a:rPr>
              <a:t>60</a:t>
            </a:r>
            <a:endParaRPr sz="1600">
              <a:latin typeface="Arial MT"/>
              <a:cs typeface="Arial MT"/>
            </a:endParaRPr>
          </a:p>
        </p:txBody>
      </p:sp>
      <p:sp>
        <p:nvSpPr>
          <p:cNvPr id="16" name="object 10">
            <a:extLst>
              <a:ext uri="{FF2B5EF4-FFF2-40B4-BE49-F238E27FC236}">
                <a16:creationId xmlns:a16="http://schemas.microsoft.com/office/drawing/2014/main" id="{DB89573B-C41E-13BB-962D-B45E9934A3B3}"/>
              </a:ext>
            </a:extLst>
          </p:cNvPr>
          <p:cNvSpPr txBox="1"/>
          <p:nvPr/>
        </p:nvSpPr>
        <p:spPr>
          <a:xfrm>
            <a:off x="3011677" y="2539154"/>
            <a:ext cx="251460" cy="269240"/>
          </a:xfrm>
          <a:prstGeom prst="rect">
            <a:avLst/>
          </a:prstGeom>
        </p:spPr>
        <p:txBody>
          <a:bodyPr vert="horz" wrap="square" lIns="0" tIns="12065" rIns="0" bIns="0" rtlCol="0">
            <a:spAutoFit/>
          </a:bodyPr>
          <a:lstStyle/>
          <a:p>
            <a:pPr marL="12700">
              <a:lnSpc>
                <a:spcPct val="100000"/>
              </a:lnSpc>
              <a:spcBef>
                <a:spcPts val="95"/>
              </a:spcBef>
            </a:pPr>
            <a:r>
              <a:rPr sz="1600" spc="-5" dirty="0">
                <a:solidFill>
                  <a:srgbClr val="7E7E7E"/>
                </a:solidFill>
                <a:latin typeface="Arial MT"/>
                <a:cs typeface="Arial MT"/>
              </a:rPr>
              <a:t>80</a:t>
            </a:r>
            <a:endParaRPr sz="1600">
              <a:latin typeface="Arial MT"/>
              <a:cs typeface="Arial MT"/>
            </a:endParaRPr>
          </a:p>
        </p:txBody>
      </p:sp>
      <p:sp>
        <p:nvSpPr>
          <p:cNvPr id="17" name="object 11">
            <a:extLst>
              <a:ext uri="{FF2B5EF4-FFF2-40B4-BE49-F238E27FC236}">
                <a16:creationId xmlns:a16="http://schemas.microsoft.com/office/drawing/2014/main" id="{5985A843-720D-F1C6-EE0B-D2BD1A6E2ED8}"/>
              </a:ext>
            </a:extLst>
          </p:cNvPr>
          <p:cNvSpPr txBox="1"/>
          <p:nvPr/>
        </p:nvSpPr>
        <p:spPr>
          <a:xfrm>
            <a:off x="2898647" y="1967858"/>
            <a:ext cx="363855" cy="269240"/>
          </a:xfrm>
          <a:prstGeom prst="rect">
            <a:avLst/>
          </a:prstGeom>
        </p:spPr>
        <p:txBody>
          <a:bodyPr vert="horz" wrap="square" lIns="0" tIns="12065" rIns="0" bIns="0" rtlCol="0">
            <a:spAutoFit/>
          </a:bodyPr>
          <a:lstStyle/>
          <a:p>
            <a:pPr marL="12700">
              <a:lnSpc>
                <a:spcPct val="100000"/>
              </a:lnSpc>
              <a:spcBef>
                <a:spcPts val="95"/>
              </a:spcBef>
            </a:pPr>
            <a:r>
              <a:rPr sz="1600" spc="-10" dirty="0">
                <a:solidFill>
                  <a:srgbClr val="7E7E7E"/>
                </a:solidFill>
                <a:latin typeface="Arial MT"/>
                <a:cs typeface="Arial MT"/>
              </a:rPr>
              <a:t>100</a:t>
            </a:r>
            <a:endParaRPr sz="1600">
              <a:latin typeface="Arial MT"/>
              <a:cs typeface="Arial MT"/>
            </a:endParaRPr>
          </a:p>
        </p:txBody>
      </p:sp>
      <p:sp>
        <p:nvSpPr>
          <p:cNvPr id="18" name="object 12">
            <a:extLst>
              <a:ext uri="{FF2B5EF4-FFF2-40B4-BE49-F238E27FC236}">
                <a16:creationId xmlns:a16="http://schemas.microsoft.com/office/drawing/2014/main" id="{73E3F9B2-1227-A881-4B11-BB1D1D8D1743}"/>
              </a:ext>
            </a:extLst>
          </p:cNvPr>
          <p:cNvSpPr txBox="1"/>
          <p:nvPr/>
        </p:nvSpPr>
        <p:spPr>
          <a:xfrm>
            <a:off x="5872480" y="1949621"/>
            <a:ext cx="1013460" cy="635000"/>
          </a:xfrm>
          <a:prstGeom prst="rect">
            <a:avLst/>
          </a:prstGeom>
        </p:spPr>
        <p:txBody>
          <a:bodyPr vert="horz" wrap="square" lIns="0" tIns="12065" rIns="0" bIns="0" rtlCol="0">
            <a:spAutoFit/>
          </a:bodyPr>
          <a:lstStyle/>
          <a:p>
            <a:pPr marL="12700">
              <a:lnSpc>
                <a:spcPct val="100000"/>
              </a:lnSpc>
              <a:spcBef>
                <a:spcPts val="95"/>
              </a:spcBef>
            </a:pPr>
            <a:r>
              <a:rPr sz="4000" spc="-5" dirty="0">
                <a:solidFill>
                  <a:srgbClr val="F36633"/>
                </a:solidFill>
                <a:latin typeface="Arial MT"/>
                <a:cs typeface="Arial MT"/>
              </a:rPr>
              <a:t>1.44</a:t>
            </a:r>
            <a:endParaRPr sz="4000" dirty="0">
              <a:latin typeface="Arial MT"/>
              <a:cs typeface="Arial MT"/>
            </a:endParaRPr>
          </a:p>
        </p:txBody>
      </p:sp>
      <p:sp>
        <p:nvSpPr>
          <p:cNvPr id="19" name="object 13">
            <a:extLst>
              <a:ext uri="{FF2B5EF4-FFF2-40B4-BE49-F238E27FC236}">
                <a16:creationId xmlns:a16="http://schemas.microsoft.com/office/drawing/2014/main" id="{35AF3691-4A24-EFF3-F694-037522EA1571}"/>
              </a:ext>
            </a:extLst>
          </p:cNvPr>
          <p:cNvSpPr txBox="1"/>
          <p:nvPr/>
        </p:nvSpPr>
        <p:spPr>
          <a:xfrm>
            <a:off x="5328412" y="2531789"/>
            <a:ext cx="1390650" cy="354965"/>
          </a:xfrm>
          <a:prstGeom prst="rect">
            <a:avLst/>
          </a:prstGeom>
        </p:spPr>
        <p:txBody>
          <a:bodyPr vert="horz" wrap="square" lIns="0" tIns="12700" rIns="0" bIns="0" rtlCol="0">
            <a:spAutoFit/>
          </a:bodyPr>
          <a:lstStyle/>
          <a:p>
            <a:pPr algn="ctr">
              <a:lnSpc>
                <a:spcPts val="1295"/>
              </a:lnSpc>
              <a:spcBef>
                <a:spcPts val="100"/>
              </a:spcBef>
            </a:pPr>
            <a:r>
              <a:rPr sz="1200" spc="-5" dirty="0">
                <a:solidFill>
                  <a:srgbClr val="7E7E7E"/>
                </a:solidFill>
                <a:latin typeface="Arial MT"/>
                <a:cs typeface="Arial MT"/>
              </a:rPr>
              <a:t>(95%</a:t>
            </a:r>
            <a:r>
              <a:rPr sz="1200" spc="-45" dirty="0">
                <a:solidFill>
                  <a:srgbClr val="7E7E7E"/>
                </a:solidFill>
                <a:latin typeface="Arial MT"/>
                <a:cs typeface="Arial MT"/>
              </a:rPr>
              <a:t> </a:t>
            </a:r>
            <a:r>
              <a:rPr sz="1200" dirty="0">
                <a:solidFill>
                  <a:srgbClr val="7E7E7E"/>
                </a:solidFill>
                <a:latin typeface="Arial MT"/>
                <a:cs typeface="Arial MT"/>
              </a:rPr>
              <a:t>CI:</a:t>
            </a:r>
            <a:r>
              <a:rPr sz="1200" spc="-5" dirty="0">
                <a:solidFill>
                  <a:srgbClr val="7E7E7E"/>
                </a:solidFill>
                <a:latin typeface="Arial MT"/>
                <a:cs typeface="Arial MT"/>
              </a:rPr>
              <a:t> </a:t>
            </a:r>
            <a:r>
              <a:rPr sz="1200" dirty="0">
                <a:solidFill>
                  <a:srgbClr val="7E7E7E"/>
                </a:solidFill>
                <a:latin typeface="Arial MT"/>
                <a:cs typeface="Arial MT"/>
              </a:rPr>
              <a:t>1.19;</a:t>
            </a:r>
            <a:r>
              <a:rPr sz="1200" spc="-40" dirty="0">
                <a:solidFill>
                  <a:srgbClr val="7E7E7E"/>
                </a:solidFill>
                <a:latin typeface="Arial MT"/>
                <a:cs typeface="Arial MT"/>
              </a:rPr>
              <a:t> </a:t>
            </a:r>
            <a:r>
              <a:rPr sz="1200" dirty="0">
                <a:solidFill>
                  <a:srgbClr val="7E7E7E"/>
                </a:solidFill>
                <a:latin typeface="Arial MT"/>
                <a:cs typeface="Arial MT"/>
              </a:rPr>
              <a:t>1.75)</a:t>
            </a:r>
            <a:endParaRPr sz="1200">
              <a:latin typeface="Arial MT"/>
              <a:cs typeface="Arial MT"/>
            </a:endParaRPr>
          </a:p>
          <a:p>
            <a:pPr marL="2540" algn="ctr">
              <a:lnSpc>
                <a:spcPts val="1295"/>
              </a:lnSpc>
            </a:pPr>
            <a:r>
              <a:rPr sz="1200" i="1" spc="-5" dirty="0">
                <a:solidFill>
                  <a:srgbClr val="7E7E7E"/>
                </a:solidFill>
                <a:latin typeface="Arial"/>
                <a:cs typeface="Arial"/>
              </a:rPr>
              <a:t>p</a:t>
            </a:r>
            <a:r>
              <a:rPr sz="1200" spc="-5" dirty="0">
                <a:solidFill>
                  <a:srgbClr val="7E7E7E"/>
                </a:solidFill>
                <a:latin typeface="Arial MT"/>
                <a:cs typeface="Arial MT"/>
              </a:rPr>
              <a:t>&lt;0.001</a:t>
            </a:r>
            <a:endParaRPr sz="1200">
              <a:latin typeface="Arial MT"/>
              <a:cs typeface="Arial MT"/>
            </a:endParaRPr>
          </a:p>
        </p:txBody>
      </p:sp>
      <p:sp>
        <p:nvSpPr>
          <p:cNvPr id="20" name="object 14">
            <a:extLst>
              <a:ext uri="{FF2B5EF4-FFF2-40B4-BE49-F238E27FC236}">
                <a16:creationId xmlns:a16="http://schemas.microsoft.com/office/drawing/2014/main" id="{FC598A87-54C8-E1E5-9C8B-52C0FD7F4D9A}"/>
              </a:ext>
            </a:extLst>
          </p:cNvPr>
          <p:cNvSpPr txBox="1"/>
          <p:nvPr/>
        </p:nvSpPr>
        <p:spPr>
          <a:xfrm>
            <a:off x="5285232" y="2064809"/>
            <a:ext cx="571500"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36633"/>
                </a:solidFill>
                <a:latin typeface="Arial MT"/>
                <a:cs typeface="Arial MT"/>
              </a:rPr>
              <a:t>Od</a:t>
            </a:r>
            <a:r>
              <a:rPr sz="1800" spc="-15" dirty="0">
                <a:solidFill>
                  <a:srgbClr val="F36633"/>
                </a:solidFill>
                <a:latin typeface="Arial MT"/>
                <a:cs typeface="Arial MT"/>
              </a:rPr>
              <a:t>d</a:t>
            </a:r>
            <a:r>
              <a:rPr sz="1800" spc="-5" dirty="0">
                <a:solidFill>
                  <a:srgbClr val="F36633"/>
                </a:solidFill>
                <a:latin typeface="Arial MT"/>
                <a:cs typeface="Arial MT"/>
              </a:rPr>
              <a:t>s</a:t>
            </a:r>
            <a:endParaRPr sz="1800" dirty="0">
              <a:latin typeface="Arial MT"/>
              <a:cs typeface="Arial MT"/>
            </a:endParaRPr>
          </a:p>
        </p:txBody>
      </p:sp>
      <p:sp>
        <p:nvSpPr>
          <p:cNvPr id="21" name="object 15">
            <a:extLst>
              <a:ext uri="{FF2B5EF4-FFF2-40B4-BE49-F238E27FC236}">
                <a16:creationId xmlns:a16="http://schemas.microsoft.com/office/drawing/2014/main" id="{814E9501-7127-D5FE-CC5B-B0C6A3962FA1}"/>
              </a:ext>
            </a:extLst>
          </p:cNvPr>
          <p:cNvSpPr txBox="1"/>
          <p:nvPr/>
        </p:nvSpPr>
        <p:spPr>
          <a:xfrm>
            <a:off x="5285232" y="2284265"/>
            <a:ext cx="558165" cy="299720"/>
          </a:xfrm>
          <a:prstGeom prst="rect">
            <a:avLst/>
          </a:prstGeom>
        </p:spPr>
        <p:txBody>
          <a:bodyPr vert="horz" wrap="square" lIns="0" tIns="12700" rIns="0" bIns="0" rtlCol="0">
            <a:spAutoFit/>
          </a:bodyPr>
          <a:lstStyle/>
          <a:p>
            <a:pPr marL="12700">
              <a:lnSpc>
                <a:spcPct val="100000"/>
              </a:lnSpc>
              <a:spcBef>
                <a:spcPts val="100"/>
              </a:spcBef>
            </a:pPr>
            <a:r>
              <a:rPr sz="1800" spc="-5" dirty="0">
                <a:solidFill>
                  <a:srgbClr val="F36633"/>
                </a:solidFill>
                <a:latin typeface="Arial MT"/>
                <a:cs typeface="Arial MT"/>
              </a:rPr>
              <a:t>R</a:t>
            </a:r>
            <a:r>
              <a:rPr sz="1800" spc="-15" dirty="0">
                <a:solidFill>
                  <a:srgbClr val="F36633"/>
                </a:solidFill>
                <a:latin typeface="Arial MT"/>
                <a:cs typeface="Arial MT"/>
              </a:rPr>
              <a:t>a</a:t>
            </a:r>
            <a:r>
              <a:rPr sz="1800" spc="-5" dirty="0">
                <a:solidFill>
                  <a:srgbClr val="F36633"/>
                </a:solidFill>
                <a:latin typeface="Arial MT"/>
                <a:cs typeface="Arial MT"/>
              </a:rPr>
              <a:t>tio</a:t>
            </a:r>
            <a:endParaRPr sz="1800">
              <a:latin typeface="Arial MT"/>
              <a:cs typeface="Arial MT"/>
            </a:endParaRPr>
          </a:p>
        </p:txBody>
      </p:sp>
      <p:sp>
        <p:nvSpPr>
          <p:cNvPr id="25" name="object 21">
            <a:extLst>
              <a:ext uri="{FF2B5EF4-FFF2-40B4-BE49-F238E27FC236}">
                <a16:creationId xmlns:a16="http://schemas.microsoft.com/office/drawing/2014/main" id="{6F658B87-8E00-AA61-6454-25A968C7F2FF}"/>
              </a:ext>
            </a:extLst>
          </p:cNvPr>
          <p:cNvSpPr/>
          <p:nvPr/>
        </p:nvSpPr>
        <p:spPr>
          <a:xfrm>
            <a:off x="4680204" y="2979591"/>
            <a:ext cx="2654935" cy="698500"/>
          </a:xfrm>
          <a:custGeom>
            <a:avLst/>
            <a:gdLst/>
            <a:ahLst/>
            <a:cxnLst/>
            <a:rect l="l" t="t" r="r" b="b"/>
            <a:pathLst>
              <a:path w="2654934" h="698500">
                <a:moveTo>
                  <a:pt x="0" y="457200"/>
                </a:moveTo>
                <a:lnTo>
                  <a:pt x="0" y="0"/>
                </a:lnTo>
              </a:path>
              <a:path w="2654934" h="698500">
                <a:moveTo>
                  <a:pt x="2654808" y="698500"/>
                </a:moveTo>
                <a:lnTo>
                  <a:pt x="2654808" y="0"/>
                </a:lnTo>
              </a:path>
              <a:path w="2654934" h="698500">
                <a:moveTo>
                  <a:pt x="2654299" y="0"/>
                </a:moveTo>
                <a:lnTo>
                  <a:pt x="0" y="0"/>
                </a:lnTo>
              </a:path>
            </a:pathLst>
          </a:custGeom>
          <a:ln w="25908">
            <a:solidFill>
              <a:srgbClr val="BEBEBE"/>
            </a:solidFill>
          </a:ln>
        </p:spPr>
        <p:txBody>
          <a:bodyPr wrap="square" lIns="0" tIns="0" rIns="0" bIns="0" rtlCol="0"/>
          <a:lstStyle/>
          <a:p>
            <a:endParaRPr/>
          </a:p>
        </p:txBody>
      </p:sp>
      <p:sp>
        <p:nvSpPr>
          <p:cNvPr id="26" name="object 22">
            <a:extLst>
              <a:ext uri="{FF2B5EF4-FFF2-40B4-BE49-F238E27FC236}">
                <a16:creationId xmlns:a16="http://schemas.microsoft.com/office/drawing/2014/main" id="{52045BDC-ADA1-7706-F279-34AC1331BF4E}"/>
              </a:ext>
            </a:extLst>
          </p:cNvPr>
          <p:cNvSpPr txBox="1"/>
          <p:nvPr/>
        </p:nvSpPr>
        <p:spPr>
          <a:xfrm>
            <a:off x="3919664" y="5020897"/>
            <a:ext cx="1521079" cy="530915"/>
          </a:xfrm>
          <a:prstGeom prst="rect">
            <a:avLst/>
          </a:prstGeom>
        </p:spPr>
        <p:txBody>
          <a:bodyPr vert="horz" wrap="square" lIns="0" tIns="12700" rIns="0" bIns="0" rtlCol="0">
            <a:spAutoFit/>
          </a:bodyPr>
          <a:lstStyle/>
          <a:p>
            <a:pPr marL="635" algn="ctr">
              <a:lnSpc>
                <a:spcPct val="100000"/>
              </a:lnSpc>
              <a:spcBef>
                <a:spcPts val="100"/>
              </a:spcBef>
            </a:pPr>
            <a:r>
              <a:rPr sz="1200" b="1" spc="-5" dirty="0">
                <a:latin typeface="Arial MT"/>
                <a:cs typeface="Arial MT"/>
              </a:rPr>
              <a:t>FF/UMEC/VI</a:t>
            </a:r>
            <a:endParaRPr sz="1200" b="1" dirty="0">
              <a:latin typeface="Arial MT"/>
              <a:cs typeface="Arial MT"/>
            </a:endParaRPr>
          </a:p>
          <a:p>
            <a:pPr algn="ctr">
              <a:lnSpc>
                <a:spcPts val="1320"/>
              </a:lnSpc>
              <a:spcBef>
                <a:spcPts val="5"/>
              </a:spcBef>
            </a:pPr>
            <a:r>
              <a:rPr sz="1100" b="1" dirty="0">
                <a:latin typeface="Arial MT"/>
                <a:cs typeface="Arial MT"/>
              </a:rPr>
              <a:t>1</a:t>
            </a:r>
            <a:r>
              <a:rPr sz="1100" b="1" spc="-5" dirty="0">
                <a:latin typeface="Arial MT"/>
                <a:cs typeface="Arial MT"/>
              </a:rPr>
              <a:t>0</a:t>
            </a:r>
            <a:r>
              <a:rPr sz="1100" b="1" dirty="0">
                <a:latin typeface="Arial MT"/>
                <a:cs typeface="Arial MT"/>
              </a:rPr>
              <a:t>0/62.5/25</a:t>
            </a:r>
            <a:r>
              <a:rPr sz="1100" b="1" spc="-45" dirty="0">
                <a:latin typeface="Arial MT"/>
                <a:cs typeface="Arial MT"/>
              </a:rPr>
              <a:t> </a:t>
            </a:r>
            <a:r>
              <a:rPr lang="el-GR" sz="1100" b="1" spc="-235" dirty="0">
                <a:latin typeface="Arial MT"/>
                <a:cs typeface="Arial MT"/>
              </a:rPr>
              <a:t>μ</a:t>
            </a:r>
            <a:r>
              <a:rPr lang="fr-FR" sz="1100" b="1" spc="-235" dirty="0">
                <a:latin typeface="Arial MT"/>
                <a:cs typeface="Arial MT"/>
              </a:rPr>
              <a:t>g</a:t>
            </a:r>
            <a:endParaRPr lang="fr-FR" sz="1100" b="1" spc="-45" dirty="0">
              <a:latin typeface="Arial MT"/>
              <a:cs typeface="Arial MT"/>
            </a:endParaRPr>
          </a:p>
          <a:p>
            <a:pPr algn="ctr">
              <a:lnSpc>
                <a:spcPts val="1320"/>
              </a:lnSpc>
              <a:spcBef>
                <a:spcPts val="5"/>
              </a:spcBef>
            </a:pPr>
            <a:r>
              <a:rPr sz="1200" b="1" spc="-5" dirty="0">
                <a:latin typeface="Arial MT"/>
                <a:cs typeface="Arial MT"/>
              </a:rPr>
              <a:t>(n=902)</a:t>
            </a:r>
            <a:endParaRPr sz="1200" b="1" dirty="0">
              <a:latin typeface="Arial MT"/>
              <a:cs typeface="Arial MT"/>
            </a:endParaRPr>
          </a:p>
        </p:txBody>
      </p:sp>
      <p:sp>
        <p:nvSpPr>
          <p:cNvPr id="27" name="object 23">
            <a:extLst>
              <a:ext uri="{FF2B5EF4-FFF2-40B4-BE49-F238E27FC236}">
                <a16:creationId xmlns:a16="http://schemas.microsoft.com/office/drawing/2014/main" id="{79485FF2-B8C1-98F5-1962-EF582A54FC69}"/>
              </a:ext>
            </a:extLst>
          </p:cNvPr>
          <p:cNvSpPr txBox="1"/>
          <p:nvPr/>
        </p:nvSpPr>
        <p:spPr>
          <a:xfrm>
            <a:off x="7024115" y="5015654"/>
            <a:ext cx="711200" cy="558800"/>
          </a:xfrm>
          <a:prstGeom prst="rect">
            <a:avLst/>
          </a:prstGeom>
        </p:spPr>
        <p:txBody>
          <a:bodyPr vert="horz" wrap="square" lIns="0" tIns="12700" rIns="0" bIns="0" rtlCol="0">
            <a:spAutoFit/>
          </a:bodyPr>
          <a:lstStyle/>
          <a:p>
            <a:pPr marL="12700">
              <a:lnSpc>
                <a:spcPct val="100000"/>
              </a:lnSpc>
              <a:spcBef>
                <a:spcPts val="100"/>
              </a:spcBef>
            </a:pPr>
            <a:r>
              <a:rPr sz="1200" b="1" spc="-5" dirty="0">
                <a:latin typeface="Arial MT"/>
                <a:cs typeface="Arial MT"/>
              </a:rPr>
              <a:t>BUD/FOR</a:t>
            </a:r>
            <a:endParaRPr sz="1200" b="1" dirty="0">
              <a:latin typeface="Arial MT"/>
              <a:cs typeface="Arial MT"/>
            </a:endParaRPr>
          </a:p>
          <a:p>
            <a:pPr marL="42545">
              <a:lnSpc>
                <a:spcPts val="1320"/>
              </a:lnSpc>
              <a:spcBef>
                <a:spcPts val="5"/>
              </a:spcBef>
            </a:pPr>
            <a:r>
              <a:rPr sz="1100" b="1" dirty="0">
                <a:latin typeface="Arial MT"/>
                <a:cs typeface="Arial MT"/>
              </a:rPr>
              <a:t>400/12</a:t>
            </a:r>
            <a:r>
              <a:rPr sz="1100" b="1" spc="-60" dirty="0">
                <a:latin typeface="Arial MT"/>
                <a:cs typeface="Arial MT"/>
              </a:rPr>
              <a:t> </a:t>
            </a:r>
            <a:r>
              <a:rPr sz="1100" b="1" spc="-235" dirty="0">
                <a:latin typeface="Arial MT"/>
                <a:cs typeface="Arial MT"/>
              </a:rPr>
              <a:t>μg</a:t>
            </a:r>
            <a:endParaRPr sz="1100" b="1" dirty="0">
              <a:latin typeface="Arial MT"/>
              <a:cs typeface="Arial MT"/>
            </a:endParaRPr>
          </a:p>
          <a:p>
            <a:pPr marL="90170">
              <a:lnSpc>
                <a:spcPts val="1440"/>
              </a:lnSpc>
            </a:pPr>
            <a:r>
              <a:rPr sz="1200" b="1" spc="-5" dirty="0">
                <a:latin typeface="Arial MT"/>
                <a:cs typeface="Arial MT"/>
              </a:rPr>
              <a:t>(n=885)</a:t>
            </a:r>
            <a:endParaRPr sz="1200" b="1" dirty="0">
              <a:latin typeface="Arial MT"/>
              <a:cs typeface="Arial MT"/>
            </a:endParaRPr>
          </a:p>
        </p:txBody>
      </p:sp>
      <p:sp>
        <p:nvSpPr>
          <p:cNvPr id="28" name="object 24">
            <a:extLst>
              <a:ext uri="{FF2B5EF4-FFF2-40B4-BE49-F238E27FC236}">
                <a16:creationId xmlns:a16="http://schemas.microsoft.com/office/drawing/2014/main" id="{7A1693FE-1D1E-8F0E-9F5F-77A839874273}"/>
              </a:ext>
            </a:extLst>
          </p:cNvPr>
          <p:cNvSpPr txBox="1"/>
          <p:nvPr/>
        </p:nvSpPr>
        <p:spPr>
          <a:xfrm>
            <a:off x="2400202" y="2140600"/>
            <a:ext cx="359073" cy="2760345"/>
          </a:xfrm>
          <a:prstGeom prst="rect">
            <a:avLst/>
          </a:prstGeom>
        </p:spPr>
        <p:txBody>
          <a:bodyPr vert="vert270" wrap="square" lIns="0" tIns="0" rIns="0" bIns="0" rtlCol="0">
            <a:spAutoFit/>
          </a:bodyPr>
          <a:lstStyle/>
          <a:p>
            <a:pPr marL="12700">
              <a:lnSpc>
                <a:spcPts val="2755"/>
              </a:lnSpc>
            </a:pPr>
            <a:r>
              <a:rPr sz="2400" spc="-65" dirty="0">
                <a:solidFill>
                  <a:srgbClr val="7E7E7E"/>
                </a:solidFill>
                <a:latin typeface="Arial MT"/>
                <a:cs typeface="Arial MT"/>
              </a:rPr>
              <a:t>CAT</a:t>
            </a:r>
            <a:r>
              <a:rPr sz="2400" spc="-75" dirty="0">
                <a:solidFill>
                  <a:srgbClr val="7E7E7E"/>
                </a:solidFill>
                <a:latin typeface="Arial MT"/>
                <a:cs typeface="Arial MT"/>
              </a:rPr>
              <a:t> </a:t>
            </a:r>
            <a:r>
              <a:rPr lang="fr-FR" sz="2000" dirty="0" err="1">
                <a:solidFill>
                  <a:srgbClr val="7E7E7E"/>
                </a:solidFill>
                <a:latin typeface="Arial MT"/>
                <a:cs typeface="Arial MT"/>
              </a:rPr>
              <a:t>responders</a:t>
            </a:r>
            <a:r>
              <a:rPr sz="2000" spc="40" dirty="0">
                <a:solidFill>
                  <a:srgbClr val="7E7E7E"/>
                </a:solidFill>
                <a:latin typeface="Arial MT"/>
                <a:cs typeface="Arial MT"/>
              </a:rPr>
              <a:t> </a:t>
            </a:r>
            <a:r>
              <a:rPr sz="2400" dirty="0">
                <a:solidFill>
                  <a:srgbClr val="7E7E7E"/>
                </a:solidFill>
                <a:latin typeface="Arial MT"/>
                <a:cs typeface="Arial MT"/>
              </a:rPr>
              <a:t>(%)</a:t>
            </a:r>
            <a:endParaRPr sz="2400" dirty="0">
              <a:latin typeface="Arial MT"/>
              <a:cs typeface="Arial MT"/>
            </a:endParaRPr>
          </a:p>
        </p:txBody>
      </p:sp>
      <p:sp>
        <p:nvSpPr>
          <p:cNvPr id="30" name="object 41">
            <a:extLst>
              <a:ext uri="{FF2B5EF4-FFF2-40B4-BE49-F238E27FC236}">
                <a16:creationId xmlns:a16="http://schemas.microsoft.com/office/drawing/2014/main" id="{1A333465-3FDC-15F3-38EB-EDE6361336CD}"/>
              </a:ext>
            </a:extLst>
          </p:cNvPr>
          <p:cNvSpPr/>
          <p:nvPr/>
        </p:nvSpPr>
        <p:spPr>
          <a:xfrm>
            <a:off x="7616296" y="1246608"/>
            <a:ext cx="951865" cy="951865"/>
          </a:xfrm>
          <a:custGeom>
            <a:avLst/>
            <a:gdLst/>
            <a:ahLst/>
            <a:cxnLst/>
            <a:rect l="l" t="t" r="r" b="b"/>
            <a:pathLst>
              <a:path w="951865" h="951864">
                <a:moveTo>
                  <a:pt x="456889" y="0"/>
                </a:moveTo>
                <a:lnTo>
                  <a:pt x="409960" y="4156"/>
                </a:lnTo>
                <a:lnTo>
                  <a:pt x="364195" y="12842"/>
                </a:lnTo>
                <a:lnTo>
                  <a:pt x="319870" y="25860"/>
                </a:lnTo>
                <a:lnTo>
                  <a:pt x="277261" y="43014"/>
                </a:lnTo>
                <a:lnTo>
                  <a:pt x="236641" y="64104"/>
                </a:lnTo>
                <a:lnTo>
                  <a:pt x="198287" y="88935"/>
                </a:lnTo>
                <a:lnTo>
                  <a:pt x="162474" y="117307"/>
                </a:lnTo>
                <a:lnTo>
                  <a:pt x="129476" y="149024"/>
                </a:lnTo>
                <a:lnTo>
                  <a:pt x="99569" y="183888"/>
                </a:lnTo>
                <a:lnTo>
                  <a:pt x="73028" y="221701"/>
                </a:lnTo>
                <a:lnTo>
                  <a:pt x="50128" y="262266"/>
                </a:lnTo>
                <a:lnTo>
                  <a:pt x="31144" y="305386"/>
                </a:lnTo>
                <a:lnTo>
                  <a:pt x="16351" y="350862"/>
                </a:lnTo>
                <a:lnTo>
                  <a:pt x="6025" y="398497"/>
                </a:lnTo>
                <a:lnTo>
                  <a:pt x="551" y="446931"/>
                </a:lnTo>
                <a:lnTo>
                  <a:pt x="0" y="494750"/>
                </a:lnTo>
                <a:lnTo>
                  <a:pt x="4173" y="541680"/>
                </a:lnTo>
                <a:lnTo>
                  <a:pt x="12873" y="587445"/>
                </a:lnTo>
                <a:lnTo>
                  <a:pt x="25904" y="631772"/>
                </a:lnTo>
                <a:lnTo>
                  <a:pt x="43068" y="674384"/>
                </a:lnTo>
                <a:lnTo>
                  <a:pt x="64167" y="715008"/>
                </a:lnTo>
                <a:lnTo>
                  <a:pt x="89004" y="753367"/>
                </a:lnTo>
                <a:lnTo>
                  <a:pt x="117382" y="789187"/>
                </a:lnTo>
                <a:lnTo>
                  <a:pt x="149102" y="822194"/>
                </a:lnTo>
                <a:lnTo>
                  <a:pt x="183969" y="852111"/>
                </a:lnTo>
                <a:lnTo>
                  <a:pt x="221784" y="878664"/>
                </a:lnTo>
                <a:lnTo>
                  <a:pt x="262351" y="901579"/>
                </a:lnTo>
                <a:lnTo>
                  <a:pt x="305471" y="920580"/>
                </a:lnTo>
                <a:lnTo>
                  <a:pt x="350947" y="935392"/>
                </a:lnTo>
                <a:lnTo>
                  <a:pt x="398582" y="945740"/>
                </a:lnTo>
                <a:lnTo>
                  <a:pt x="447016" y="951214"/>
                </a:lnTo>
                <a:lnTo>
                  <a:pt x="494835" y="951766"/>
                </a:lnTo>
                <a:lnTo>
                  <a:pt x="541764" y="947593"/>
                </a:lnTo>
                <a:lnTo>
                  <a:pt x="587529" y="938892"/>
                </a:lnTo>
                <a:lnTo>
                  <a:pt x="631853" y="925861"/>
                </a:lnTo>
                <a:lnTo>
                  <a:pt x="674463" y="908698"/>
                </a:lnTo>
                <a:lnTo>
                  <a:pt x="715082" y="887599"/>
                </a:lnTo>
                <a:lnTo>
                  <a:pt x="753436" y="862762"/>
                </a:lnTo>
                <a:lnTo>
                  <a:pt x="789250" y="834384"/>
                </a:lnTo>
                <a:lnTo>
                  <a:pt x="822248" y="802663"/>
                </a:lnTo>
                <a:lnTo>
                  <a:pt x="852155" y="767796"/>
                </a:lnTo>
                <a:lnTo>
                  <a:pt x="878696" y="729981"/>
                </a:lnTo>
                <a:lnTo>
                  <a:pt x="901596" y="689415"/>
                </a:lnTo>
                <a:lnTo>
                  <a:pt x="920580" y="646295"/>
                </a:lnTo>
                <a:lnTo>
                  <a:pt x="935372" y="600818"/>
                </a:lnTo>
                <a:lnTo>
                  <a:pt x="945698" y="553183"/>
                </a:lnTo>
                <a:lnTo>
                  <a:pt x="951174" y="504750"/>
                </a:lnTo>
                <a:lnTo>
                  <a:pt x="951729" y="456931"/>
                </a:lnTo>
                <a:lnTo>
                  <a:pt x="947562" y="410002"/>
                </a:lnTo>
                <a:lnTo>
                  <a:pt x="938868" y="364237"/>
                </a:lnTo>
                <a:lnTo>
                  <a:pt x="925845" y="319912"/>
                </a:lnTo>
                <a:lnTo>
                  <a:pt x="908689" y="277303"/>
                </a:lnTo>
                <a:lnTo>
                  <a:pt x="887598" y="236683"/>
                </a:lnTo>
                <a:lnTo>
                  <a:pt x="862767" y="198329"/>
                </a:lnTo>
                <a:lnTo>
                  <a:pt x="834395" y="162516"/>
                </a:lnTo>
                <a:lnTo>
                  <a:pt x="802677" y="129518"/>
                </a:lnTo>
                <a:lnTo>
                  <a:pt x="767811" y="99611"/>
                </a:lnTo>
                <a:lnTo>
                  <a:pt x="729993" y="73070"/>
                </a:lnTo>
                <a:lnTo>
                  <a:pt x="689420" y="50170"/>
                </a:lnTo>
                <a:lnTo>
                  <a:pt x="646289" y="31186"/>
                </a:lnTo>
                <a:lnTo>
                  <a:pt x="600797" y="16393"/>
                </a:lnTo>
                <a:lnTo>
                  <a:pt x="553141" y="6067"/>
                </a:lnTo>
                <a:lnTo>
                  <a:pt x="504708" y="571"/>
                </a:lnTo>
                <a:lnTo>
                  <a:pt x="456889" y="0"/>
                </a:lnTo>
                <a:close/>
              </a:path>
            </a:pathLst>
          </a:custGeom>
          <a:solidFill>
            <a:srgbClr val="D9D9D9"/>
          </a:solidFill>
        </p:spPr>
        <p:txBody>
          <a:bodyPr wrap="square" lIns="0" tIns="0" rIns="0" bIns="0" rtlCol="0"/>
          <a:lstStyle/>
          <a:p>
            <a:endParaRPr dirty="0"/>
          </a:p>
        </p:txBody>
      </p:sp>
      <p:sp>
        <p:nvSpPr>
          <p:cNvPr id="31" name="ZoneTexte 30">
            <a:extLst>
              <a:ext uri="{FF2B5EF4-FFF2-40B4-BE49-F238E27FC236}">
                <a16:creationId xmlns:a16="http://schemas.microsoft.com/office/drawing/2014/main" id="{B4E20392-8133-C742-8BD8-DBDF3A3516CF}"/>
              </a:ext>
            </a:extLst>
          </p:cNvPr>
          <p:cNvSpPr txBox="1"/>
          <p:nvPr/>
        </p:nvSpPr>
        <p:spPr>
          <a:xfrm>
            <a:off x="7659232" y="1366971"/>
            <a:ext cx="824399" cy="738664"/>
          </a:xfrm>
          <a:prstGeom prst="rect">
            <a:avLst/>
          </a:prstGeom>
          <a:noFill/>
        </p:spPr>
        <p:txBody>
          <a:bodyPr wrap="square">
            <a:spAutoFit/>
          </a:bodyPr>
          <a:lstStyle/>
          <a:p>
            <a:pPr algn="ctr"/>
            <a:r>
              <a:rPr lang="fr-FR" sz="1800" spc="-5" dirty="0">
                <a:solidFill>
                  <a:schemeClr val="bg1"/>
                </a:solidFill>
                <a:latin typeface="Arial MT"/>
                <a:cs typeface="Arial MT"/>
              </a:rPr>
              <a:t>Week </a:t>
            </a:r>
            <a:r>
              <a:rPr lang="fr-FR" sz="2400" b="1" spc="-5" dirty="0">
                <a:solidFill>
                  <a:schemeClr val="bg1"/>
                </a:solidFill>
                <a:latin typeface="Arial MT"/>
                <a:cs typeface="Arial MT"/>
              </a:rPr>
              <a:t>24</a:t>
            </a:r>
            <a:endParaRPr lang="fr-FR" b="1" dirty="0">
              <a:solidFill>
                <a:schemeClr val="bg1"/>
              </a:solidFill>
            </a:endParaRPr>
          </a:p>
        </p:txBody>
      </p:sp>
      <p:sp>
        <p:nvSpPr>
          <p:cNvPr id="43" name="TextBox 35">
            <a:extLst>
              <a:ext uri="{FF2B5EF4-FFF2-40B4-BE49-F238E27FC236}">
                <a16:creationId xmlns:a16="http://schemas.microsoft.com/office/drawing/2014/main" id="{4FEA5A62-39A1-DC72-5EC3-890C682F92AA}"/>
              </a:ext>
            </a:extLst>
          </p:cNvPr>
          <p:cNvSpPr txBox="1"/>
          <p:nvPr/>
        </p:nvSpPr>
        <p:spPr>
          <a:xfrm>
            <a:off x="4007356" y="1288437"/>
            <a:ext cx="3395145" cy="468000"/>
          </a:xfrm>
          <a:prstGeom prst="roundRect">
            <a:avLst/>
          </a:prstGeom>
          <a:solidFill>
            <a:schemeClr val="bg2"/>
          </a:solidFill>
          <a:effectLst>
            <a:outerShdw blurRad="50800" dist="38100" dir="2700000" algn="tl" rotWithShape="0">
              <a:prstClr val="black">
                <a:alpha val="40000"/>
              </a:prstClr>
            </a:outerShdw>
          </a:effectLst>
        </p:spPr>
        <p:txBody>
          <a:bodyPr wrap="square" lIns="0" tIns="0" rIns="0" bIns="0" rtlCol="0" anchor="ctr" anchorCtr="0">
            <a:noAutofit/>
          </a:bodyPr>
          <a:lstStyle/>
          <a:p>
            <a:pPr algn="ctr" defTabSz="914400">
              <a:defRPr/>
            </a:pPr>
            <a:r>
              <a:rPr lang="en-GB" sz="1400" b="1" kern="0" dirty="0">
                <a:solidFill>
                  <a:srgbClr val="FFFFFF"/>
                </a:solidFill>
                <a:latin typeface="Arial"/>
              </a:rPr>
              <a:t>% CAT responders (</a:t>
            </a:r>
            <a:r>
              <a:rPr lang="en-GB" sz="1400" b="1" u="sng" kern="0" dirty="0">
                <a:solidFill>
                  <a:srgbClr val="FFFFFF"/>
                </a:solidFill>
                <a:latin typeface="Arial"/>
              </a:rPr>
              <a:t>reduction </a:t>
            </a:r>
            <a:r>
              <a:rPr lang="en-GB" sz="1400" b="1" u="sng" kern="0" dirty="0">
                <a:solidFill>
                  <a:srgbClr val="FFFFFF"/>
                </a:solidFill>
                <a:latin typeface="Arial"/>
                <a:sym typeface="Symbol" panose="05050102010706020507" pitchFamily="18" charset="2"/>
              </a:rPr>
              <a:t></a:t>
            </a:r>
            <a:r>
              <a:rPr lang="en-GB" sz="1400" b="1" u="sng" kern="0" dirty="0">
                <a:solidFill>
                  <a:srgbClr val="FFFFFF"/>
                </a:solidFill>
                <a:latin typeface="Arial"/>
              </a:rPr>
              <a:t>2</a:t>
            </a:r>
            <a:r>
              <a:rPr lang="en-GB" sz="1400" b="1" kern="0" dirty="0">
                <a:solidFill>
                  <a:srgbClr val="FFFFFF"/>
                </a:solidFill>
                <a:latin typeface="Arial"/>
              </a:rPr>
              <a:t>)</a:t>
            </a:r>
          </a:p>
        </p:txBody>
      </p:sp>
      <p:sp>
        <p:nvSpPr>
          <p:cNvPr id="44" name="Slide Number Placeholder 4">
            <a:extLst>
              <a:ext uri="{FF2B5EF4-FFF2-40B4-BE49-F238E27FC236}">
                <a16:creationId xmlns:a16="http://schemas.microsoft.com/office/drawing/2014/main" id="{44B9B1F1-4C92-4216-E200-C532DF970819}"/>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14</a:t>
            </a:fld>
            <a:endParaRPr lang="en-GB" sz="1000" dirty="0">
              <a:solidFill>
                <a:srgbClr val="000000"/>
              </a:solidFill>
              <a:latin typeface="Arial"/>
              <a:cs typeface="Noto Sans"/>
            </a:endParaRPr>
          </a:p>
        </p:txBody>
      </p:sp>
    </p:spTree>
    <p:extLst>
      <p:ext uri="{BB962C8B-B14F-4D97-AF65-F5344CB8AC3E}">
        <p14:creationId xmlns:p14="http://schemas.microsoft.com/office/powerpoint/2010/main" val="1520721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257988" y="1173447"/>
            <a:ext cx="10147884" cy="86594"/>
          </a:xfrm>
        </p:spPr>
        <p:txBody>
          <a:bodyPr vert="horz" lIns="0" tIns="0" rIns="0" bIns="720000" rtlCol="0" anchor="b" anchorCtr="0">
            <a:noAutofit/>
          </a:bodyPr>
          <a:lstStyle/>
          <a:p>
            <a:r>
              <a:rPr lang="en-US" sz="2400" dirty="0"/>
              <a:t>Once-daily single-inhaler triple therapy (FF/UMEC/VI) significantly reduced the rate of annual exacerbations compared with </a:t>
            </a:r>
            <a:r>
              <a:rPr lang="en-GB" sz="2400" dirty="0"/>
              <a:t>BUD/FOR</a:t>
            </a:r>
            <a:endParaRPr lang="en-US" sz="2400" dirty="0"/>
          </a:p>
        </p:txBody>
      </p:sp>
      <p:sp>
        <p:nvSpPr>
          <p:cNvPr id="40" name="Text Placeholder 25"/>
          <p:cNvSpPr>
            <a:spLocks noGrp="1"/>
          </p:cNvSpPr>
          <p:nvPr>
            <p:ph type="body" sz="quarter" idx="14"/>
          </p:nvPr>
        </p:nvSpPr>
        <p:spPr>
          <a:xfrm>
            <a:off x="2286673" y="1264995"/>
            <a:ext cx="7778369" cy="573175"/>
          </a:xfrm>
        </p:spPr>
        <p:txBody>
          <a:bodyPr/>
          <a:lstStyle/>
          <a:p>
            <a:r>
              <a:rPr lang="en-US" sz="1800" b="1" i="0" dirty="0">
                <a:latin typeface="+mn-lt"/>
              </a:rPr>
              <a:t>Annual rate of  moderate/severe COPD exacerbations in FULFIL</a:t>
            </a:r>
            <a:endParaRPr lang="en-US" sz="1800" b="1" i="0" baseline="30000" dirty="0">
              <a:latin typeface="+mn-lt"/>
            </a:endParaRPr>
          </a:p>
          <a:p>
            <a:endParaRPr lang="en-US" sz="1800" dirty="0"/>
          </a:p>
        </p:txBody>
      </p:sp>
      <p:sp>
        <p:nvSpPr>
          <p:cNvPr id="7" name="Text Placeholder 6"/>
          <p:cNvSpPr>
            <a:spLocks noGrp="1"/>
          </p:cNvSpPr>
          <p:nvPr>
            <p:ph type="body" sz="quarter" idx="19"/>
          </p:nvPr>
        </p:nvSpPr>
        <p:spPr>
          <a:xfrm>
            <a:off x="3270465" y="6006032"/>
            <a:ext cx="8171182" cy="663598"/>
          </a:xfrm>
        </p:spPr>
        <p:txBody>
          <a:bodyPr/>
          <a:lstStyle/>
          <a:p>
            <a:pPr algn="r"/>
            <a:endParaRPr lang="en-GB" sz="1000" dirty="0">
              <a:latin typeface="Calibri" panose="020F0502020204030204" pitchFamily="34" charset="0"/>
              <a:cs typeface="Calibri" panose="020F0502020204030204" pitchFamily="34" charset="0"/>
            </a:endParaRPr>
          </a:p>
          <a:p>
            <a:pPr algn="r"/>
            <a:r>
              <a:rPr lang="en-US" sz="1000" dirty="0">
                <a:latin typeface="Calibri" panose="020F0502020204030204" pitchFamily="34" charset="0"/>
                <a:cs typeface="Calibri" panose="020F0502020204030204" pitchFamily="34" charset="0"/>
              </a:rPr>
              <a:t>Lipson DA </a:t>
            </a:r>
            <a:r>
              <a:rPr lang="en-US" sz="1000" i="1" dirty="0">
                <a:latin typeface="Calibri" panose="020F0502020204030204" pitchFamily="34" charset="0"/>
                <a:cs typeface="Calibri" panose="020F0502020204030204" pitchFamily="34" charset="0"/>
              </a:rPr>
              <a:t>et al. Am J </a:t>
            </a:r>
            <a:r>
              <a:rPr lang="en-US" sz="1000" i="1" dirty="0" err="1">
                <a:latin typeface="Calibri" panose="020F0502020204030204" pitchFamily="34" charset="0"/>
                <a:cs typeface="Calibri" panose="020F0502020204030204" pitchFamily="34" charset="0"/>
              </a:rPr>
              <a:t>Resp</a:t>
            </a:r>
            <a:r>
              <a:rPr lang="en-US" sz="1000" i="1" dirty="0">
                <a:latin typeface="Calibri" panose="020F0502020204030204" pitchFamily="34" charset="0"/>
                <a:cs typeface="Calibri" panose="020F0502020204030204" pitchFamily="34" charset="0"/>
              </a:rPr>
              <a:t> </a:t>
            </a:r>
            <a:r>
              <a:rPr lang="en-US" sz="1000" i="1" dirty="0" err="1">
                <a:latin typeface="Calibri" panose="020F0502020204030204" pitchFamily="34" charset="0"/>
                <a:cs typeface="Calibri" panose="020F0502020204030204" pitchFamily="34" charset="0"/>
              </a:rPr>
              <a:t>Crit</a:t>
            </a:r>
            <a:r>
              <a:rPr lang="en-US" sz="1000" i="1" dirty="0">
                <a:latin typeface="Calibri" panose="020F0502020204030204" pitchFamily="34" charset="0"/>
                <a:cs typeface="Calibri" panose="020F0502020204030204" pitchFamily="34" charset="0"/>
              </a:rPr>
              <a:t> Care. </a:t>
            </a:r>
            <a:r>
              <a:rPr lang="en-US" sz="1000" dirty="0">
                <a:latin typeface="Calibri" panose="020F0502020204030204" pitchFamily="34" charset="0"/>
                <a:cs typeface="Calibri" panose="020F0502020204030204" pitchFamily="34" charset="0"/>
              </a:rPr>
              <a:t>2017; 196:438–446.</a:t>
            </a:r>
          </a:p>
        </p:txBody>
      </p:sp>
      <p:graphicFrame>
        <p:nvGraphicFramePr>
          <p:cNvPr id="29" name="Content Placeholder 8"/>
          <p:cNvGraphicFramePr>
            <a:graphicFrameLocks/>
          </p:cNvGraphicFramePr>
          <p:nvPr>
            <p:extLst>
              <p:ext uri="{D42A27DB-BD31-4B8C-83A1-F6EECF244321}">
                <p14:modId xmlns:p14="http://schemas.microsoft.com/office/powerpoint/2010/main" val="1182531041"/>
              </p:ext>
            </p:extLst>
          </p:nvPr>
        </p:nvGraphicFramePr>
        <p:xfrm>
          <a:off x="1857376" y="2113298"/>
          <a:ext cx="8423275" cy="4417014"/>
        </p:xfrm>
        <a:graphic>
          <a:graphicData uri="http://schemas.openxmlformats.org/drawingml/2006/chart">
            <c:chart xmlns:c="http://schemas.openxmlformats.org/drawingml/2006/chart" xmlns:r="http://schemas.openxmlformats.org/officeDocument/2006/relationships" r:id="rId3"/>
          </a:graphicData>
        </a:graphic>
      </p:graphicFrame>
      <p:sp>
        <p:nvSpPr>
          <p:cNvPr id="30" name="TextBox 29"/>
          <p:cNvSpPr txBox="1"/>
          <p:nvPr/>
        </p:nvSpPr>
        <p:spPr>
          <a:xfrm>
            <a:off x="6302189" y="2884576"/>
            <a:ext cx="1307299" cy="406265"/>
          </a:xfrm>
          <a:prstGeom prst="rect">
            <a:avLst/>
          </a:prstGeom>
          <a:solidFill>
            <a:schemeClr val="bg1"/>
          </a:solidFill>
        </p:spPr>
        <p:txBody>
          <a:bodyPr wrap="square" lIns="0" tIns="18288" rIns="0" bIns="18288" rtlCol="0">
            <a:spAutoFit/>
          </a:bodyPr>
          <a:lstStyle/>
          <a:p>
            <a:pPr defTabSz="914400">
              <a:defRPr/>
            </a:pPr>
            <a:r>
              <a:rPr lang="en-GB" sz="1200" dirty="0">
                <a:solidFill>
                  <a:srgbClr val="544F40"/>
                </a:solidFill>
                <a:latin typeface="Arial"/>
              </a:rPr>
              <a:t>Reduction of </a:t>
            </a:r>
            <a:r>
              <a:rPr lang="en-GB" sz="1200" b="1" dirty="0">
                <a:solidFill>
                  <a:srgbClr val="544F40"/>
                </a:solidFill>
                <a:latin typeface="Arial"/>
              </a:rPr>
              <a:t>44% </a:t>
            </a:r>
            <a:r>
              <a:rPr lang="en-GB" sz="1200" dirty="0">
                <a:solidFill>
                  <a:srgbClr val="544F40"/>
                </a:solidFill>
                <a:latin typeface="Arial"/>
              </a:rPr>
              <a:t>95% CI: 0.37, 0.85</a:t>
            </a:r>
            <a:endParaRPr lang="en-GB" sz="1200" b="1" dirty="0">
              <a:solidFill>
                <a:srgbClr val="544F40"/>
              </a:solidFill>
              <a:latin typeface="Arial"/>
            </a:endParaRPr>
          </a:p>
        </p:txBody>
      </p:sp>
      <p:sp>
        <p:nvSpPr>
          <p:cNvPr id="31" name="TextBox 30"/>
          <p:cNvSpPr txBox="1"/>
          <p:nvPr/>
        </p:nvSpPr>
        <p:spPr>
          <a:xfrm>
            <a:off x="3371738" y="5206849"/>
            <a:ext cx="873637" cy="553998"/>
          </a:xfrm>
          <a:prstGeom prst="rect">
            <a:avLst/>
          </a:prstGeom>
          <a:noFill/>
        </p:spPr>
        <p:txBody>
          <a:bodyPr wrap="none" lIns="0" tIns="0" rIns="0" bIns="0" rtlCol="0">
            <a:spAutoFit/>
          </a:bodyPr>
          <a:lstStyle/>
          <a:p>
            <a:pPr algn="ctr" defTabSz="914400">
              <a:defRPr/>
            </a:pPr>
            <a:r>
              <a:rPr lang="en-GB" sz="1200" dirty="0">
                <a:solidFill>
                  <a:srgbClr val="544F40"/>
                </a:solidFill>
                <a:latin typeface="Arial"/>
              </a:rPr>
              <a:t>FF/UMEC/VI</a:t>
            </a:r>
          </a:p>
          <a:p>
            <a:pPr algn="ctr" defTabSz="914400">
              <a:defRPr/>
            </a:pPr>
            <a:r>
              <a:rPr lang="en-GB" sz="1200" dirty="0">
                <a:solidFill>
                  <a:srgbClr val="544F40"/>
                </a:solidFill>
                <a:latin typeface="Arial"/>
              </a:rPr>
              <a:t>100/62.5/25</a:t>
            </a:r>
          </a:p>
          <a:p>
            <a:pPr algn="ctr" defTabSz="914400">
              <a:defRPr/>
            </a:pPr>
            <a:r>
              <a:rPr lang="en-GB" sz="1200" dirty="0">
                <a:solidFill>
                  <a:srgbClr val="544F40"/>
                </a:solidFill>
                <a:latin typeface="Arial"/>
              </a:rPr>
              <a:t>(n=911)</a:t>
            </a:r>
          </a:p>
        </p:txBody>
      </p:sp>
      <p:sp>
        <p:nvSpPr>
          <p:cNvPr id="32" name="TextBox 31"/>
          <p:cNvSpPr txBox="1"/>
          <p:nvPr/>
        </p:nvSpPr>
        <p:spPr>
          <a:xfrm>
            <a:off x="4729800" y="5208311"/>
            <a:ext cx="692497" cy="553998"/>
          </a:xfrm>
          <a:prstGeom prst="rect">
            <a:avLst/>
          </a:prstGeom>
          <a:noFill/>
        </p:spPr>
        <p:txBody>
          <a:bodyPr wrap="none" lIns="0" tIns="0" rIns="0" bIns="0" rtlCol="0">
            <a:spAutoFit/>
          </a:bodyPr>
          <a:lstStyle/>
          <a:p>
            <a:pPr algn="ctr" defTabSz="914400">
              <a:defRPr/>
            </a:pPr>
            <a:r>
              <a:rPr lang="en-GB" sz="1200" dirty="0">
                <a:solidFill>
                  <a:srgbClr val="544F40"/>
                </a:solidFill>
                <a:latin typeface="Arial"/>
              </a:rPr>
              <a:t>BUD/FOR</a:t>
            </a:r>
          </a:p>
          <a:p>
            <a:pPr algn="ctr" defTabSz="914400">
              <a:defRPr/>
            </a:pPr>
            <a:r>
              <a:rPr lang="en-GB" sz="1200" dirty="0">
                <a:solidFill>
                  <a:srgbClr val="544F40"/>
                </a:solidFill>
                <a:latin typeface="Arial"/>
              </a:rPr>
              <a:t>400/12</a:t>
            </a:r>
          </a:p>
          <a:p>
            <a:pPr algn="ctr" defTabSz="914400">
              <a:defRPr/>
            </a:pPr>
            <a:r>
              <a:rPr lang="en-GB" sz="1200" dirty="0">
                <a:solidFill>
                  <a:srgbClr val="544F40"/>
                </a:solidFill>
                <a:latin typeface="Arial"/>
              </a:rPr>
              <a:t>(n=899)</a:t>
            </a:r>
          </a:p>
        </p:txBody>
      </p:sp>
      <p:sp>
        <p:nvSpPr>
          <p:cNvPr id="33" name="TextBox 32"/>
          <p:cNvSpPr txBox="1"/>
          <p:nvPr/>
        </p:nvSpPr>
        <p:spPr>
          <a:xfrm>
            <a:off x="7179770" y="5208312"/>
            <a:ext cx="873637" cy="553998"/>
          </a:xfrm>
          <a:prstGeom prst="rect">
            <a:avLst/>
          </a:prstGeom>
          <a:noFill/>
        </p:spPr>
        <p:txBody>
          <a:bodyPr wrap="none" lIns="0" tIns="0" rIns="0" bIns="0" rtlCol="0">
            <a:spAutoFit/>
          </a:bodyPr>
          <a:lstStyle/>
          <a:p>
            <a:pPr algn="ctr" defTabSz="914400">
              <a:defRPr/>
            </a:pPr>
            <a:r>
              <a:rPr lang="en-GB" sz="1200" dirty="0">
                <a:solidFill>
                  <a:srgbClr val="544F40"/>
                </a:solidFill>
                <a:latin typeface="Arial"/>
              </a:rPr>
              <a:t>FF/UMEC/VI</a:t>
            </a:r>
          </a:p>
          <a:p>
            <a:pPr algn="ctr" defTabSz="914400">
              <a:defRPr/>
            </a:pPr>
            <a:r>
              <a:rPr lang="en-GB" sz="1200" dirty="0">
                <a:solidFill>
                  <a:srgbClr val="544F40"/>
                </a:solidFill>
                <a:latin typeface="Arial"/>
              </a:rPr>
              <a:t>100/62.5/25</a:t>
            </a:r>
          </a:p>
          <a:p>
            <a:pPr algn="ctr" defTabSz="914400">
              <a:defRPr/>
            </a:pPr>
            <a:r>
              <a:rPr lang="en-GB" sz="1200" dirty="0">
                <a:solidFill>
                  <a:srgbClr val="544F40"/>
                </a:solidFill>
                <a:latin typeface="Arial"/>
              </a:rPr>
              <a:t>(n=210)</a:t>
            </a:r>
          </a:p>
        </p:txBody>
      </p:sp>
      <p:sp>
        <p:nvSpPr>
          <p:cNvPr id="34" name="TextBox 33"/>
          <p:cNvSpPr txBox="1"/>
          <p:nvPr/>
        </p:nvSpPr>
        <p:spPr>
          <a:xfrm>
            <a:off x="8563546" y="5208313"/>
            <a:ext cx="692497" cy="553998"/>
          </a:xfrm>
          <a:prstGeom prst="rect">
            <a:avLst/>
          </a:prstGeom>
          <a:noFill/>
        </p:spPr>
        <p:txBody>
          <a:bodyPr wrap="none" lIns="0" tIns="0" rIns="0" bIns="0" rtlCol="0">
            <a:spAutoFit/>
          </a:bodyPr>
          <a:lstStyle/>
          <a:p>
            <a:pPr algn="ctr" defTabSz="914400">
              <a:defRPr/>
            </a:pPr>
            <a:r>
              <a:rPr lang="en-GB" sz="1200" dirty="0">
                <a:solidFill>
                  <a:srgbClr val="544F40"/>
                </a:solidFill>
                <a:latin typeface="Arial"/>
              </a:rPr>
              <a:t>BUD/FOR</a:t>
            </a:r>
          </a:p>
          <a:p>
            <a:pPr algn="ctr" defTabSz="914400">
              <a:defRPr/>
            </a:pPr>
            <a:r>
              <a:rPr lang="en-GB" sz="1200" dirty="0">
                <a:solidFill>
                  <a:srgbClr val="544F40"/>
                </a:solidFill>
                <a:latin typeface="Arial"/>
              </a:rPr>
              <a:t>400/12</a:t>
            </a:r>
          </a:p>
          <a:p>
            <a:pPr algn="ctr" defTabSz="914400">
              <a:defRPr/>
            </a:pPr>
            <a:r>
              <a:rPr lang="en-GB" sz="1200" dirty="0">
                <a:solidFill>
                  <a:srgbClr val="544F40"/>
                </a:solidFill>
                <a:latin typeface="Arial"/>
              </a:rPr>
              <a:t>(n=219)</a:t>
            </a:r>
          </a:p>
        </p:txBody>
      </p:sp>
      <p:sp>
        <p:nvSpPr>
          <p:cNvPr id="39" name="TextBox 38"/>
          <p:cNvSpPr txBox="1"/>
          <p:nvPr/>
        </p:nvSpPr>
        <p:spPr>
          <a:xfrm>
            <a:off x="2653554" y="2884576"/>
            <a:ext cx="1228171" cy="406265"/>
          </a:xfrm>
          <a:prstGeom prst="rect">
            <a:avLst/>
          </a:prstGeom>
          <a:solidFill>
            <a:schemeClr val="bg1"/>
          </a:solidFill>
        </p:spPr>
        <p:txBody>
          <a:bodyPr wrap="square" lIns="0" tIns="18288" rIns="0" bIns="18288" rtlCol="0">
            <a:spAutoFit/>
          </a:bodyPr>
          <a:lstStyle/>
          <a:p>
            <a:pPr defTabSz="914400">
              <a:defRPr/>
            </a:pPr>
            <a:r>
              <a:rPr lang="en-GB" sz="1200" dirty="0">
                <a:solidFill>
                  <a:srgbClr val="544F40"/>
                </a:solidFill>
                <a:latin typeface="Arial"/>
              </a:rPr>
              <a:t>Reduction of </a:t>
            </a:r>
            <a:r>
              <a:rPr lang="en-GB" sz="1200" b="1" dirty="0">
                <a:solidFill>
                  <a:srgbClr val="544F40"/>
                </a:solidFill>
                <a:latin typeface="Arial"/>
              </a:rPr>
              <a:t>35% </a:t>
            </a:r>
            <a:r>
              <a:rPr lang="en-GB" sz="1200" dirty="0">
                <a:solidFill>
                  <a:srgbClr val="544F40"/>
                </a:solidFill>
                <a:latin typeface="Arial"/>
              </a:rPr>
              <a:t>95% CI: 14, 51</a:t>
            </a:r>
            <a:endParaRPr lang="en-GB" sz="1200" b="1" dirty="0">
              <a:solidFill>
                <a:srgbClr val="544F40"/>
              </a:solidFill>
              <a:latin typeface="Arial"/>
            </a:endParaRPr>
          </a:p>
        </p:txBody>
      </p:sp>
      <p:sp>
        <p:nvSpPr>
          <p:cNvPr id="42" name="TextBox 41"/>
          <p:cNvSpPr txBox="1"/>
          <p:nvPr/>
        </p:nvSpPr>
        <p:spPr>
          <a:xfrm rot="16200000">
            <a:off x="637258" y="3486128"/>
            <a:ext cx="2673850" cy="215444"/>
          </a:xfrm>
          <a:prstGeom prst="rect">
            <a:avLst/>
          </a:prstGeom>
          <a:noFill/>
        </p:spPr>
        <p:txBody>
          <a:bodyPr wrap="square" lIns="0" tIns="0" rIns="0" bIns="0" rtlCol="0">
            <a:spAutoFit/>
          </a:bodyPr>
          <a:lstStyle/>
          <a:p>
            <a:pPr algn="ctr" defTabSz="914400">
              <a:defRPr/>
            </a:pPr>
            <a:r>
              <a:rPr lang="en-US" sz="1400" b="1" dirty="0">
                <a:solidFill>
                  <a:srgbClr val="544F40"/>
                </a:solidFill>
                <a:latin typeface="Arial"/>
              </a:rPr>
              <a:t>Annual exacerbation mean rate</a:t>
            </a:r>
          </a:p>
        </p:txBody>
      </p:sp>
      <p:sp>
        <p:nvSpPr>
          <p:cNvPr id="43" name="TextBox 42"/>
          <p:cNvSpPr txBox="1"/>
          <p:nvPr/>
        </p:nvSpPr>
        <p:spPr>
          <a:xfrm>
            <a:off x="4087368" y="2108400"/>
            <a:ext cx="685955" cy="221599"/>
          </a:xfrm>
          <a:prstGeom prst="rect">
            <a:avLst/>
          </a:prstGeom>
          <a:noFill/>
        </p:spPr>
        <p:txBody>
          <a:bodyPr wrap="square" lIns="0" tIns="18288" rIns="0" bIns="18288" rtlCol="0">
            <a:spAutoFit/>
          </a:bodyPr>
          <a:lstStyle/>
          <a:p>
            <a:pPr algn="ctr" defTabSz="914400">
              <a:defRPr/>
            </a:pPr>
            <a:r>
              <a:rPr lang="en-GB" sz="1200" i="1" dirty="0">
                <a:solidFill>
                  <a:srgbClr val="544F40"/>
                </a:solidFill>
                <a:latin typeface="Arial"/>
              </a:rPr>
              <a:t>P</a:t>
            </a:r>
            <a:r>
              <a:rPr lang="en-GB" sz="1200" dirty="0">
                <a:solidFill>
                  <a:srgbClr val="544F40"/>
                </a:solidFill>
                <a:latin typeface="Arial"/>
              </a:rPr>
              <a:t>=0.002</a:t>
            </a:r>
            <a:endParaRPr lang="en-GB" sz="1200" b="1" dirty="0">
              <a:solidFill>
                <a:srgbClr val="544F40"/>
              </a:solidFill>
              <a:latin typeface="Arial"/>
            </a:endParaRPr>
          </a:p>
        </p:txBody>
      </p:sp>
      <p:cxnSp>
        <p:nvCxnSpPr>
          <p:cNvPr id="52" name="Straight Arrow Connector 51"/>
          <p:cNvCxnSpPr/>
          <p:nvPr/>
        </p:nvCxnSpPr>
        <p:spPr>
          <a:xfrm>
            <a:off x="3893645" y="2738588"/>
            <a:ext cx="0" cy="736918"/>
          </a:xfrm>
          <a:prstGeom prst="straightConnector1">
            <a:avLst/>
          </a:prstGeom>
          <a:ln w="1905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900708" y="2108400"/>
            <a:ext cx="743198" cy="221599"/>
          </a:xfrm>
          <a:prstGeom prst="rect">
            <a:avLst/>
          </a:prstGeom>
          <a:noFill/>
        </p:spPr>
        <p:txBody>
          <a:bodyPr wrap="square" lIns="0" tIns="18288" rIns="0" bIns="18288" rtlCol="0">
            <a:spAutoFit/>
          </a:bodyPr>
          <a:lstStyle/>
          <a:p>
            <a:pPr algn="ctr" defTabSz="914400">
              <a:defRPr/>
            </a:pPr>
            <a:r>
              <a:rPr lang="en-GB" sz="1200" i="1" dirty="0">
                <a:solidFill>
                  <a:srgbClr val="544F40"/>
                </a:solidFill>
                <a:latin typeface="Arial"/>
              </a:rPr>
              <a:t>P</a:t>
            </a:r>
            <a:r>
              <a:rPr lang="en-GB" sz="1200" dirty="0">
                <a:solidFill>
                  <a:srgbClr val="544F40"/>
                </a:solidFill>
                <a:latin typeface="Arial"/>
              </a:rPr>
              <a:t>=0.006</a:t>
            </a:r>
            <a:endParaRPr lang="en-GB" sz="1200" b="1" dirty="0">
              <a:solidFill>
                <a:srgbClr val="544F40"/>
              </a:solidFill>
              <a:latin typeface="Arial"/>
            </a:endParaRPr>
          </a:p>
        </p:txBody>
      </p:sp>
      <p:cxnSp>
        <p:nvCxnSpPr>
          <p:cNvPr id="54" name="Straight Arrow Connector 53"/>
          <p:cNvCxnSpPr/>
          <p:nvPr/>
        </p:nvCxnSpPr>
        <p:spPr>
          <a:xfrm>
            <a:off x="7625643" y="2616253"/>
            <a:ext cx="0" cy="1035877"/>
          </a:xfrm>
          <a:prstGeom prst="straightConnector1">
            <a:avLst/>
          </a:prstGeom>
          <a:ln w="19050">
            <a:solidFill>
              <a:schemeClr val="bg2"/>
            </a:solidFill>
            <a:tailEnd type="triangle" w="lg" len="lg"/>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404344" y="1746541"/>
            <a:ext cx="2052000" cy="288000"/>
          </a:xfrm>
          <a:prstGeom prst="roundRect">
            <a:avLst/>
          </a:prstGeom>
          <a:solidFill>
            <a:schemeClr val="tx2"/>
          </a:solidFill>
          <a:ln>
            <a:noFill/>
          </a:ln>
          <a:effectLst>
            <a:outerShdw blurRad="50800" dist="38100" dir="2700000" algn="tl" rotWithShape="0">
              <a:prstClr val="black">
                <a:alpha val="40000"/>
              </a:prstClr>
            </a:outerShdw>
          </a:effectLst>
        </p:spPr>
        <p:txBody>
          <a:bodyPr wrap="none" lIns="0" tIns="0" rIns="0" bIns="0" rtlCol="0" anchor="ctr" anchorCtr="0">
            <a:noAutofit/>
          </a:bodyPr>
          <a:lstStyle/>
          <a:p>
            <a:pPr algn="ctr" defTabSz="914400">
              <a:defRPr/>
            </a:pPr>
            <a:r>
              <a:rPr lang="en-GB" sz="1200" b="1" dirty="0">
                <a:solidFill>
                  <a:srgbClr val="FFFFFF"/>
                </a:solidFill>
                <a:latin typeface="Arial"/>
              </a:rPr>
              <a:t>Up to 24 weeks</a:t>
            </a:r>
          </a:p>
        </p:txBody>
      </p:sp>
      <p:sp>
        <p:nvSpPr>
          <p:cNvPr id="45" name="TextBox 44"/>
          <p:cNvSpPr txBox="1"/>
          <p:nvPr/>
        </p:nvSpPr>
        <p:spPr>
          <a:xfrm>
            <a:off x="7246307" y="1746541"/>
            <a:ext cx="2052000" cy="288000"/>
          </a:xfrm>
          <a:prstGeom prst="roundRect">
            <a:avLst/>
          </a:prstGeom>
          <a:solidFill>
            <a:schemeClr val="tx2"/>
          </a:solidFill>
          <a:ln>
            <a:noFill/>
          </a:ln>
          <a:effectLst>
            <a:outerShdw blurRad="50800" dist="38100" dir="2700000" algn="tl" rotWithShape="0">
              <a:prstClr val="black">
                <a:alpha val="40000"/>
              </a:prstClr>
            </a:outerShdw>
          </a:effectLst>
        </p:spPr>
        <p:txBody>
          <a:bodyPr wrap="none" lIns="0" tIns="0" rIns="0" bIns="0" rtlCol="0" anchor="ctr" anchorCtr="0">
            <a:noAutofit/>
          </a:bodyPr>
          <a:lstStyle/>
          <a:p>
            <a:pPr algn="ctr" defTabSz="914400">
              <a:defRPr/>
            </a:pPr>
            <a:r>
              <a:rPr lang="en-GB" sz="1200" b="1" dirty="0">
                <a:solidFill>
                  <a:srgbClr val="FFFFFF"/>
                </a:solidFill>
                <a:latin typeface="Arial"/>
              </a:rPr>
              <a:t>Up to 52 weeks</a:t>
            </a:r>
          </a:p>
        </p:txBody>
      </p:sp>
      <p:sp>
        <p:nvSpPr>
          <p:cNvPr id="3" name="ZoneTexte 2">
            <a:extLst>
              <a:ext uri="{FF2B5EF4-FFF2-40B4-BE49-F238E27FC236}">
                <a16:creationId xmlns:a16="http://schemas.microsoft.com/office/drawing/2014/main" id="{7698A2CD-DD88-3676-CA8E-9C1033EB7827}"/>
              </a:ext>
            </a:extLst>
          </p:cNvPr>
          <p:cNvSpPr txBox="1"/>
          <p:nvPr/>
        </p:nvSpPr>
        <p:spPr>
          <a:xfrm>
            <a:off x="1383106" y="5873689"/>
            <a:ext cx="6094476" cy="461665"/>
          </a:xfrm>
          <a:prstGeom prst="rect">
            <a:avLst/>
          </a:prstGeom>
          <a:noFill/>
        </p:spPr>
        <p:txBody>
          <a:bodyPr wrap="square">
            <a:spAutoFit/>
          </a:bodyPr>
          <a:lstStyle/>
          <a:p>
            <a:pPr defTabSz="882213">
              <a:defRPr/>
            </a:pPr>
            <a:r>
              <a:rPr lang="en-GB" sz="800" dirty="0"/>
              <a:t>BUD, budesonide; COPD, chronic obstructive pulmonary disease; FF, fluticasone furoate; FOR, formoterol; UMEC, umeclidinium; VI, vilanterol</a:t>
            </a:r>
            <a:endParaRPr lang="en-US" sz="800" dirty="0"/>
          </a:p>
          <a:p>
            <a:pPr lvl="0"/>
            <a:r>
              <a:rPr lang="en-GB" sz="800" dirty="0"/>
              <a:t>FULFIL, </a:t>
            </a:r>
            <a:r>
              <a:rPr lang="en-US" sz="800" dirty="0"/>
              <a:t>lung </a:t>
            </a:r>
            <a:r>
              <a:rPr lang="en-US" sz="800" dirty="0" err="1"/>
              <a:t>FUnction</a:t>
            </a:r>
            <a:r>
              <a:rPr lang="en-US" sz="800" dirty="0"/>
              <a:t> and quality of </a:t>
            </a:r>
            <a:r>
              <a:rPr lang="en-US" sz="800" dirty="0" err="1"/>
              <a:t>LiFe</a:t>
            </a:r>
            <a:r>
              <a:rPr lang="en-US" sz="800" dirty="0"/>
              <a:t> assessment in COPD with single inhaler </a:t>
            </a:r>
            <a:r>
              <a:rPr lang="en-US" sz="800" dirty="0" err="1"/>
              <a:t>trIpLe</a:t>
            </a:r>
            <a:r>
              <a:rPr lang="en-US" sz="800" dirty="0"/>
              <a:t> therapy</a:t>
            </a:r>
            <a:endParaRPr lang="en-GB" sz="800" dirty="0"/>
          </a:p>
        </p:txBody>
      </p:sp>
      <p:sp>
        <p:nvSpPr>
          <p:cNvPr id="2" name="Slide Number Placeholder 4">
            <a:extLst>
              <a:ext uri="{FF2B5EF4-FFF2-40B4-BE49-F238E27FC236}">
                <a16:creationId xmlns:a16="http://schemas.microsoft.com/office/drawing/2014/main" id="{86993D14-2C1C-A746-C2B0-AE1F6609407F}"/>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15</a:t>
            </a:fld>
            <a:endParaRPr lang="en-GB" sz="1000" dirty="0">
              <a:solidFill>
                <a:srgbClr val="000000"/>
              </a:solidFill>
              <a:latin typeface="Arial"/>
              <a:cs typeface="Noto Sans"/>
            </a:endParaRPr>
          </a:p>
        </p:txBody>
      </p:sp>
    </p:spTree>
    <p:extLst>
      <p:ext uri="{BB962C8B-B14F-4D97-AF65-F5344CB8AC3E}">
        <p14:creationId xmlns:p14="http://schemas.microsoft.com/office/powerpoint/2010/main" val="7711734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313096" y="1330723"/>
            <a:ext cx="8520008" cy="322708"/>
          </a:xfrm>
        </p:spPr>
        <p:txBody>
          <a:bodyPr vert="horz" lIns="0" tIns="0" rIns="0" bIns="720000" rtlCol="0" anchor="b" anchorCtr="0">
            <a:noAutofit/>
          </a:bodyPr>
          <a:lstStyle/>
          <a:p>
            <a:r>
              <a:rPr lang="en-GB" sz="2400" dirty="0"/>
              <a:t>Comparable adverse event profiles for once daily single inhaler triple therapy (FF/UMEC/VI) and BUD/FOR </a:t>
            </a:r>
            <a:br>
              <a:rPr lang="en-GB" sz="2400" dirty="0"/>
            </a:br>
            <a:endParaRPr lang="pt-BR" sz="2400" dirty="0"/>
          </a:p>
        </p:txBody>
      </p:sp>
      <p:sp>
        <p:nvSpPr>
          <p:cNvPr id="16" name="Text Placeholder 15"/>
          <p:cNvSpPr>
            <a:spLocks noGrp="1"/>
          </p:cNvSpPr>
          <p:nvPr>
            <p:ph type="body" sz="quarter" idx="14"/>
          </p:nvPr>
        </p:nvSpPr>
        <p:spPr>
          <a:xfrm>
            <a:off x="313096" y="799012"/>
            <a:ext cx="10130368" cy="234950"/>
          </a:xfrm>
        </p:spPr>
        <p:txBody>
          <a:bodyPr/>
          <a:lstStyle/>
          <a:p>
            <a:r>
              <a:rPr lang="en-GB" sz="2000" b="1" dirty="0"/>
              <a:t>On-treatment adverse events </a:t>
            </a:r>
            <a:r>
              <a:rPr lang="en-US" sz="2000" b="1" dirty="0"/>
              <a:t>in FULFIL</a:t>
            </a:r>
            <a:r>
              <a:rPr lang="en-US" sz="2000" b="1" baseline="30000" dirty="0"/>
              <a:t>1–2</a:t>
            </a:r>
          </a:p>
          <a:p>
            <a:pPr lvl="0"/>
            <a:endParaRPr lang="en-US" sz="2000" b="1" dirty="0"/>
          </a:p>
        </p:txBody>
      </p:sp>
      <p:sp>
        <p:nvSpPr>
          <p:cNvPr id="10" name="Text Placeholder 9"/>
          <p:cNvSpPr>
            <a:spLocks noGrp="1"/>
          </p:cNvSpPr>
          <p:nvPr>
            <p:ph type="body" sz="quarter" idx="19"/>
          </p:nvPr>
        </p:nvSpPr>
        <p:spPr>
          <a:xfrm>
            <a:off x="1893568" y="6162575"/>
            <a:ext cx="8171182" cy="572804"/>
          </a:xfrm>
        </p:spPr>
        <p:txBody>
          <a:bodyPr/>
          <a:lstStyle/>
          <a:p>
            <a:r>
              <a:rPr lang="en-GB" dirty="0"/>
              <a:t>1. </a:t>
            </a:r>
            <a:r>
              <a:rPr lang="en-US" dirty="0"/>
              <a:t>Lipson DA </a:t>
            </a:r>
            <a:r>
              <a:rPr lang="en-US" i="1" dirty="0"/>
              <a:t>et al.</a:t>
            </a:r>
            <a:r>
              <a:rPr lang="en-US" dirty="0"/>
              <a:t> </a:t>
            </a:r>
            <a:r>
              <a:rPr lang="en-US" i="1" dirty="0"/>
              <a:t>Am J</a:t>
            </a:r>
            <a:r>
              <a:rPr lang="en-US" dirty="0"/>
              <a:t> </a:t>
            </a:r>
            <a:r>
              <a:rPr lang="en-US" i="1" dirty="0" err="1"/>
              <a:t>Resp</a:t>
            </a:r>
            <a:r>
              <a:rPr lang="en-US" i="1" dirty="0"/>
              <a:t> </a:t>
            </a:r>
            <a:r>
              <a:rPr lang="en-US" i="1" dirty="0" err="1"/>
              <a:t>Crit</a:t>
            </a:r>
            <a:r>
              <a:rPr lang="en-US" i="1" dirty="0"/>
              <a:t> Care. </a:t>
            </a:r>
            <a:r>
              <a:rPr lang="en-US" dirty="0"/>
              <a:t>2017; 196:438–446</a:t>
            </a:r>
            <a:r>
              <a:rPr lang="en-GB" dirty="0"/>
              <a:t>; 2. GSK Clinical Trial Registry, CTT116853 Clinical Study Result Summary. Available from </a:t>
            </a:r>
            <a:r>
              <a:rPr lang="en-GB" dirty="0">
                <a:hlinkClick r:id="rId3"/>
              </a:rPr>
              <a:t>https://www.gsk-clinicalstudyregister.com</a:t>
            </a:r>
            <a:r>
              <a:rPr lang="en-GB" dirty="0"/>
              <a:t>. Accessed September 2017.</a:t>
            </a:r>
          </a:p>
        </p:txBody>
      </p:sp>
      <p:graphicFrame>
        <p:nvGraphicFramePr>
          <p:cNvPr id="15" name="Group 152"/>
          <p:cNvGraphicFramePr>
            <a:graphicFrameLocks/>
          </p:cNvGraphicFramePr>
          <p:nvPr>
            <p:extLst>
              <p:ext uri="{D42A27DB-BD31-4B8C-83A1-F6EECF244321}">
                <p14:modId xmlns:p14="http://schemas.microsoft.com/office/powerpoint/2010/main" val="1417377617"/>
              </p:ext>
            </p:extLst>
          </p:nvPr>
        </p:nvGraphicFramePr>
        <p:xfrm>
          <a:off x="1884363" y="1418458"/>
          <a:ext cx="8441035" cy="3570578"/>
        </p:xfrm>
        <a:graphic>
          <a:graphicData uri="http://schemas.openxmlformats.org/drawingml/2006/table">
            <a:tbl>
              <a:tblPr firstRow="1" bandRow="1">
                <a:tableStyleId>{00A15C55-8517-42AA-B614-E9B94910E393}</a:tableStyleId>
              </a:tblPr>
              <a:tblGrid>
                <a:gridCol w="2765263">
                  <a:extLst>
                    <a:ext uri="{9D8B030D-6E8A-4147-A177-3AD203B41FA5}">
                      <a16:colId xmlns:a16="http://schemas.microsoft.com/office/drawing/2014/main" val="20000"/>
                    </a:ext>
                  </a:extLst>
                </a:gridCol>
                <a:gridCol w="1418943">
                  <a:extLst>
                    <a:ext uri="{9D8B030D-6E8A-4147-A177-3AD203B41FA5}">
                      <a16:colId xmlns:a16="http://schemas.microsoft.com/office/drawing/2014/main" val="20001"/>
                    </a:ext>
                  </a:extLst>
                </a:gridCol>
                <a:gridCol w="1418943">
                  <a:extLst>
                    <a:ext uri="{9D8B030D-6E8A-4147-A177-3AD203B41FA5}">
                      <a16:colId xmlns:a16="http://schemas.microsoft.com/office/drawing/2014/main" val="354368468"/>
                    </a:ext>
                  </a:extLst>
                </a:gridCol>
                <a:gridCol w="1418943">
                  <a:extLst>
                    <a:ext uri="{9D8B030D-6E8A-4147-A177-3AD203B41FA5}">
                      <a16:colId xmlns:a16="http://schemas.microsoft.com/office/drawing/2014/main" val="63883431"/>
                    </a:ext>
                  </a:extLst>
                </a:gridCol>
                <a:gridCol w="1418943">
                  <a:extLst>
                    <a:ext uri="{9D8B030D-6E8A-4147-A177-3AD203B41FA5}">
                      <a16:colId xmlns:a16="http://schemas.microsoft.com/office/drawing/2014/main" val="20002"/>
                    </a:ext>
                  </a:extLst>
                </a:gridCol>
              </a:tblGrid>
              <a:tr h="298616">
                <a:tc rowSpan="2">
                  <a:txBody>
                    <a:bodyPr/>
                    <a:lstStyle/>
                    <a:p>
                      <a:pPr marL="0" marR="0" lvl="0" indent="0" algn="l" defTabSz="1744663" rtl="0" eaLnBrk="1" fontAlgn="base" latinLnBrk="0" hangingPunct="1">
                        <a:lnSpc>
                          <a:spcPct val="100000"/>
                        </a:lnSpc>
                        <a:spcBef>
                          <a:spcPct val="20000"/>
                        </a:spcBef>
                        <a:spcAft>
                          <a:spcPct val="0"/>
                        </a:spcAft>
                        <a:buClrTx/>
                        <a:buSzTx/>
                        <a:buFontTx/>
                        <a:buNone/>
                        <a:tabLst/>
                      </a:pPr>
                      <a:r>
                        <a:rPr kumimoji="0" lang="en-GB" sz="1200" u="none" strike="noStrike" cap="none" normalizeH="0" baseline="0" dirty="0">
                          <a:ln>
                            <a:noFill/>
                          </a:ln>
                          <a:effectLst/>
                        </a:rPr>
                        <a:t>On-treatment adverse event (≥3%),</a:t>
                      </a:r>
                      <a:br>
                        <a:rPr kumimoji="0" lang="en-GB" sz="1200" u="none" strike="noStrike" cap="none" normalizeH="0" baseline="0" dirty="0">
                          <a:ln>
                            <a:noFill/>
                          </a:ln>
                          <a:effectLst/>
                        </a:rPr>
                      </a:br>
                      <a:r>
                        <a:rPr kumimoji="0" lang="en-GB" sz="1200" u="none" strike="noStrike" cap="none" normalizeH="0" baseline="0" dirty="0">
                          <a:ln>
                            <a:noFill/>
                          </a:ln>
                          <a:effectLst/>
                        </a:rPr>
                        <a:t>n (%)</a:t>
                      </a:r>
                      <a:endParaRPr kumimoji="0" lang="en-GB" sz="1200" b="1" i="0" u="none" strike="noStrike" cap="none" normalizeH="0" baseline="0" dirty="0">
                        <a:ln>
                          <a:noFill/>
                        </a:ln>
                        <a:solidFill>
                          <a:schemeClr val="bg1"/>
                        </a:solidFill>
                        <a:effectLst/>
                        <a:latin typeface="+mn-lt"/>
                      </a:endParaRPr>
                    </a:p>
                  </a:txBody>
                  <a:tcPr marL="82733" marR="82733" marT="11143" marB="91440" anchor="b" horzOverflow="overflow"/>
                </a:tc>
                <a:tc gridSpan="2">
                  <a:txBody>
                    <a:bodyPr/>
                    <a:lstStyle/>
                    <a:p>
                      <a:pPr algn="ctr"/>
                      <a:r>
                        <a:rPr lang="en-GB" sz="1200" dirty="0"/>
                        <a:t>Up</a:t>
                      </a:r>
                      <a:r>
                        <a:rPr lang="en-GB" sz="1200" baseline="0" dirty="0"/>
                        <a:t> to 24 weeks</a:t>
                      </a:r>
                      <a:endParaRPr lang="en-GB" sz="1200" b="1" dirty="0">
                        <a:solidFill>
                          <a:schemeClr val="bg1"/>
                        </a:solidFill>
                      </a:endParaRPr>
                    </a:p>
                  </a:txBody>
                  <a:tcPr marL="82733" marR="82733" marT="11143" marB="11143" anchor="ctr" horzOverflow="overflow"/>
                </a:tc>
                <a:tc hMerge="1">
                  <a:txBody>
                    <a:bodyPr/>
                    <a:lstStyle/>
                    <a:p>
                      <a:endParaRPr lang="en-GB" dirty="0"/>
                    </a:p>
                  </a:txBody>
                  <a:tcPr marL="76371" marR="76371" marT="11143" marB="1114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algn="ctr"/>
                      <a:r>
                        <a:rPr lang="en-GB" sz="1200" dirty="0"/>
                        <a:t>Up to 52 weeks</a:t>
                      </a:r>
                      <a:endParaRPr lang="en-GB" sz="1200" b="1" dirty="0">
                        <a:solidFill>
                          <a:schemeClr val="bg1"/>
                        </a:solidFill>
                      </a:endParaRPr>
                    </a:p>
                  </a:txBody>
                  <a:tcPr marL="82733" marR="82733" marT="11143" marB="11143" anchor="ctr" horzOverflow="overflow"/>
                </a:tc>
                <a:tc hMerge="1">
                  <a:txBody>
                    <a:bodyPr/>
                    <a:lstStyle/>
                    <a:p>
                      <a:endParaRPr lang="en-GB" dirty="0"/>
                    </a:p>
                  </a:txBody>
                  <a:tcPr marL="76371" marR="76371" marT="11143" marB="1114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32594">
                <a:tc vMerge="1">
                  <a:txBody>
                    <a:bodyPr/>
                    <a:lstStyle/>
                    <a:p>
                      <a:endParaRPr lang="en-GB"/>
                    </a:p>
                  </a:txBody>
                  <a:tcPr/>
                </a:tc>
                <a:tc>
                  <a:txBody>
                    <a:bodyPr/>
                    <a:lstStyle/>
                    <a:p>
                      <a:pPr marL="0" marR="0" lvl="0" indent="0" algn="ctr" defTabSz="1744663" rtl="0" eaLnBrk="1" fontAlgn="base" latinLnBrk="0" hangingPunct="1">
                        <a:lnSpc>
                          <a:spcPct val="100000"/>
                        </a:lnSpc>
                        <a:spcBef>
                          <a:spcPct val="20000"/>
                        </a:spcBef>
                        <a:spcAft>
                          <a:spcPct val="0"/>
                        </a:spcAft>
                        <a:buClrTx/>
                        <a:buSzTx/>
                        <a:buFontTx/>
                        <a:buNone/>
                        <a:tabLst/>
                        <a:defRPr/>
                      </a:pPr>
                      <a:r>
                        <a:rPr kumimoji="0" lang="en-GB" sz="1200" b="1" u="none" strike="noStrike" cap="none" normalizeH="0" baseline="0" dirty="0">
                          <a:ln>
                            <a:noFill/>
                          </a:ln>
                          <a:solidFill>
                            <a:schemeClr val="tx1"/>
                          </a:solidFill>
                          <a:effectLst/>
                        </a:rPr>
                        <a:t>FF/UMEC/VI</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cap="none" normalizeH="0" baseline="0" dirty="0">
                          <a:ln>
                            <a:noFill/>
                          </a:ln>
                          <a:solidFill>
                            <a:schemeClr val="tx1"/>
                          </a:solidFill>
                          <a:effectLst/>
                        </a:rPr>
                        <a:t>100/62.5/</a:t>
                      </a:r>
                      <a:r>
                        <a:rPr kumimoji="0" lang="en-GB" sz="1200" b="1" u="none" strike="noStrike" kern="1200" cap="none" normalizeH="0" baseline="0" dirty="0">
                          <a:ln>
                            <a:noFill/>
                          </a:ln>
                          <a:solidFill>
                            <a:schemeClr val="tx1"/>
                          </a:solidFill>
                          <a:effectLst/>
                        </a:rPr>
                        <a:t>25</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chemeClr val="tx1"/>
                          </a:solidFill>
                          <a:effectLst/>
                        </a:rPr>
                        <a:t>(n=911)</a:t>
                      </a:r>
                      <a:endParaRPr kumimoji="0" lang="en-GB" sz="1200" b="1" i="0" u="none" strike="noStrike" kern="1200" cap="none" normalizeH="0" baseline="0" dirty="0">
                        <a:ln>
                          <a:noFill/>
                        </a:ln>
                        <a:solidFill>
                          <a:schemeClr val="tx1"/>
                        </a:solidFill>
                        <a:effectLst/>
                        <a:latin typeface="+mn-lt"/>
                        <a:ea typeface="+mn-ea"/>
                        <a:cs typeface="+mn-cs"/>
                      </a:endParaRPr>
                    </a:p>
                  </a:txBody>
                  <a:tcPr marL="82733" marR="82733" marT="11143" marB="91440" anchor="b" horzOverflow="overflow"/>
                </a:tc>
                <a:tc>
                  <a:txBody>
                    <a:bodyPr/>
                    <a:lstStyle/>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chemeClr val="tx1"/>
                          </a:solidFill>
                          <a:effectLst/>
                        </a:rPr>
                        <a:t>BUD/FOR</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chemeClr val="tx1"/>
                          </a:solidFill>
                          <a:effectLst/>
                        </a:rPr>
                        <a:t>400/12</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chemeClr val="tx1"/>
                          </a:solidFill>
                          <a:effectLst/>
                        </a:rPr>
                        <a:t>(n=899)</a:t>
                      </a:r>
                      <a:endParaRPr kumimoji="0" lang="en-GB" sz="1200" b="1" i="0" u="none" strike="noStrike" kern="1200" cap="none" normalizeH="0" baseline="0" dirty="0">
                        <a:ln>
                          <a:noFill/>
                        </a:ln>
                        <a:solidFill>
                          <a:schemeClr val="tx1"/>
                        </a:solidFill>
                        <a:effectLst/>
                        <a:latin typeface="+mn-lt"/>
                        <a:ea typeface="+mn-ea"/>
                        <a:cs typeface="+mn-cs"/>
                      </a:endParaRPr>
                    </a:p>
                  </a:txBody>
                  <a:tcPr marL="82733" marR="82733" marT="11143" marB="91440" anchor="b" horzOverflow="overflow"/>
                </a:tc>
                <a:tc>
                  <a:txBody>
                    <a:bodyPr/>
                    <a:lstStyle/>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chemeClr val="tx1"/>
                          </a:solidFill>
                          <a:effectLst/>
                        </a:rPr>
                        <a:t>FF/UMEC/VI</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chemeClr val="tx1"/>
                          </a:solidFill>
                          <a:effectLst/>
                        </a:rPr>
                        <a:t>100/62.5/25</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chemeClr val="tx1"/>
                          </a:solidFill>
                          <a:effectLst/>
                        </a:rPr>
                        <a:t>(n=210)</a:t>
                      </a:r>
                      <a:endParaRPr kumimoji="0" lang="en-GB" sz="1200" b="1" i="0" u="none" strike="noStrike" kern="1200" cap="none" normalizeH="0" baseline="0" dirty="0">
                        <a:ln>
                          <a:noFill/>
                        </a:ln>
                        <a:solidFill>
                          <a:schemeClr val="tx1"/>
                        </a:solidFill>
                        <a:effectLst/>
                        <a:latin typeface="+mn-lt"/>
                        <a:ea typeface="+mn-ea"/>
                        <a:cs typeface="+mn-cs"/>
                      </a:endParaRPr>
                    </a:p>
                  </a:txBody>
                  <a:tcPr marL="82733" marR="82733" marT="11143" marB="91440" anchor="b" horzOverflow="overflow"/>
                </a:tc>
                <a:tc>
                  <a:txBody>
                    <a:bodyPr/>
                    <a:lstStyle/>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chemeClr val="tx1"/>
                          </a:solidFill>
                          <a:effectLst/>
                        </a:rPr>
                        <a:t>BUD/FOR</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chemeClr val="tx1"/>
                          </a:solidFill>
                          <a:effectLst/>
                        </a:rPr>
                        <a:t>400/12</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chemeClr val="tx1"/>
                          </a:solidFill>
                          <a:effectLst/>
                        </a:rPr>
                        <a:t>(n=220)</a:t>
                      </a:r>
                      <a:endParaRPr kumimoji="0" lang="en-GB" sz="1200" b="1" i="0" u="none" strike="noStrike" kern="1200" cap="none" normalizeH="0" baseline="0" dirty="0">
                        <a:ln>
                          <a:noFill/>
                        </a:ln>
                        <a:solidFill>
                          <a:schemeClr val="tx1"/>
                        </a:solidFill>
                        <a:effectLst/>
                        <a:latin typeface="+mn-lt"/>
                        <a:ea typeface="+mn-ea"/>
                        <a:cs typeface="+mn-cs"/>
                      </a:endParaRPr>
                    </a:p>
                  </a:txBody>
                  <a:tcPr marL="82733" marR="82733" marT="11143" marB="91440" anchor="b" horzOverflow="overflow"/>
                </a:tc>
                <a:extLst>
                  <a:ext uri="{0D108BD9-81ED-4DB2-BD59-A6C34878D82A}">
                    <a16:rowId xmlns:a16="http://schemas.microsoft.com/office/drawing/2014/main" val="434204487"/>
                  </a:ext>
                </a:extLst>
              </a:tr>
              <a:tr h="282152">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Any adverse event</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354 (39)</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339 (38)</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100 (48)</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122 (55)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1"/>
                  </a:ext>
                </a:extLst>
              </a:tr>
              <a:tr h="282152">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Nasopharyngitis</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64 (7)</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43 (5)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23 (11)</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defRPr/>
                      </a:pPr>
                      <a:r>
                        <a:rPr kumimoji="0" lang="en-US" sz="1200" u="none" strike="noStrike" cap="none" normalizeH="0" baseline="0" dirty="0">
                          <a:ln>
                            <a:noFill/>
                          </a:ln>
                          <a:solidFill>
                            <a:schemeClr val="tx1"/>
                          </a:solidFill>
                          <a:effectLst/>
                        </a:rPr>
                        <a:t>22 (10)</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3392789854"/>
                  </a:ext>
                </a:extLst>
              </a:tr>
              <a:tr h="282152">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Headache</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44 (5)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53 (6)</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17 (8)</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22 (10)</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2"/>
                  </a:ext>
                </a:extLst>
              </a:tr>
              <a:tr h="282152">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URTI</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20 (2)</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19 (2)</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6 (3)</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10 (5)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3"/>
                  </a:ext>
                </a:extLst>
              </a:tr>
              <a:tr h="282152">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COPD</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15 (2)</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23 (3)</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5 (2)</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22 (10)</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4"/>
                  </a:ext>
                </a:extLst>
              </a:tr>
              <a:tr h="282152">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Hypertension</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7 (3)</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6 (3)</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5"/>
                  </a:ext>
                </a:extLst>
              </a:tr>
              <a:tr h="282152">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Arthralgia</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17 (2)</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13(1)</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5 (2)</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6 (3)</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6"/>
                  </a:ext>
                </a:extLst>
              </a:tr>
              <a:tr h="282152">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Dizziness</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 (&lt;1)</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6 (3)</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9"/>
                  </a:ext>
                </a:extLst>
              </a:tr>
              <a:tr h="282152">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SAEs</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49 (5)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53 (6)</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21 (10)</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28 (13)</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10"/>
                  </a:ext>
                </a:extLst>
              </a:tr>
            </a:tbl>
          </a:graphicData>
        </a:graphic>
      </p:graphicFrame>
      <p:sp>
        <p:nvSpPr>
          <p:cNvPr id="17" name="TextBox 16"/>
          <p:cNvSpPr txBox="1"/>
          <p:nvPr/>
        </p:nvSpPr>
        <p:spPr>
          <a:xfrm>
            <a:off x="4343400" y="1433895"/>
            <a:ext cx="914400" cy="914400"/>
          </a:xfrm>
          <a:prstGeom prst="rect">
            <a:avLst/>
          </a:prstGeom>
          <a:noFill/>
        </p:spPr>
        <p:txBody>
          <a:bodyPr wrap="none" lIns="0" tIns="0" rIns="0" bIns="0" rtlCol="0">
            <a:noAutofit/>
          </a:bodyPr>
          <a:lstStyle/>
          <a:p>
            <a:pPr defTabSz="914400">
              <a:buClr>
                <a:srgbClr val="544F40"/>
              </a:buClr>
              <a:defRPr/>
            </a:pPr>
            <a:endParaRPr lang="en-US" sz="1600" dirty="0">
              <a:solidFill>
                <a:srgbClr val="544F40"/>
              </a:solidFill>
              <a:latin typeface="Arial"/>
            </a:endParaRPr>
          </a:p>
        </p:txBody>
      </p:sp>
      <p:sp>
        <p:nvSpPr>
          <p:cNvPr id="9" name="TextBox 8"/>
          <p:cNvSpPr txBox="1"/>
          <p:nvPr/>
        </p:nvSpPr>
        <p:spPr>
          <a:xfrm>
            <a:off x="1904998" y="5093695"/>
            <a:ext cx="8420400" cy="840761"/>
          </a:xfrm>
          <a:prstGeom prst="roundRect">
            <a:avLst/>
          </a:prstGeom>
          <a:solidFill>
            <a:schemeClr val="tx2"/>
          </a:solidFill>
          <a:ln w="22225">
            <a:noFill/>
          </a:ln>
          <a:effectLst>
            <a:outerShdw blurRad="50800" dist="38100" dir="2700000" algn="tl" rotWithShape="0">
              <a:prstClr val="black">
                <a:alpha val="40000"/>
              </a:prstClr>
            </a:outerShdw>
          </a:effectLst>
        </p:spPr>
        <p:txBody>
          <a:bodyPr wrap="square" lIns="72000" tIns="72000" rIns="72000" bIns="72000" rtlCol="0" anchor="ctr" anchorCtr="0">
            <a:noAutofit/>
          </a:bodyPr>
          <a:lstStyle>
            <a:defPPr>
              <a:defRPr lang="en-US"/>
            </a:defPPr>
            <a:lvl1pPr algn="ctr">
              <a:lnSpc>
                <a:spcPct val="90000"/>
              </a:lnSpc>
              <a:defRPr sz="1200">
                <a:latin typeface="+mj-lt"/>
                <a:cs typeface="Arial" panose="020B0604020202020204" pitchFamily="34" charset="0"/>
              </a:defRPr>
            </a:lvl1pPr>
          </a:lstStyle>
          <a:p>
            <a:pPr marL="285750" indent="-285750" algn="l" defTabSz="914400">
              <a:spcBef>
                <a:spcPts val="300"/>
              </a:spcBef>
              <a:spcAft>
                <a:spcPts val="300"/>
              </a:spcAft>
              <a:buFont typeface="Arial" panose="020B0604020202020204" pitchFamily="34" charset="0"/>
              <a:buChar char="–"/>
              <a:defRPr/>
            </a:pPr>
            <a:r>
              <a:rPr lang="en-GB" sz="1400" b="1" dirty="0">
                <a:solidFill>
                  <a:srgbClr val="FFFFFF"/>
                </a:solidFill>
                <a:latin typeface="Arial" panose="020B0604020202020204" pitchFamily="34" charset="0"/>
              </a:rPr>
              <a:t>Fewer than 1% of the SAEs were drug-related and there were no drug-related deaths</a:t>
            </a:r>
          </a:p>
          <a:p>
            <a:pPr marL="285750" indent="-285750" algn="l" defTabSz="914400">
              <a:spcBef>
                <a:spcPts val="300"/>
              </a:spcBef>
              <a:spcAft>
                <a:spcPts val="300"/>
              </a:spcAft>
              <a:buFont typeface="Arial" panose="020B0604020202020204" pitchFamily="34" charset="0"/>
              <a:buChar char="–"/>
              <a:defRPr/>
            </a:pPr>
            <a:r>
              <a:rPr lang="en-GB" sz="1400" b="1" dirty="0">
                <a:solidFill>
                  <a:srgbClr val="FFFFFF"/>
                </a:solidFill>
                <a:latin typeface="Arial" panose="020B0604020202020204" pitchFamily="34" charset="0"/>
              </a:rPr>
              <a:t>There were no clinically significant differences between treatment arms in vital signs, </a:t>
            </a:r>
            <a:br>
              <a:rPr lang="en-GB" sz="1400" b="1" dirty="0">
                <a:solidFill>
                  <a:srgbClr val="FFFFFF"/>
                </a:solidFill>
                <a:latin typeface="Arial" panose="020B0604020202020204" pitchFamily="34" charset="0"/>
              </a:rPr>
            </a:br>
            <a:r>
              <a:rPr lang="en-GB" sz="1400" b="1" dirty="0">
                <a:solidFill>
                  <a:srgbClr val="FFFFFF"/>
                </a:solidFill>
                <a:latin typeface="Arial" panose="020B0604020202020204" pitchFamily="34" charset="0"/>
              </a:rPr>
              <a:t>Holter monitoring, electrocardiograms or laboratory values</a:t>
            </a:r>
          </a:p>
        </p:txBody>
      </p:sp>
      <p:sp>
        <p:nvSpPr>
          <p:cNvPr id="2" name="Slide Number Placeholder 4">
            <a:extLst>
              <a:ext uri="{FF2B5EF4-FFF2-40B4-BE49-F238E27FC236}">
                <a16:creationId xmlns:a16="http://schemas.microsoft.com/office/drawing/2014/main" id="{9CC2A6E8-B15E-2A9C-88C1-9846CDD0425F}"/>
              </a:ext>
            </a:extLst>
          </p:cNvPr>
          <p:cNvSpPr txBox="1">
            <a:spLocks/>
          </p:cNvSpPr>
          <p:nvPr/>
        </p:nvSpPr>
        <p:spPr>
          <a:xfrm>
            <a:off x="11285288" y="6343650"/>
            <a:ext cx="540000" cy="269875"/>
          </a:xfrm>
          <a:prstGeom prst="rect">
            <a:avLst/>
          </a:prstGeom>
        </p:spPr>
        <p:txBody>
          <a:bodyPr/>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algn="r" defTabSz="914400">
              <a:defRPr/>
            </a:pPr>
            <a:fld id="{9F9F533D-B52E-4A2F-BF72-0ADD2D94BD75}" type="slidenum">
              <a:rPr lang="en-GB" sz="1000" smtClean="0">
                <a:solidFill>
                  <a:srgbClr val="000000"/>
                </a:solidFill>
                <a:latin typeface="Arial"/>
                <a:cs typeface="Noto Sans"/>
              </a:rPr>
              <a:pPr algn="r" defTabSz="914400">
                <a:defRPr/>
              </a:pPr>
              <a:t>16</a:t>
            </a:fld>
            <a:endParaRPr lang="en-GB" sz="1000" dirty="0">
              <a:solidFill>
                <a:srgbClr val="000000"/>
              </a:solidFill>
              <a:latin typeface="Arial"/>
              <a:cs typeface="Noto Sans"/>
            </a:endParaRPr>
          </a:p>
        </p:txBody>
      </p:sp>
    </p:spTree>
    <p:extLst>
      <p:ext uri="{BB962C8B-B14F-4D97-AF65-F5344CB8AC3E}">
        <p14:creationId xmlns:p14="http://schemas.microsoft.com/office/powerpoint/2010/main" val="3078080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15"/>
          <p:cNvSpPr>
            <a:spLocks noGrp="1"/>
          </p:cNvSpPr>
          <p:nvPr>
            <p:ph type="body" sz="quarter" idx="14"/>
          </p:nvPr>
        </p:nvSpPr>
        <p:spPr>
          <a:xfrm>
            <a:off x="322240" y="801651"/>
            <a:ext cx="10130368" cy="234950"/>
          </a:xfrm>
        </p:spPr>
        <p:txBody>
          <a:bodyPr/>
          <a:lstStyle/>
          <a:p>
            <a:r>
              <a:rPr lang="en-GB" b="1" dirty="0"/>
              <a:t>Adverse events of special interest </a:t>
            </a:r>
            <a:r>
              <a:rPr lang="en-US" b="1" dirty="0"/>
              <a:t>in FULFIL</a:t>
            </a:r>
            <a:endParaRPr lang="en-US" b="1" baseline="30000" dirty="0"/>
          </a:p>
          <a:p>
            <a:pPr lvl="0"/>
            <a:endParaRPr lang="en-US" b="1" dirty="0"/>
          </a:p>
        </p:txBody>
      </p:sp>
      <p:sp>
        <p:nvSpPr>
          <p:cNvPr id="6" name="Text Placeholder 5"/>
          <p:cNvSpPr>
            <a:spLocks noGrp="1"/>
          </p:cNvSpPr>
          <p:nvPr>
            <p:ph type="body" sz="quarter" idx="19"/>
          </p:nvPr>
        </p:nvSpPr>
        <p:spPr>
          <a:xfrm>
            <a:off x="2154216" y="6165446"/>
            <a:ext cx="8171182" cy="468160"/>
          </a:xfrm>
        </p:spPr>
        <p:txBody>
          <a:bodyPr/>
          <a:lstStyle/>
          <a:p>
            <a:pPr algn="r"/>
            <a:r>
              <a:rPr lang="en-US" dirty="0"/>
              <a:t>Lipson DA </a:t>
            </a:r>
            <a:r>
              <a:rPr lang="en-US" i="1" dirty="0"/>
              <a:t>et al.</a:t>
            </a:r>
            <a:r>
              <a:rPr lang="en-US" dirty="0"/>
              <a:t> </a:t>
            </a:r>
            <a:r>
              <a:rPr lang="en-US" i="1" dirty="0"/>
              <a:t>Am J </a:t>
            </a:r>
            <a:r>
              <a:rPr lang="en-US" i="1" dirty="0" err="1"/>
              <a:t>Resp</a:t>
            </a:r>
            <a:r>
              <a:rPr lang="en-US" i="1" dirty="0"/>
              <a:t> </a:t>
            </a:r>
            <a:r>
              <a:rPr lang="en-US" i="1" dirty="0" err="1"/>
              <a:t>Crit</a:t>
            </a:r>
            <a:r>
              <a:rPr lang="en-US" i="1" dirty="0"/>
              <a:t> Care. </a:t>
            </a:r>
            <a:r>
              <a:rPr lang="en-US" dirty="0"/>
              <a:t>2017; 196:438–446.</a:t>
            </a:r>
            <a:endParaRPr lang="en-GB" dirty="0"/>
          </a:p>
        </p:txBody>
      </p:sp>
      <p:graphicFrame>
        <p:nvGraphicFramePr>
          <p:cNvPr id="12" name="Group 152"/>
          <p:cNvGraphicFramePr>
            <a:graphicFrameLocks/>
          </p:cNvGraphicFramePr>
          <p:nvPr>
            <p:extLst>
              <p:ext uri="{D42A27DB-BD31-4B8C-83A1-F6EECF244321}">
                <p14:modId xmlns:p14="http://schemas.microsoft.com/office/powerpoint/2010/main" val="2026189203"/>
              </p:ext>
            </p:extLst>
          </p:nvPr>
        </p:nvGraphicFramePr>
        <p:xfrm>
          <a:off x="1884363" y="1180714"/>
          <a:ext cx="8441035" cy="3605210"/>
        </p:xfrm>
        <a:graphic>
          <a:graphicData uri="http://schemas.openxmlformats.org/drawingml/2006/table">
            <a:tbl>
              <a:tblPr firstRow="1" bandRow="1">
                <a:tableStyleId>{00A15C55-8517-42AA-B614-E9B94910E393}</a:tableStyleId>
              </a:tblPr>
              <a:tblGrid>
                <a:gridCol w="2765263">
                  <a:extLst>
                    <a:ext uri="{9D8B030D-6E8A-4147-A177-3AD203B41FA5}">
                      <a16:colId xmlns:a16="http://schemas.microsoft.com/office/drawing/2014/main" val="20000"/>
                    </a:ext>
                  </a:extLst>
                </a:gridCol>
                <a:gridCol w="1418943">
                  <a:extLst>
                    <a:ext uri="{9D8B030D-6E8A-4147-A177-3AD203B41FA5}">
                      <a16:colId xmlns:a16="http://schemas.microsoft.com/office/drawing/2014/main" val="20001"/>
                    </a:ext>
                  </a:extLst>
                </a:gridCol>
                <a:gridCol w="1418943">
                  <a:extLst>
                    <a:ext uri="{9D8B030D-6E8A-4147-A177-3AD203B41FA5}">
                      <a16:colId xmlns:a16="http://schemas.microsoft.com/office/drawing/2014/main" val="354368468"/>
                    </a:ext>
                  </a:extLst>
                </a:gridCol>
                <a:gridCol w="1418943">
                  <a:extLst>
                    <a:ext uri="{9D8B030D-6E8A-4147-A177-3AD203B41FA5}">
                      <a16:colId xmlns:a16="http://schemas.microsoft.com/office/drawing/2014/main" val="63883431"/>
                    </a:ext>
                  </a:extLst>
                </a:gridCol>
                <a:gridCol w="1418943">
                  <a:extLst>
                    <a:ext uri="{9D8B030D-6E8A-4147-A177-3AD203B41FA5}">
                      <a16:colId xmlns:a16="http://schemas.microsoft.com/office/drawing/2014/main" val="20002"/>
                    </a:ext>
                  </a:extLst>
                </a:gridCol>
              </a:tblGrid>
              <a:tr h="298616">
                <a:tc rowSpan="2">
                  <a:txBody>
                    <a:bodyPr/>
                    <a:lstStyle/>
                    <a:p>
                      <a:pPr marL="0" marR="0" lvl="0" indent="0" algn="l" defTabSz="1744663" rtl="0" eaLnBrk="1" fontAlgn="base" latinLnBrk="0" hangingPunct="1">
                        <a:lnSpc>
                          <a:spcPct val="100000"/>
                        </a:lnSpc>
                        <a:spcBef>
                          <a:spcPct val="20000"/>
                        </a:spcBef>
                        <a:spcAft>
                          <a:spcPct val="0"/>
                        </a:spcAft>
                        <a:buClrTx/>
                        <a:buSzTx/>
                        <a:buFontTx/>
                        <a:buNone/>
                        <a:tabLst/>
                      </a:pPr>
                      <a:r>
                        <a:rPr kumimoji="0" lang="en-GB" sz="1200" u="none" strike="noStrike" cap="none" normalizeH="0" baseline="0" dirty="0">
                          <a:ln>
                            <a:noFill/>
                          </a:ln>
                          <a:effectLst/>
                        </a:rPr>
                        <a:t>On-treatment adverse event (≥ 3%),</a:t>
                      </a:r>
                      <a:br>
                        <a:rPr kumimoji="0" lang="en-GB" sz="1200" u="none" strike="noStrike" cap="none" normalizeH="0" baseline="0" dirty="0">
                          <a:ln>
                            <a:noFill/>
                          </a:ln>
                          <a:effectLst/>
                        </a:rPr>
                      </a:br>
                      <a:r>
                        <a:rPr kumimoji="0" lang="en-GB" sz="1200" u="none" strike="noStrike" cap="none" normalizeH="0" baseline="0" dirty="0">
                          <a:ln>
                            <a:noFill/>
                          </a:ln>
                          <a:effectLst/>
                        </a:rPr>
                        <a:t>n (%)</a:t>
                      </a:r>
                      <a:endParaRPr kumimoji="0" lang="en-GB" sz="1200" b="1" i="0" u="none" strike="noStrike" cap="none" normalizeH="0" baseline="0" dirty="0">
                        <a:ln>
                          <a:noFill/>
                        </a:ln>
                        <a:solidFill>
                          <a:schemeClr val="bg1"/>
                        </a:solidFill>
                        <a:effectLst/>
                        <a:latin typeface="+mn-lt"/>
                      </a:endParaRPr>
                    </a:p>
                  </a:txBody>
                  <a:tcPr marL="82733" marR="82733" marT="11143" marB="91440" anchor="b" horzOverflow="overflow"/>
                </a:tc>
                <a:tc gridSpan="2">
                  <a:txBody>
                    <a:bodyPr/>
                    <a:lstStyle/>
                    <a:p>
                      <a:pPr algn="ctr"/>
                      <a:r>
                        <a:rPr lang="en-GB" sz="1200" dirty="0"/>
                        <a:t>Up</a:t>
                      </a:r>
                      <a:r>
                        <a:rPr lang="en-GB" sz="1200" baseline="0" dirty="0"/>
                        <a:t> to 24 weeks</a:t>
                      </a:r>
                      <a:endParaRPr lang="en-GB" sz="1200" b="1" dirty="0">
                        <a:solidFill>
                          <a:schemeClr val="bg1"/>
                        </a:solidFill>
                      </a:endParaRPr>
                    </a:p>
                  </a:txBody>
                  <a:tcPr marL="82733" marR="82733" marT="11143" marB="11143" anchor="ctr" horzOverflow="overflow"/>
                </a:tc>
                <a:tc hMerge="1">
                  <a:txBody>
                    <a:bodyPr/>
                    <a:lstStyle/>
                    <a:p>
                      <a:endParaRPr lang="en-GB" dirty="0"/>
                    </a:p>
                  </a:txBody>
                  <a:tcPr marL="76371" marR="76371" marT="11143" marB="1114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p>
                      <a:pPr algn="ctr"/>
                      <a:r>
                        <a:rPr lang="en-GB" sz="1200" dirty="0"/>
                        <a:t>Up to 52 weeks</a:t>
                      </a:r>
                      <a:endParaRPr lang="en-GB" sz="1200" b="1" dirty="0">
                        <a:solidFill>
                          <a:schemeClr val="bg1"/>
                        </a:solidFill>
                      </a:endParaRPr>
                    </a:p>
                  </a:txBody>
                  <a:tcPr marL="82733" marR="82733" marT="11143" marB="11143" anchor="ctr" horzOverflow="overflow"/>
                </a:tc>
                <a:tc hMerge="1">
                  <a:txBody>
                    <a:bodyPr/>
                    <a:lstStyle/>
                    <a:p>
                      <a:endParaRPr lang="en-GB" dirty="0"/>
                    </a:p>
                  </a:txBody>
                  <a:tcPr marL="76371" marR="76371" marT="11143" marB="11143"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32594">
                <a:tc vMerge="1">
                  <a:txBody>
                    <a:bodyPr/>
                    <a:lstStyle/>
                    <a:p>
                      <a:endParaRPr lang="en-GB"/>
                    </a:p>
                  </a:txBody>
                  <a:tcPr/>
                </a:tc>
                <a:tc>
                  <a:txBody>
                    <a:bodyPr/>
                    <a:lstStyle/>
                    <a:p>
                      <a:pPr marL="0" marR="0" lvl="0" indent="0" algn="ctr" defTabSz="1744663" rtl="0" eaLnBrk="1" fontAlgn="base" latinLnBrk="0" hangingPunct="1">
                        <a:lnSpc>
                          <a:spcPct val="100000"/>
                        </a:lnSpc>
                        <a:spcBef>
                          <a:spcPct val="20000"/>
                        </a:spcBef>
                        <a:spcAft>
                          <a:spcPct val="0"/>
                        </a:spcAft>
                        <a:buClrTx/>
                        <a:buSzTx/>
                        <a:buFontTx/>
                        <a:buNone/>
                        <a:tabLst/>
                        <a:defRPr/>
                      </a:pPr>
                      <a:r>
                        <a:rPr kumimoji="0" lang="en-GB" sz="1200" b="1" u="none" strike="noStrike" cap="none" normalizeH="0" baseline="0" dirty="0">
                          <a:ln>
                            <a:noFill/>
                          </a:ln>
                          <a:solidFill>
                            <a:sysClr val="windowText" lastClr="000000"/>
                          </a:solidFill>
                          <a:effectLst/>
                        </a:rPr>
                        <a:t>FF/UMEC/VI</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cap="none" normalizeH="0" baseline="0" dirty="0">
                          <a:ln>
                            <a:noFill/>
                          </a:ln>
                          <a:solidFill>
                            <a:sysClr val="windowText" lastClr="000000"/>
                          </a:solidFill>
                          <a:effectLst/>
                        </a:rPr>
                        <a:t>100/62.5/</a:t>
                      </a:r>
                      <a:r>
                        <a:rPr kumimoji="0" lang="en-GB" sz="1200" b="1" u="none" strike="noStrike" kern="1200" cap="none" normalizeH="0" baseline="0" dirty="0">
                          <a:ln>
                            <a:noFill/>
                          </a:ln>
                          <a:solidFill>
                            <a:sysClr val="windowText" lastClr="000000"/>
                          </a:solidFill>
                          <a:effectLst/>
                        </a:rPr>
                        <a:t>25</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ysClr val="windowText" lastClr="000000"/>
                          </a:solidFill>
                          <a:effectLst/>
                        </a:rPr>
                        <a:t>(n=911)</a:t>
                      </a:r>
                      <a:endParaRPr kumimoji="0" lang="en-GB" sz="1200" b="1" i="0" u="none" strike="noStrike" kern="1200" cap="none" normalizeH="0" baseline="0" dirty="0">
                        <a:ln>
                          <a:noFill/>
                        </a:ln>
                        <a:solidFill>
                          <a:sysClr val="windowText" lastClr="000000"/>
                        </a:solidFill>
                        <a:effectLst/>
                        <a:latin typeface="+mn-lt"/>
                        <a:ea typeface="+mn-ea"/>
                        <a:cs typeface="+mn-cs"/>
                      </a:endParaRPr>
                    </a:p>
                  </a:txBody>
                  <a:tcPr marL="82733" marR="82733" marT="11143" marB="91440" anchor="b" horzOverflow="overflow"/>
                </a:tc>
                <a:tc>
                  <a:txBody>
                    <a:bodyPr/>
                    <a:lstStyle/>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ysClr val="windowText" lastClr="000000"/>
                          </a:solidFill>
                          <a:effectLst/>
                        </a:rPr>
                        <a:t>BUD/FOR</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ysClr val="windowText" lastClr="000000"/>
                          </a:solidFill>
                          <a:effectLst/>
                        </a:rPr>
                        <a:t>400/12</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ysClr val="windowText" lastClr="000000"/>
                          </a:solidFill>
                          <a:effectLst/>
                        </a:rPr>
                        <a:t>(n=899)</a:t>
                      </a:r>
                      <a:endParaRPr kumimoji="0" lang="en-GB" sz="1200" b="1" i="0" u="none" strike="noStrike" kern="1200" cap="none" normalizeH="0" baseline="0" dirty="0">
                        <a:ln>
                          <a:noFill/>
                        </a:ln>
                        <a:solidFill>
                          <a:sysClr val="windowText" lastClr="000000"/>
                        </a:solidFill>
                        <a:effectLst/>
                        <a:latin typeface="+mn-lt"/>
                        <a:ea typeface="+mn-ea"/>
                        <a:cs typeface="+mn-cs"/>
                      </a:endParaRPr>
                    </a:p>
                  </a:txBody>
                  <a:tcPr marL="82733" marR="82733" marT="11143" marB="91440" anchor="b" horzOverflow="overflow"/>
                </a:tc>
                <a:tc>
                  <a:txBody>
                    <a:bodyPr/>
                    <a:lstStyle/>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ysClr val="windowText" lastClr="000000"/>
                          </a:solidFill>
                          <a:effectLst/>
                        </a:rPr>
                        <a:t>FF/UMEC/VI</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ysClr val="windowText" lastClr="000000"/>
                          </a:solidFill>
                          <a:effectLst/>
                        </a:rPr>
                        <a:t>100/62.5/25</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ysClr val="windowText" lastClr="000000"/>
                          </a:solidFill>
                          <a:effectLst/>
                        </a:rPr>
                        <a:t>(n=210)</a:t>
                      </a:r>
                      <a:endParaRPr kumimoji="0" lang="en-GB" sz="1200" b="1" i="0" u="none" strike="noStrike" kern="1200" cap="none" normalizeH="0" baseline="0" dirty="0">
                        <a:ln>
                          <a:noFill/>
                        </a:ln>
                        <a:solidFill>
                          <a:sysClr val="windowText" lastClr="000000"/>
                        </a:solidFill>
                        <a:effectLst/>
                        <a:latin typeface="+mn-lt"/>
                        <a:ea typeface="+mn-ea"/>
                        <a:cs typeface="+mn-cs"/>
                      </a:endParaRPr>
                    </a:p>
                  </a:txBody>
                  <a:tcPr marL="82733" marR="82733" marT="11143" marB="91440" anchor="b" horzOverflow="overflow"/>
                </a:tc>
                <a:tc>
                  <a:txBody>
                    <a:bodyPr/>
                    <a:lstStyle/>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ysClr val="windowText" lastClr="000000"/>
                          </a:solidFill>
                          <a:effectLst/>
                        </a:rPr>
                        <a:t>BUD/FOR</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ysClr val="windowText" lastClr="000000"/>
                          </a:solidFill>
                          <a:effectLst/>
                        </a:rPr>
                        <a:t>400/12</a:t>
                      </a:r>
                    </a:p>
                    <a:p>
                      <a:pPr marL="0" marR="0" lvl="0" indent="0" algn="ctr" defTabSz="612318" rtl="0" eaLnBrk="1" fontAlgn="auto" latinLnBrk="0" hangingPunct="1">
                        <a:lnSpc>
                          <a:spcPct val="100000"/>
                        </a:lnSpc>
                        <a:spcBef>
                          <a:spcPts val="0"/>
                        </a:spcBef>
                        <a:spcAft>
                          <a:spcPts val="0"/>
                        </a:spcAft>
                        <a:buClrTx/>
                        <a:buSzTx/>
                        <a:buFontTx/>
                        <a:buNone/>
                        <a:tabLst/>
                        <a:defRPr/>
                      </a:pPr>
                      <a:r>
                        <a:rPr kumimoji="0" lang="en-GB" sz="1200" b="1" u="none" strike="noStrike" kern="1200" cap="none" normalizeH="0" baseline="0" dirty="0">
                          <a:ln>
                            <a:noFill/>
                          </a:ln>
                          <a:solidFill>
                            <a:sysClr val="windowText" lastClr="000000"/>
                          </a:solidFill>
                          <a:effectLst/>
                        </a:rPr>
                        <a:t>(n=220)</a:t>
                      </a:r>
                      <a:endParaRPr kumimoji="0" lang="en-GB" sz="1200" b="1" i="0" u="none" strike="noStrike" kern="1200" cap="none" normalizeH="0" baseline="0" dirty="0">
                        <a:ln>
                          <a:noFill/>
                        </a:ln>
                        <a:solidFill>
                          <a:sysClr val="windowText" lastClr="000000"/>
                        </a:solidFill>
                        <a:effectLst/>
                        <a:latin typeface="+mn-lt"/>
                        <a:ea typeface="+mn-ea"/>
                        <a:cs typeface="+mn-cs"/>
                      </a:endParaRPr>
                    </a:p>
                  </a:txBody>
                  <a:tcPr marL="82733" marR="82733" marT="11143" marB="91440" anchor="b" horzOverflow="overflow"/>
                </a:tc>
                <a:extLst>
                  <a:ext uri="{0D108BD9-81ED-4DB2-BD59-A6C34878D82A}">
                    <a16:rowId xmlns:a16="http://schemas.microsoft.com/office/drawing/2014/main" val="434204487"/>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Anticholinergic syndrome</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16 (1.8)</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17 (1.9)</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 (1.9)</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12 (5.5)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1"/>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Asthma/bronchospasm</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0</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 (0.1)</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defRPr/>
                      </a:pPr>
                      <a:r>
                        <a:rPr kumimoji="0" lang="en-US" sz="1200" u="none" strike="noStrike" cap="none" normalizeH="0" baseline="0" dirty="0">
                          <a:ln>
                            <a:noFill/>
                          </a:ln>
                          <a:solidFill>
                            <a:schemeClr val="tx1"/>
                          </a:solidFill>
                          <a:effectLst/>
                        </a:rPr>
                        <a:t>–</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78354933"/>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Cardiovascular effects</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39 (4.3)</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47 (5.2)</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18 (8.6)</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22 (10.0)</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3964269387"/>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Decreased bone mineral density</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 (0.4)</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6 (0.7)</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 (0.5)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 (0.5)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3392789854"/>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Hyperglycaemia/diabetes</a:t>
                      </a:r>
                      <a:r>
                        <a:rPr kumimoji="0" lang="en-US" sz="1200" b="1" u="none" strike="noStrike" cap="none" normalizeH="0" baseline="30000" dirty="0">
                          <a:ln>
                            <a:noFill/>
                          </a:ln>
                          <a:solidFill>
                            <a:schemeClr val="tx1"/>
                          </a:solidFill>
                          <a:effectLst/>
                        </a:rPr>
                        <a:t>*</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5 (0.5)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 (0.4)</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0</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 (1.8)</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2"/>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Hypersensitivity</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10 (1.1)</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10 (1.1)</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3 (1.4)</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 (0.5)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3"/>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LRTI (excluding pneumonia)</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3 (0.3)</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 (0.4)</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 (0.5)</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0</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4"/>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Local steroid effects</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19 (2.1)</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24 (2.7)</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8 (3.8)</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7 (3.2)</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5"/>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Ocular effects</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 (0.1)</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 (0.4)</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defRPr/>
                      </a:pPr>
                      <a:r>
                        <a:rPr kumimoji="0" lang="en-US" sz="1200" u="none" strike="noStrike" cap="none" normalizeH="0" baseline="0" dirty="0">
                          <a:ln>
                            <a:noFill/>
                          </a:ln>
                          <a:solidFill>
                            <a:schemeClr val="tx1"/>
                          </a:solidFill>
                          <a:effectLst/>
                        </a:rPr>
                        <a:t>–</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defRPr/>
                      </a:pPr>
                      <a:r>
                        <a:rPr kumimoji="0" lang="en-US" sz="1200" u="none" strike="noStrike" cap="none" normalizeH="0" baseline="0" dirty="0">
                          <a:ln>
                            <a:noFill/>
                          </a:ln>
                          <a:solidFill>
                            <a:schemeClr val="tx1"/>
                          </a:solidFill>
                          <a:effectLst/>
                        </a:rPr>
                        <a:t>–</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6"/>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Pneumonia</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20 (2.2)</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7 (0.8)</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 (1.9)</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4 (1.8)</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09"/>
                  </a:ext>
                </a:extLst>
              </a:tr>
              <a:tr h="234000">
                <a:tc>
                  <a:txBody>
                    <a:bodyPr/>
                    <a:lstStyle/>
                    <a:p>
                      <a:pPr marL="0" marR="0" lvl="0" indent="0" algn="l" defTabSz="1189038" rtl="0" eaLnBrk="1" fontAlgn="base" latinLnBrk="0" hangingPunct="1">
                        <a:lnSpc>
                          <a:spcPct val="100000"/>
                        </a:lnSpc>
                        <a:spcBef>
                          <a:spcPts val="0"/>
                        </a:spcBef>
                        <a:spcAft>
                          <a:spcPct val="0"/>
                        </a:spcAft>
                        <a:buClrTx/>
                        <a:buSzTx/>
                        <a:buFontTx/>
                        <a:buNone/>
                        <a:tabLst/>
                      </a:pPr>
                      <a:r>
                        <a:rPr kumimoji="0" lang="en-US" sz="1200" b="1" u="none" strike="noStrike" cap="none" normalizeH="0" baseline="0" dirty="0">
                          <a:ln>
                            <a:noFill/>
                          </a:ln>
                          <a:solidFill>
                            <a:schemeClr val="tx1"/>
                          </a:solidFill>
                          <a:effectLst/>
                        </a:rPr>
                        <a:t>Urinary retention</a:t>
                      </a:r>
                      <a:endParaRPr kumimoji="0" lang="en-US" sz="1200" b="1"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1 (0.1)</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pPr>
                      <a:r>
                        <a:rPr kumimoji="0" lang="en-US" sz="1200" u="none" strike="noStrike" cap="none" normalizeH="0" baseline="0" dirty="0">
                          <a:ln>
                            <a:noFill/>
                          </a:ln>
                          <a:solidFill>
                            <a:schemeClr val="tx1"/>
                          </a:solidFill>
                          <a:effectLst/>
                        </a:rPr>
                        <a:t>0</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90000"/>
                        </a:lnSpc>
                        <a:spcBef>
                          <a:spcPts val="0"/>
                        </a:spcBef>
                        <a:spcAft>
                          <a:spcPct val="0"/>
                        </a:spcAft>
                        <a:buClrTx/>
                        <a:buSzTx/>
                        <a:buFontTx/>
                        <a:buNone/>
                        <a:tabLst/>
                        <a:defRPr/>
                      </a:pPr>
                      <a:r>
                        <a:rPr kumimoji="0" lang="en-US" sz="1200" u="none" strike="noStrike" cap="none" normalizeH="0" baseline="0" dirty="0">
                          <a:ln>
                            <a:noFill/>
                          </a:ln>
                          <a:solidFill>
                            <a:schemeClr val="tx1"/>
                          </a:solidFill>
                          <a:effectLst/>
                        </a:rPr>
                        <a:t>–</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tc>
                  <a:txBody>
                    <a:bodyPr/>
                    <a:lstStyle/>
                    <a:p>
                      <a:pPr marL="0" marR="0" lvl="0" indent="0" algn="ctr" defTabSz="1189038" rtl="0" eaLnBrk="1" fontAlgn="base" latinLnBrk="0" hangingPunct="1">
                        <a:lnSpc>
                          <a:spcPct val="100000"/>
                        </a:lnSpc>
                        <a:spcBef>
                          <a:spcPts val="0"/>
                        </a:spcBef>
                        <a:spcAft>
                          <a:spcPct val="0"/>
                        </a:spcAft>
                        <a:buClrTx/>
                        <a:buSzTx/>
                        <a:buFontTx/>
                        <a:buNone/>
                        <a:tabLst/>
                        <a:defRPr/>
                      </a:pPr>
                      <a:r>
                        <a:rPr kumimoji="0" lang="en-US" sz="1200" u="none" strike="noStrike" cap="none" normalizeH="0" baseline="0" dirty="0">
                          <a:ln>
                            <a:noFill/>
                          </a:ln>
                          <a:solidFill>
                            <a:schemeClr val="tx1"/>
                          </a:solidFill>
                          <a:effectLst/>
                        </a:rPr>
                        <a:t>–</a:t>
                      </a:r>
                      <a:endParaRPr kumimoji="0" lang="en-US" sz="1200" b="0" i="0" u="none" strike="noStrike" cap="none" normalizeH="0" baseline="0" dirty="0">
                        <a:ln>
                          <a:noFill/>
                        </a:ln>
                        <a:solidFill>
                          <a:schemeClr val="tx1"/>
                        </a:solidFill>
                        <a:effectLst/>
                        <a:latin typeface="+mn-lt"/>
                        <a:cs typeface="Times New Roman" pitchFamily="18" charset="0"/>
                      </a:endParaRPr>
                    </a:p>
                  </a:txBody>
                  <a:tcPr marL="82733" marR="82733" marT="11143" marB="11143" anchor="ctr" horzOverflow="overflow"/>
                </a:tc>
                <a:extLst>
                  <a:ext uri="{0D108BD9-81ED-4DB2-BD59-A6C34878D82A}">
                    <a16:rowId xmlns:a16="http://schemas.microsoft.com/office/drawing/2014/main" val="10010"/>
                  </a:ext>
                </a:extLst>
              </a:tr>
            </a:tbl>
          </a:graphicData>
        </a:graphic>
      </p:graphicFrame>
      <p:sp>
        <p:nvSpPr>
          <p:cNvPr id="13" name="TextBox 12"/>
          <p:cNvSpPr txBox="1"/>
          <p:nvPr/>
        </p:nvSpPr>
        <p:spPr>
          <a:xfrm>
            <a:off x="1904998" y="4837439"/>
            <a:ext cx="8420400" cy="1233047"/>
          </a:xfrm>
          <a:prstGeom prst="roundRect">
            <a:avLst/>
          </a:prstGeom>
          <a:solidFill>
            <a:schemeClr val="tx2"/>
          </a:solidFill>
          <a:ln w="22225">
            <a:noFill/>
          </a:ln>
          <a:effectLst>
            <a:outerShdw blurRad="50800" dist="38100" dir="2700000" algn="tl" rotWithShape="0">
              <a:prstClr val="black">
                <a:alpha val="40000"/>
              </a:prstClr>
            </a:outerShdw>
          </a:effectLst>
        </p:spPr>
        <p:txBody>
          <a:bodyPr wrap="square" lIns="72000" tIns="72000" rIns="72000" bIns="72000" rtlCol="0" anchor="ctr" anchorCtr="0">
            <a:noAutofit/>
          </a:bodyPr>
          <a:lstStyle>
            <a:defPPr>
              <a:defRPr lang="en-US"/>
            </a:defPPr>
            <a:lvl1pPr algn="ctr">
              <a:lnSpc>
                <a:spcPct val="90000"/>
              </a:lnSpc>
              <a:defRPr sz="1200">
                <a:latin typeface="+mj-lt"/>
                <a:cs typeface="Arial" panose="020B0604020202020204" pitchFamily="34" charset="0"/>
              </a:defRPr>
            </a:lvl1pPr>
          </a:lstStyle>
          <a:p>
            <a:pPr marL="285750" indent="-285750" algn="l" defTabSz="914400">
              <a:spcBef>
                <a:spcPts val="100"/>
              </a:spcBef>
              <a:spcAft>
                <a:spcPts val="100"/>
              </a:spcAft>
              <a:buFont typeface="Arial" panose="020B0604020202020204" pitchFamily="34" charset="0"/>
              <a:buChar char="–"/>
              <a:defRPr/>
            </a:pPr>
            <a:r>
              <a:rPr lang="en-GB" sz="1400" b="1" dirty="0">
                <a:solidFill>
                  <a:srgbClr val="FFFFFF"/>
                </a:solidFill>
                <a:latin typeface="Arial" panose="020B0604020202020204" pitchFamily="34" charset="0"/>
              </a:rPr>
              <a:t>Up to 24 weeks the incidence of adjudicated serious, non-fatal COPD exacerbations was 1.5% for FF/UMEC/VI and 2.4% for BUD/FOR</a:t>
            </a:r>
          </a:p>
          <a:p>
            <a:pPr marL="542925" lvl="1" indent="-276225" defTabSz="914400">
              <a:lnSpc>
                <a:spcPct val="90000"/>
              </a:lnSpc>
              <a:spcBef>
                <a:spcPts val="100"/>
              </a:spcBef>
              <a:spcAft>
                <a:spcPts val="100"/>
              </a:spcAft>
              <a:buFont typeface="Arial" panose="020B0604020202020204" pitchFamily="34" charset="0"/>
              <a:buChar char="–"/>
              <a:defRPr/>
            </a:pPr>
            <a:r>
              <a:rPr lang="en-GB" sz="1200" b="1" dirty="0">
                <a:solidFill>
                  <a:srgbClr val="FFFFFF"/>
                </a:solidFill>
                <a:latin typeface="Arial" panose="020B0604020202020204" pitchFamily="34" charset="0"/>
              </a:rPr>
              <a:t>Of these, 0.4% and 0.3%, respectively, occurred with evidence of pneumonia</a:t>
            </a:r>
          </a:p>
          <a:p>
            <a:pPr marL="285750" indent="-285750" algn="l" defTabSz="914400">
              <a:spcBef>
                <a:spcPts val="100"/>
              </a:spcBef>
              <a:spcAft>
                <a:spcPts val="100"/>
              </a:spcAft>
              <a:buFont typeface="Arial" panose="020B0604020202020204" pitchFamily="34" charset="0"/>
              <a:buChar char="–"/>
              <a:defRPr/>
            </a:pPr>
            <a:r>
              <a:rPr lang="en-GB" sz="1400" b="1" dirty="0">
                <a:solidFill>
                  <a:srgbClr val="FFFFFF"/>
                </a:solidFill>
                <a:latin typeface="Arial" panose="020B0604020202020204" pitchFamily="34" charset="0"/>
              </a:rPr>
              <a:t>Up to 24 weeks, the incidence of adjudicated serious, non-fatal pneumonia without COPD exacerbation was 0.9% for FF/UMEC/VI and 0.3% for BUD/FOR</a:t>
            </a:r>
          </a:p>
        </p:txBody>
      </p:sp>
      <p:sp>
        <p:nvSpPr>
          <p:cNvPr id="5" name="Title 1">
            <a:extLst>
              <a:ext uri="{FF2B5EF4-FFF2-40B4-BE49-F238E27FC236}">
                <a16:creationId xmlns:a16="http://schemas.microsoft.com/office/drawing/2014/main" id="{F3B2C112-9071-9463-8BF5-4144534E51B4}"/>
              </a:ext>
            </a:extLst>
          </p:cNvPr>
          <p:cNvSpPr txBox="1">
            <a:spLocks/>
          </p:cNvSpPr>
          <p:nvPr/>
        </p:nvSpPr>
        <p:spPr>
          <a:xfrm>
            <a:off x="322240" y="1085754"/>
            <a:ext cx="9013784" cy="634504"/>
          </a:xfrm>
          <a:prstGeom prst="rect">
            <a:avLst/>
          </a:prstGeom>
        </p:spPr>
        <p:txBody>
          <a:bodyPr vert="horz" lIns="0" tIns="0" rIns="0" bIns="720000" rtlCol="0" anchor="b" anchorCtr="0">
            <a:noAutofit/>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r>
              <a:rPr lang="en-GB" sz="2400" dirty="0"/>
              <a:t>Comparable adverse event profiles for once daily single inhaler triple therapy (FF/UMEC/VI) and BUD/FOR </a:t>
            </a:r>
            <a:br>
              <a:rPr lang="en-GB" sz="2000" dirty="0"/>
            </a:br>
            <a:endParaRPr lang="pt-BR" sz="2000" dirty="0"/>
          </a:p>
        </p:txBody>
      </p:sp>
    </p:spTree>
    <p:extLst>
      <p:ext uri="{BB962C8B-B14F-4D97-AF65-F5344CB8AC3E}">
        <p14:creationId xmlns:p14="http://schemas.microsoft.com/office/powerpoint/2010/main" val="2848440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Conclusions from FULFIL</a:t>
            </a:r>
            <a:endParaRPr lang="en-US" baseline="30000" dirty="0"/>
          </a:p>
        </p:txBody>
      </p:sp>
      <p:sp>
        <p:nvSpPr>
          <p:cNvPr id="7" name="Text Placeholder 6"/>
          <p:cNvSpPr>
            <a:spLocks noGrp="1"/>
          </p:cNvSpPr>
          <p:nvPr>
            <p:ph type="body" sz="quarter" idx="14"/>
          </p:nvPr>
        </p:nvSpPr>
        <p:spPr/>
        <p:txBody>
          <a:bodyPr/>
          <a:lstStyle/>
          <a:p>
            <a:r>
              <a:rPr lang="en-GB" dirty="0"/>
              <a:t> </a:t>
            </a:r>
          </a:p>
        </p:txBody>
      </p:sp>
      <p:sp>
        <p:nvSpPr>
          <p:cNvPr id="9" name="Text Placeholder 8"/>
          <p:cNvSpPr>
            <a:spLocks noGrp="1"/>
          </p:cNvSpPr>
          <p:nvPr>
            <p:ph type="body" sz="quarter" idx="19"/>
          </p:nvPr>
        </p:nvSpPr>
        <p:spPr>
          <a:xfrm>
            <a:off x="2138342" y="6359455"/>
            <a:ext cx="8171182" cy="314159"/>
          </a:xfrm>
        </p:spPr>
        <p:txBody>
          <a:bodyPr/>
          <a:lstStyle/>
          <a:p>
            <a:pPr algn="r"/>
            <a:r>
              <a:rPr lang="en-US" sz="1000" dirty="0"/>
              <a:t>Lipson DA </a:t>
            </a:r>
            <a:r>
              <a:rPr lang="en-US" sz="1000" i="1" dirty="0"/>
              <a:t>et al.</a:t>
            </a:r>
            <a:r>
              <a:rPr lang="en-US" sz="1000" dirty="0"/>
              <a:t> </a:t>
            </a:r>
            <a:r>
              <a:rPr lang="en-US" sz="1000" i="1" dirty="0"/>
              <a:t>Am J </a:t>
            </a:r>
            <a:r>
              <a:rPr lang="en-US" sz="1000" i="1" dirty="0" err="1"/>
              <a:t>Resp</a:t>
            </a:r>
            <a:r>
              <a:rPr lang="en-US" sz="1000" i="1" dirty="0"/>
              <a:t> </a:t>
            </a:r>
            <a:r>
              <a:rPr lang="en-US" sz="1000" i="1" dirty="0" err="1"/>
              <a:t>Crit</a:t>
            </a:r>
            <a:r>
              <a:rPr lang="en-US" sz="1000" i="1" dirty="0"/>
              <a:t> Care. </a:t>
            </a:r>
            <a:r>
              <a:rPr lang="en-US" sz="1000" dirty="0"/>
              <a:t>2017; 196:438–446</a:t>
            </a:r>
          </a:p>
        </p:txBody>
      </p:sp>
      <p:sp>
        <p:nvSpPr>
          <p:cNvPr id="8" name="Text Placeholder 7"/>
          <p:cNvSpPr>
            <a:spLocks noGrp="1"/>
          </p:cNvSpPr>
          <p:nvPr>
            <p:ph type="body" sz="quarter" idx="18"/>
          </p:nvPr>
        </p:nvSpPr>
        <p:spPr/>
        <p:txBody>
          <a:bodyPr/>
          <a:lstStyle/>
          <a:p>
            <a:r>
              <a:rPr lang="en-GB" dirty="0"/>
              <a:t> </a:t>
            </a:r>
          </a:p>
        </p:txBody>
      </p:sp>
      <p:grpSp>
        <p:nvGrpSpPr>
          <p:cNvPr id="10" name="Group 9"/>
          <p:cNvGrpSpPr/>
          <p:nvPr/>
        </p:nvGrpSpPr>
        <p:grpSpPr>
          <a:xfrm>
            <a:off x="1889124" y="1181948"/>
            <a:ext cx="8420400" cy="4743580"/>
            <a:chOff x="365124" y="1077173"/>
            <a:chExt cx="8420400" cy="4743580"/>
          </a:xfrm>
          <a:gradFill flip="none" rotWithShape="1">
            <a:gsLst>
              <a:gs pos="26000">
                <a:schemeClr val="tx2">
                  <a:shade val="30000"/>
                  <a:satMod val="115000"/>
                </a:schemeClr>
              </a:gs>
              <a:gs pos="100000">
                <a:schemeClr val="tx2">
                  <a:shade val="100000"/>
                  <a:satMod val="115000"/>
                </a:schemeClr>
              </a:gs>
            </a:gsLst>
            <a:lin ang="5400000" scaled="1"/>
            <a:tileRect/>
          </a:gradFill>
        </p:grpSpPr>
        <p:sp>
          <p:nvSpPr>
            <p:cNvPr id="11" name="TextBox 10"/>
            <p:cNvSpPr txBox="1"/>
            <p:nvPr/>
          </p:nvSpPr>
          <p:spPr>
            <a:xfrm>
              <a:off x="365124" y="1077173"/>
              <a:ext cx="8420400" cy="1655037"/>
            </a:xfrm>
            <a:prstGeom prst="roundRect">
              <a:avLst/>
            </a:prstGeom>
            <a:grpFill/>
            <a:ln w="22225">
              <a:noFill/>
            </a:ln>
            <a:effectLst>
              <a:outerShdw blurRad="50800" dist="38100" dir="2700000" algn="tl" rotWithShape="0">
                <a:prstClr val="black">
                  <a:alpha val="40000"/>
                </a:prstClr>
              </a:outerShdw>
            </a:effectLst>
          </p:spPr>
          <p:txBody>
            <a:bodyPr wrap="square" lIns="72000" tIns="72000" rIns="72000" bIns="72000" rtlCol="0" anchor="ctr" anchorCtr="0">
              <a:noAutofit/>
            </a:bodyPr>
            <a:lstStyle>
              <a:defPPr>
                <a:defRPr lang="en-US"/>
              </a:defPPr>
              <a:lvl1pPr algn="ctr">
                <a:lnSpc>
                  <a:spcPct val="90000"/>
                </a:lnSpc>
                <a:defRPr sz="1200">
                  <a:latin typeface="+mj-lt"/>
                  <a:cs typeface="Arial" panose="020B0604020202020204" pitchFamily="34" charset="0"/>
                </a:defRPr>
              </a:lvl1pPr>
            </a:lstStyle>
            <a:p>
              <a:pPr defTabSz="914400">
                <a:lnSpc>
                  <a:spcPct val="100000"/>
                </a:lnSpc>
                <a:buClr>
                  <a:srgbClr val="544F40"/>
                </a:buClr>
                <a:defRPr/>
              </a:pPr>
              <a:r>
                <a:rPr lang="en-GB" sz="1600" b="1" dirty="0">
                  <a:solidFill>
                    <a:srgbClr val="FFFFFF"/>
                  </a:solidFill>
                  <a:latin typeface="Arial"/>
                </a:rPr>
                <a:t>These data demonstrate clinically meaningful improvement in lung function,  reduction in moderate/severe COPD exacerbations, patient-reported outcomes and health-related quality of life with single-inhaler triple therapy using FF/UMEC/VI compared with BUD/FOR, </a:t>
              </a:r>
              <a:r>
                <a:rPr lang="en-US" sz="1600" b="1" dirty="0">
                  <a:solidFill>
                    <a:srgbClr val="FFFFFF"/>
                  </a:solidFill>
                  <a:latin typeface="Arial"/>
                </a:rPr>
                <a:t>regardless of prior COPD medication or disease severity at study entry</a:t>
              </a:r>
              <a:endParaRPr lang="en-GB" sz="1600" b="1" dirty="0">
                <a:solidFill>
                  <a:srgbClr val="FFFFFF"/>
                </a:solidFill>
                <a:latin typeface="Arial"/>
              </a:endParaRPr>
            </a:p>
          </p:txBody>
        </p:sp>
        <p:sp>
          <p:nvSpPr>
            <p:cNvPr id="12" name="TextBox 11"/>
            <p:cNvSpPr txBox="1"/>
            <p:nvPr/>
          </p:nvSpPr>
          <p:spPr>
            <a:xfrm>
              <a:off x="365124" y="2928246"/>
              <a:ext cx="8420400" cy="835514"/>
            </a:xfrm>
            <a:prstGeom prst="roundRect">
              <a:avLst/>
            </a:prstGeom>
            <a:grpFill/>
            <a:ln w="22225">
              <a:noFill/>
            </a:ln>
            <a:effectLst>
              <a:outerShdw blurRad="50800" dist="38100" dir="2700000" algn="tl" rotWithShape="0">
                <a:prstClr val="black">
                  <a:alpha val="40000"/>
                </a:prstClr>
              </a:outerShdw>
            </a:effectLst>
          </p:spPr>
          <p:txBody>
            <a:bodyPr wrap="square" lIns="72000" tIns="72000" rIns="72000" bIns="72000" rtlCol="0" anchor="ctr" anchorCtr="0">
              <a:noAutofit/>
            </a:bodyPr>
            <a:lstStyle>
              <a:defPPr>
                <a:defRPr lang="en-US"/>
              </a:defPPr>
              <a:lvl1pPr algn="ctr">
                <a:lnSpc>
                  <a:spcPct val="90000"/>
                </a:lnSpc>
                <a:defRPr sz="1200">
                  <a:latin typeface="+mj-lt"/>
                  <a:cs typeface="Arial" panose="020B0604020202020204" pitchFamily="34" charset="0"/>
                </a:defRPr>
              </a:lvl1pPr>
            </a:lstStyle>
            <a:p>
              <a:pPr defTabSz="914400">
                <a:lnSpc>
                  <a:spcPct val="100000"/>
                </a:lnSpc>
                <a:buClr>
                  <a:srgbClr val="544F40"/>
                </a:buClr>
                <a:defRPr/>
              </a:pPr>
              <a:r>
                <a:rPr lang="en-GB" sz="1600" b="1" dirty="0">
                  <a:solidFill>
                    <a:srgbClr val="FFFFFF"/>
                  </a:solidFill>
                  <a:latin typeface="Arial"/>
                </a:rPr>
                <a:t>The adverse event profile of FF/UMEC/VI reflects those of the components</a:t>
              </a:r>
              <a:endParaRPr lang="en-GB" sz="1600" b="1" baseline="30000" dirty="0">
                <a:solidFill>
                  <a:srgbClr val="FFFFFF"/>
                </a:solidFill>
                <a:latin typeface="Arial"/>
              </a:endParaRPr>
            </a:p>
          </p:txBody>
        </p:sp>
        <p:sp>
          <p:nvSpPr>
            <p:cNvPr id="13" name="TextBox 12"/>
            <p:cNvSpPr txBox="1"/>
            <p:nvPr/>
          </p:nvSpPr>
          <p:spPr>
            <a:xfrm>
              <a:off x="365124" y="3959796"/>
              <a:ext cx="8420400" cy="835513"/>
            </a:xfrm>
            <a:prstGeom prst="roundRect">
              <a:avLst/>
            </a:prstGeom>
            <a:grpFill/>
            <a:ln w="22225">
              <a:noFill/>
            </a:ln>
            <a:effectLst>
              <a:outerShdw blurRad="50800" dist="38100" dir="2700000" algn="tl" rotWithShape="0">
                <a:prstClr val="black">
                  <a:alpha val="40000"/>
                </a:prstClr>
              </a:outerShdw>
            </a:effectLst>
          </p:spPr>
          <p:txBody>
            <a:bodyPr wrap="square" lIns="72000" tIns="72000" rIns="72000" bIns="72000" rtlCol="0" anchor="ctr" anchorCtr="0">
              <a:noAutofit/>
            </a:bodyPr>
            <a:lstStyle>
              <a:defPPr>
                <a:defRPr lang="en-US"/>
              </a:defPPr>
              <a:lvl1pPr algn="ctr">
                <a:lnSpc>
                  <a:spcPct val="90000"/>
                </a:lnSpc>
                <a:defRPr sz="1200">
                  <a:latin typeface="+mj-lt"/>
                  <a:cs typeface="Arial" panose="020B0604020202020204" pitchFamily="34" charset="0"/>
                </a:defRPr>
              </a:lvl1pPr>
            </a:lstStyle>
            <a:p>
              <a:pPr defTabSz="914400">
                <a:lnSpc>
                  <a:spcPct val="100000"/>
                </a:lnSpc>
                <a:buClr>
                  <a:srgbClr val="544F40"/>
                </a:buClr>
                <a:defRPr/>
              </a:pPr>
              <a:r>
                <a:rPr lang="en-GB" sz="1600" b="1" dirty="0">
                  <a:solidFill>
                    <a:srgbClr val="FFFFFF"/>
                  </a:solidFill>
                  <a:latin typeface="Arial"/>
                </a:rPr>
                <a:t>The benefit/risk of FF/UMEC/VI is considered favourable</a:t>
              </a:r>
            </a:p>
          </p:txBody>
        </p:sp>
        <p:sp>
          <p:nvSpPr>
            <p:cNvPr id="14" name="TextBox 13"/>
            <p:cNvSpPr txBox="1"/>
            <p:nvPr/>
          </p:nvSpPr>
          <p:spPr>
            <a:xfrm>
              <a:off x="365124" y="4991346"/>
              <a:ext cx="8420400" cy="829407"/>
            </a:xfrm>
            <a:prstGeom prst="roundRect">
              <a:avLst/>
            </a:prstGeom>
            <a:grpFill/>
            <a:ln w="22225">
              <a:noFill/>
            </a:ln>
            <a:effectLst>
              <a:outerShdw blurRad="50800" dist="38100" dir="2700000" algn="tl" rotWithShape="0">
                <a:prstClr val="black">
                  <a:alpha val="40000"/>
                </a:prstClr>
              </a:outerShdw>
            </a:effectLst>
          </p:spPr>
          <p:txBody>
            <a:bodyPr wrap="square" lIns="72000" tIns="72000" rIns="72000" bIns="72000" rtlCol="0" anchor="ctr" anchorCtr="0">
              <a:noAutofit/>
            </a:bodyPr>
            <a:lstStyle>
              <a:defPPr>
                <a:defRPr lang="en-US"/>
              </a:defPPr>
              <a:lvl1pPr algn="ctr">
                <a:lnSpc>
                  <a:spcPct val="90000"/>
                </a:lnSpc>
                <a:defRPr sz="1200">
                  <a:latin typeface="+mj-lt"/>
                  <a:cs typeface="Arial" panose="020B0604020202020204" pitchFamily="34" charset="0"/>
                </a:defRPr>
              </a:lvl1pPr>
            </a:lstStyle>
            <a:p>
              <a:pPr defTabSz="914400">
                <a:lnSpc>
                  <a:spcPct val="100000"/>
                </a:lnSpc>
                <a:buClr>
                  <a:srgbClr val="544F40"/>
                </a:buClr>
                <a:defRPr/>
              </a:pPr>
              <a:r>
                <a:rPr lang="en-GB" sz="1600" b="1" dirty="0">
                  <a:solidFill>
                    <a:srgbClr val="FFFFFF"/>
                  </a:solidFill>
                  <a:latin typeface="Arial"/>
                </a:rPr>
                <a:t> These results increase understanding of the clinical value of triple</a:t>
              </a:r>
              <a:br>
                <a:rPr lang="en-GB" sz="1600" b="1" dirty="0">
                  <a:solidFill>
                    <a:srgbClr val="FFFFFF"/>
                  </a:solidFill>
                  <a:latin typeface="Arial"/>
                </a:rPr>
              </a:br>
              <a:r>
                <a:rPr lang="en-GB" sz="1600" b="1" dirty="0">
                  <a:solidFill>
                    <a:srgbClr val="FFFFFF"/>
                  </a:solidFill>
                  <a:latin typeface="Arial"/>
                </a:rPr>
                <a:t>therapy (ICS+LABA+LAMA) versus dual ICS/LABA therapy</a:t>
              </a:r>
            </a:p>
          </p:txBody>
        </p:sp>
      </p:grpSp>
      <p:sp>
        <p:nvSpPr>
          <p:cNvPr id="3" name="ZoneTexte 4">
            <a:extLst>
              <a:ext uri="{FF2B5EF4-FFF2-40B4-BE49-F238E27FC236}">
                <a16:creationId xmlns:a16="http://schemas.microsoft.com/office/drawing/2014/main" id="{E5866627-EAEC-F13F-6887-C95A33AEEAE8}"/>
              </a:ext>
            </a:extLst>
          </p:cNvPr>
          <p:cNvSpPr txBox="1"/>
          <p:nvPr/>
        </p:nvSpPr>
        <p:spPr>
          <a:xfrm>
            <a:off x="1581846" y="5973215"/>
            <a:ext cx="9334393" cy="338554"/>
          </a:xfrm>
          <a:prstGeom prst="rect">
            <a:avLst/>
          </a:prstGeom>
          <a:noFill/>
        </p:spPr>
        <p:txBody>
          <a:bodyPr wrap="square">
            <a:spAutoFit/>
          </a:bodyPr>
          <a:lstStyle/>
          <a:p>
            <a:r>
              <a:rPr lang="fr-FR" sz="800" b="1" dirty="0"/>
              <a:t>BUD, </a:t>
            </a:r>
            <a:r>
              <a:rPr lang="fr-FR" sz="800" b="1" dirty="0" err="1"/>
              <a:t>budesonide</a:t>
            </a:r>
            <a:r>
              <a:rPr lang="fr-FR" sz="800" b="1" dirty="0"/>
              <a:t>; COPD, </a:t>
            </a:r>
            <a:r>
              <a:rPr lang="fr-FR" sz="800" b="1" dirty="0" err="1"/>
              <a:t>chronic</a:t>
            </a:r>
            <a:r>
              <a:rPr lang="fr-FR" sz="800" b="1" dirty="0"/>
              <a:t> obstructive </a:t>
            </a:r>
            <a:r>
              <a:rPr lang="fr-FR" sz="800" b="1" dirty="0" err="1"/>
              <a:t>pulmonary</a:t>
            </a:r>
            <a:r>
              <a:rPr lang="fr-FR" sz="800" b="1" dirty="0"/>
              <a:t> </a:t>
            </a:r>
            <a:r>
              <a:rPr lang="fr-FR" sz="800" b="1" dirty="0" err="1"/>
              <a:t>disease</a:t>
            </a:r>
            <a:r>
              <a:rPr lang="fr-FR" sz="800" b="1" dirty="0"/>
              <a:t>; FF, fluticasone </a:t>
            </a:r>
            <a:r>
              <a:rPr lang="fr-FR" sz="800" b="1" dirty="0" err="1"/>
              <a:t>furoate</a:t>
            </a:r>
            <a:r>
              <a:rPr lang="fr-FR" sz="800" b="1" dirty="0"/>
              <a:t>; FOR, </a:t>
            </a:r>
            <a:r>
              <a:rPr lang="fr-FR" sz="800" b="1" dirty="0" err="1"/>
              <a:t>formoterol</a:t>
            </a:r>
            <a:r>
              <a:rPr lang="fr-FR" sz="800" b="1" dirty="0"/>
              <a:t>; ICS, </a:t>
            </a:r>
            <a:r>
              <a:rPr lang="fr-FR" sz="800" b="1" dirty="0" err="1"/>
              <a:t>inhaled</a:t>
            </a:r>
            <a:r>
              <a:rPr lang="fr-FR" sz="800" b="1" dirty="0"/>
              <a:t> </a:t>
            </a:r>
            <a:r>
              <a:rPr lang="fr-FR" sz="800" b="1" dirty="0" err="1"/>
              <a:t>corticosteroid</a:t>
            </a:r>
            <a:r>
              <a:rPr lang="fr-FR" sz="800" b="1" dirty="0"/>
              <a:t>; LABA, long-acting </a:t>
            </a:r>
            <a:r>
              <a:rPr lang="el-GR" sz="800" b="1" dirty="0"/>
              <a:t>β </a:t>
            </a:r>
            <a:r>
              <a:rPr lang="fr-FR" sz="800" b="1" dirty="0" err="1"/>
              <a:t>adrenoceptor</a:t>
            </a:r>
            <a:r>
              <a:rPr lang="fr-FR" sz="800" b="1" dirty="0"/>
              <a:t> </a:t>
            </a:r>
            <a:r>
              <a:rPr lang="fr-FR" sz="800" b="1" dirty="0" err="1"/>
              <a:t>agonists</a:t>
            </a:r>
            <a:r>
              <a:rPr lang="fr-FR" sz="800" b="1"/>
              <a:t>;      </a:t>
            </a:r>
            <a:r>
              <a:rPr lang="fr-FR" sz="800" b="1" dirty="0"/>
              <a:t>UMEC, </a:t>
            </a:r>
            <a:r>
              <a:rPr lang="fr-FR" sz="800" b="1" dirty="0" err="1"/>
              <a:t>umeclidinium</a:t>
            </a:r>
            <a:r>
              <a:rPr lang="fr-FR" sz="800" b="1" dirty="0"/>
              <a:t>; VI, </a:t>
            </a:r>
            <a:r>
              <a:rPr lang="fr-FR" sz="800" b="1" dirty="0" err="1"/>
              <a:t>vilanterol</a:t>
            </a:r>
            <a:r>
              <a:rPr lang="fr-FR" sz="800" b="1" dirty="0"/>
              <a:t> </a:t>
            </a:r>
            <a:r>
              <a:rPr lang="en-US" sz="800" b="1" dirty="0"/>
              <a:t>LAMA, long-acting muscarinic antagonist</a:t>
            </a:r>
            <a:endParaRPr lang="fr-FR" sz="800" b="1" dirty="0"/>
          </a:p>
        </p:txBody>
      </p:sp>
    </p:spTree>
    <p:extLst>
      <p:ext uri="{BB962C8B-B14F-4D97-AF65-F5344CB8AC3E}">
        <p14:creationId xmlns:p14="http://schemas.microsoft.com/office/powerpoint/2010/main" val="37869426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048030" y="1078357"/>
            <a:ext cx="7577139" cy="253916"/>
          </a:xfrm>
        </p:spPr>
        <p:txBody>
          <a:bodyPr>
            <a:noAutofit/>
          </a:bodyPr>
          <a:lstStyle/>
          <a:p>
            <a:pPr rtl="0"/>
            <a:r>
              <a:rPr lang="en-US" sz="2400" dirty="0" err="1"/>
              <a:t>Trelegy</a:t>
            </a:r>
            <a:r>
              <a:rPr lang="en-US" sz="2400" dirty="0"/>
              <a:t> Ellipta 100/62.5/25 mcg and 200/62.5/25 mcg</a:t>
            </a:r>
            <a:endParaRPr lang="he-IL" sz="2400" dirty="0"/>
          </a:p>
        </p:txBody>
      </p:sp>
      <p:sp>
        <p:nvSpPr>
          <p:cNvPr id="5" name="Content Placeholder 4"/>
          <p:cNvSpPr>
            <a:spLocks noGrp="1"/>
          </p:cNvSpPr>
          <p:nvPr>
            <p:ph sz="quarter" idx="12"/>
          </p:nvPr>
        </p:nvSpPr>
        <p:spPr>
          <a:xfrm>
            <a:off x="1958897" y="1746347"/>
            <a:ext cx="8488866" cy="3734989"/>
          </a:xfrm>
        </p:spPr>
        <p:txBody>
          <a:bodyPr>
            <a:normAutofit lnSpcReduction="10000"/>
          </a:bodyPr>
          <a:lstStyle/>
          <a:p>
            <a:pPr marL="268157" lvl="1" indent="0" algn="just">
              <a:buNone/>
            </a:pPr>
            <a:r>
              <a:rPr lang="en-US" sz="1275" dirty="0" err="1">
                <a:cs typeface="Calibri" panose="020F0502020204030204" pitchFamily="34" charset="0"/>
              </a:rPr>
              <a:t>Trelegy</a:t>
            </a:r>
            <a:r>
              <a:rPr lang="en-US" sz="1275" dirty="0">
                <a:cs typeface="Calibri" panose="020F0502020204030204" pitchFamily="34" charset="0"/>
              </a:rPr>
              <a:t> Ellipta should be administered with caution in patients with pulmonary tuberculosis or in patients with chronic or untreated infections. </a:t>
            </a:r>
            <a:r>
              <a:rPr lang="en-US" sz="1275" b="1" dirty="0">
                <a:cs typeface="Calibri" panose="020F0502020204030204" pitchFamily="34" charset="0"/>
              </a:rPr>
              <a:t>Anticholinergic activity: </a:t>
            </a:r>
            <a:r>
              <a:rPr lang="en-US" sz="1275" dirty="0" err="1">
                <a:cs typeface="Calibri" panose="020F0502020204030204" pitchFamily="34" charset="0"/>
              </a:rPr>
              <a:t>Trelegy</a:t>
            </a:r>
            <a:r>
              <a:rPr lang="en-US" sz="1275" dirty="0">
                <a:cs typeface="Calibri" panose="020F0502020204030204" pitchFamily="34" charset="0"/>
              </a:rPr>
              <a:t> Ellipta should be used with caution in patients with narrow-angle glaucoma or urinary retention. Patients should be informed about the signs and symptoms of acute narrow-angle glaucoma and should be informed to stop using </a:t>
            </a:r>
            <a:r>
              <a:rPr lang="en-US" sz="1275" dirty="0" err="1">
                <a:cs typeface="Calibri" panose="020F0502020204030204" pitchFamily="34" charset="0"/>
              </a:rPr>
              <a:t>Trelegy</a:t>
            </a:r>
            <a:r>
              <a:rPr lang="en-US" sz="1275" dirty="0">
                <a:cs typeface="Calibri" panose="020F0502020204030204" pitchFamily="34" charset="0"/>
              </a:rPr>
              <a:t> Ellipta and to contact their doctor immediately should any of these signs or symptoms develop. </a:t>
            </a:r>
            <a:r>
              <a:rPr lang="en-US" sz="1275" b="1" dirty="0">
                <a:cs typeface="Calibri" panose="020F0502020204030204" pitchFamily="34" charset="0"/>
              </a:rPr>
              <a:t>Pneumonia in patients with COPD: </a:t>
            </a:r>
            <a:r>
              <a:rPr lang="en-US" sz="1275" dirty="0">
                <a:cs typeface="Calibri" panose="020F0502020204030204" pitchFamily="34" charset="0"/>
              </a:rPr>
              <a:t>An increase in the incidence of pneumonia, including pneumonia requiring </a:t>
            </a:r>
            <a:r>
              <a:rPr lang="en-US" sz="1275" dirty="0" err="1">
                <a:cs typeface="Calibri" panose="020F0502020204030204" pitchFamily="34" charset="0"/>
              </a:rPr>
              <a:t>hospitalisation</a:t>
            </a:r>
            <a:r>
              <a:rPr lang="en-US" sz="1275" dirty="0">
                <a:cs typeface="Calibri" panose="020F0502020204030204" pitchFamily="34" charset="0"/>
              </a:rPr>
              <a:t>, has been observed in patients with COPD receiving inhaled corticosteroids. </a:t>
            </a:r>
            <a:r>
              <a:rPr lang="en-US" sz="1275" b="1" dirty="0">
                <a:cs typeface="Calibri" panose="020F0502020204030204" pitchFamily="34" charset="0"/>
              </a:rPr>
              <a:t>Pneumonia in patients with asthma: </a:t>
            </a:r>
            <a:r>
              <a:rPr lang="en-US" sz="1275" dirty="0">
                <a:cs typeface="Calibri" panose="020F0502020204030204" pitchFamily="34" charset="0"/>
              </a:rPr>
              <a:t>An increased incidence of pneumonia in patients with asthma receiving higher doses of </a:t>
            </a:r>
            <a:r>
              <a:rPr lang="en-US" sz="1275" dirty="0" err="1">
                <a:cs typeface="Calibri" panose="020F0502020204030204" pitchFamily="34" charset="0"/>
              </a:rPr>
              <a:t>Trelegy</a:t>
            </a:r>
            <a:r>
              <a:rPr lang="en-US" sz="1275" dirty="0">
                <a:cs typeface="Calibri" panose="020F0502020204030204" pitchFamily="34" charset="0"/>
              </a:rPr>
              <a:t> Ellipta cannot be excluded.</a:t>
            </a:r>
          </a:p>
          <a:p>
            <a:pPr algn="l" rtl="0"/>
            <a:r>
              <a:rPr lang="en-US" sz="1275" b="1" dirty="0">
                <a:cs typeface="Calibri" panose="020F0502020204030204" pitchFamily="34" charset="0"/>
              </a:rPr>
              <a:t>Pregnancy: </a:t>
            </a:r>
            <a:r>
              <a:rPr lang="en-US" sz="1275" dirty="0">
                <a:cs typeface="Calibri" panose="020F0502020204030204" pitchFamily="34" charset="0"/>
              </a:rPr>
              <a:t>Administration of </a:t>
            </a:r>
            <a:r>
              <a:rPr lang="en-US" sz="1275" dirty="0" err="1">
                <a:cs typeface="Calibri" panose="020F0502020204030204" pitchFamily="34" charset="0"/>
              </a:rPr>
              <a:t>Trelegy</a:t>
            </a:r>
            <a:r>
              <a:rPr lang="en-US" sz="1275" dirty="0">
                <a:cs typeface="Calibri" panose="020F0502020204030204" pitchFamily="34" charset="0"/>
              </a:rPr>
              <a:t> Ellipta to pregnant women should only be considered if the expected benefit to the mother justifies the potential risk to the fetus.  </a:t>
            </a:r>
          </a:p>
          <a:p>
            <a:pPr algn="l" rtl="0"/>
            <a:r>
              <a:rPr lang="en-US" sz="1275" b="1" dirty="0">
                <a:cs typeface="Calibri" panose="020F0502020204030204" pitchFamily="34" charset="0"/>
              </a:rPr>
              <a:t>Contraindications: </a:t>
            </a:r>
            <a:r>
              <a:rPr lang="en-US" sz="1275" dirty="0">
                <a:cs typeface="Calibri" panose="020F0502020204030204" pitchFamily="34" charset="0"/>
              </a:rPr>
              <a:t>Hypersensitivity to the active substances or to any of the excipients.	</a:t>
            </a:r>
            <a:endParaRPr lang="en-US" sz="1275" b="1" dirty="0">
              <a:cs typeface="Calibri" panose="020F0502020204030204" pitchFamily="34" charset="0"/>
            </a:endParaRPr>
          </a:p>
          <a:p>
            <a:pPr algn="l" rtl="0"/>
            <a:r>
              <a:rPr lang="en-US" sz="1275" b="1" dirty="0">
                <a:cs typeface="Calibri" panose="020F0502020204030204" pitchFamily="34" charset="0"/>
              </a:rPr>
              <a:t>Very common adverse drug reactions (ADRs) </a:t>
            </a:r>
            <a:r>
              <a:rPr lang="he-IL" sz="1275" dirty="0">
                <a:cs typeface="Calibri" panose="020F0502020204030204" pitchFamily="34" charset="0"/>
              </a:rPr>
              <a:t>≥1/10)</a:t>
            </a:r>
            <a:r>
              <a:rPr lang="en-US" sz="1275" dirty="0">
                <a:cs typeface="Calibri" panose="020F0502020204030204" pitchFamily="34" charset="0"/>
              </a:rPr>
              <a:t>): Nasopharyngitis.	</a:t>
            </a:r>
          </a:p>
          <a:p>
            <a:pPr algn="just" rtl="0"/>
            <a:r>
              <a:rPr lang="en-US" sz="1275" b="1" dirty="0">
                <a:cs typeface="Calibri" panose="020F0502020204030204" pitchFamily="34" charset="0"/>
              </a:rPr>
              <a:t>Common adverse drug reactions (ADRs) </a:t>
            </a:r>
            <a:r>
              <a:rPr lang="en-US" sz="1275" dirty="0">
                <a:cs typeface="Calibri" panose="020F0502020204030204" pitchFamily="34" charset="0"/>
              </a:rPr>
              <a:t>(≥1/100 to &lt;1/10): Pneumonia, Upper respiratory tract infection, Bronchitis, Pharyngitis, Rhinitis, Sinusitis, Influenza, Candidiasis of mouth and throat, Urinary tract infection, Viral respiratory tract infection, Headache, Cough, Oropharyngeal pain, Dysphonia, Constipation, Arthralgia,  and Back pain.</a:t>
            </a:r>
          </a:p>
          <a:p>
            <a:pPr algn="just" rtl="0"/>
            <a:r>
              <a:rPr lang="en-US" sz="1275" dirty="0">
                <a:cs typeface="Calibri" panose="020F0502020204030204" pitchFamily="34" charset="0"/>
              </a:rPr>
              <a:t>Trademarks are owned by or licensed to the GSK group of companies.</a:t>
            </a:r>
          </a:p>
          <a:p>
            <a:pPr algn="just"/>
            <a:endParaRPr lang="en-US" altLang="he-IL" sz="1275" dirty="0">
              <a:cs typeface="Calibri" panose="020F0502020204030204" pitchFamily="34" charset="0"/>
            </a:endParaRPr>
          </a:p>
          <a:p>
            <a:pPr algn="just"/>
            <a:endParaRPr lang="en-US" sz="3225" dirty="0">
              <a:cs typeface="Calibri" panose="020F0502020204030204" pitchFamily="34" charset="0"/>
            </a:endParaRPr>
          </a:p>
          <a:p>
            <a:pPr marL="0" indent="0">
              <a:buNone/>
            </a:pPr>
            <a:endParaRPr lang="en-US" sz="3225" dirty="0">
              <a:cs typeface="Calibri" panose="020F0502020204030204" pitchFamily="34" charset="0"/>
            </a:endParaRPr>
          </a:p>
          <a:p>
            <a:endParaRPr lang="en-US" sz="3225" dirty="0">
              <a:cs typeface="Calibri" panose="020F0502020204030204" pitchFamily="34" charset="0"/>
            </a:endParaRPr>
          </a:p>
          <a:p>
            <a:endParaRPr lang="en-US" sz="1350" dirty="0">
              <a:cs typeface="Calibri" panose="020F0502020204030204" pitchFamily="34" charset="0"/>
            </a:endParaRPr>
          </a:p>
          <a:p>
            <a:endParaRPr lang="he-IL" sz="1350" dirty="0"/>
          </a:p>
        </p:txBody>
      </p:sp>
    </p:spTree>
    <p:extLst>
      <p:ext uri="{BB962C8B-B14F-4D97-AF65-F5344CB8AC3E}">
        <p14:creationId xmlns:p14="http://schemas.microsoft.com/office/powerpoint/2010/main" val="25322030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C8F8D6-DEC6-BFD7-65A2-0D1D1E00E3D7}"/>
              </a:ext>
            </a:extLst>
          </p:cNvPr>
          <p:cNvSpPr>
            <a:spLocks noGrp="1"/>
          </p:cNvSpPr>
          <p:nvPr>
            <p:ph type="body" sz="quarter" idx="22"/>
          </p:nvPr>
        </p:nvSpPr>
        <p:spPr/>
        <p:txBody>
          <a:bodyPr anchor="t"/>
          <a:lstStyle/>
          <a:p>
            <a:pPr marL="0" indent="0" algn="ctr">
              <a:spcAft>
                <a:spcPts val="0"/>
              </a:spcAft>
              <a:buNone/>
            </a:pPr>
            <a:endParaRPr lang="en-US" sz="2000" b="1" dirty="0">
              <a:latin typeface="Calibri" panose="020F0502020204030204" pitchFamily="34" charset="0"/>
              <a:ea typeface="Times New Roman" panose="02020603050405020304" pitchFamily="18" charset="0"/>
            </a:endParaRPr>
          </a:p>
          <a:p>
            <a:pPr algn="ctr">
              <a:spcAft>
                <a:spcPts val="0"/>
              </a:spcAft>
              <a:buFont typeface="Arial" panose="020B0604020202020204" pitchFamily="34" charset="0"/>
              <a:buBlip>
                <a:blip r:embed="rId3"/>
              </a:buBlip>
            </a:pPr>
            <a:r>
              <a:rPr lang="en-US" sz="2000" b="1" dirty="0">
                <a:latin typeface="Calibri" panose="020F0502020204030204" pitchFamily="34" charset="0"/>
                <a:ea typeface="Times New Roman" panose="02020603050405020304" pitchFamily="18" charset="0"/>
              </a:rPr>
              <a:t> </a:t>
            </a:r>
            <a:r>
              <a:rPr lang="en-US" sz="1800" dirty="0">
                <a:latin typeface="Calibri" panose="020F0502020204030204" pitchFamily="34" charset="0"/>
                <a:ea typeface="Times New Roman" panose="02020603050405020304" pitchFamily="18" charset="0"/>
              </a:rPr>
              <a:t>Adverse event reporting generic email address: </a:t>
            </a:r>
            <a:r>
              <a:rPr lang="en-US" sz="1800" u="sng" dirty="0">
                <a:solidFill>
                  <a:srgbClr val="0000FF"/>
                </a:solidFill>
                <a:latin typeface="Calibri" panose="020F0502020204030204" pitchFamily="34" charset="0"/>
                <a:hlinkClick r:id="rId4">
                  <a:extLst>
                    <a:ext uri="{A12FA001-AC4F-418D-AE19-62706E023703}">
                      <ahyp:hlinkClr xmlns:ahyp="http://schemas.microsoft.com/office/drawing/2018/hyperlinkcolor" val="tx"/>
                    </a:ext>
                  </a:extLst>
                </a:hlinkClick>
              </a:rPr>
              <a:t>ae.egypt@gsk.com</a:t>
            </a:r>
            <a:endParaRPr lang="en-US" sz="1800" u="sng" dirty="0">
              <a:solidFill>
                <a:srgbClr val="0000FF"/>
              </a:solidFill>
              <a:latin typeface="Calibri" panose="020F0502020204030204" pitchFamily="34" charset="0"/>
            </a:endParaRPr>
          </a:p>
          <a:p>
            <a:pPr marL="0" indent="0" algn="ctr">
              <a:spcAft>
                <a:spcPts val="0"/>
              </a:spcAft>
              <a:buNone/>
            </a:pPr>
            <a:endParaRPr lang="en-US" sz="1800" u="sng" dirty="0">
              <a:solidFill>
                <a:srgbClr val="0000FF"/>
              </a:solidFill>
              <a:latin typeface="Calibri" panose="020F0502020204030204" pitchFamily="34" charset="0"/>
            </a:endParaRPr>
          </a:p>
          <a:p>
            <a:pPr algn="ctr">
              <a:spcAft>
                <a:spcPts val="0"/>
              </a:spcAft>
              <a:buFont typeface="Arial" panose="020B0604020202020204" pitchFamily="34" charset="0"/>
              <a:buBlip>
                <a:blip r:embed="rId3"/>
              </a:buBlip>
            </a:pPr>
            <a:r>
              <a:rPr lang="en-US" sz="1800" dirty="0">
                <a:latin typeface="Calibri" panose="020F0502020204030204" pitchFamily="34" charset="0"/>
              </a:rPr>
              <a:t> For any Medical Information Requests, please reach us at:</a:t>
            </a:r>
            <a:r>
              <a:rPr lang="en-US" sz="1800" dirty="0">
                <a:latin typeface="Calibri" panose="020F0502020204030204" pitchFamily="34" charset="0"/>
                <a:ea typeface="Times New Roman" panose="02020603050405020304" pitchFamily="18" charset="0"/>
              </a:rPr>
              <a:t> </a:t>
            </a:r>
            <a:r>
              <a:rPr lang="en-US" sz="1800" u="sng" dirty="0">
                <a:solidFill>
                  <a:srgbClr val="0000FF"/>
                </a:solidFill>
                <a:latin typeface="Calibri" panose="020F0502020204030204" pitchFamily="34" charset="0"/>
                <a:ea typeface="Times New Roman" panose="02020603050405020304" pitchFamily="18" charset="0"/>
              </a:rPr>
              <a:t>mi</a:t>
            </a:r>
            <a:r>
              <a:rPr lang="en-US" sz="1800" u="sng" dirty="0">
                <a:solidFill>
                  <a:srgbClr val="0000FF"/>
                </a:solidFill>
                <a:latin typeface="Calibri" panose="020F0502020204030204" pitchFamily="34" charset="0"/>
                <a:hlinkClick r:id="rId5">
                  <a:extLst>
                    <a:ext uri="{A12FA001-AC4F-418D-AE19-62706E023703}">
                      <ahyp:hlinkClr xmlns:ahyp="http://schemas.microsoft.com/office/drawing/2018/hyperlinkcolor" val="tx"/>
                    </a:ext>
                  </a:extLst>
                </a:hlinkClick>
              </a:rPr>
              <a:t>.egypt@gsk.com</a:t>
            </a:r>
            <a:endParaRPr lang="en-US" sz="1800" u="sng" dirty="0">
              <a:solidFill>
                <a:srgbClr val="0000FF"/>
              </a:solidFill>
              <a:latin typeface="Calibri" panose="020F0502020204030204" pitchFamily="34" charset="0"/>
            </a:endParaRPr>
          </a:p>
          <a:p>
            <a:pPr marL="0" indent="0" algn="ctr">
              <a:spcAft>
                <a:spcPts val="0"/>
              </a:spcAft>
              <a:buNone/>
            </a:pPr>
            <a:endParaRPr lang="en-US" sz="1800" dirty="0">
              <a:latin typeface="Calibri" panose="020F0502020204030204" pitchFamily="34" charset="0"/>
              <a:ea typeface="Times New Roman" panose="02020603050405020304" pitchFamily="18" charset="0"/>
            </a:endParaRPr>
          </a:p>
          <a:p>
            <a:pPr algn="ctr">
              <a:spcAft>
                <a:spcPts val="0"/>
              </a:spcAft>
              <a:buFont typeface="Arial" panose="020B0604020202020204" pitchFamily="34" charset="0"/>
              <a:buBlip>
                <a:blip r:embed="rId3"/>
              </a:buBlip>
            </a:pPr>
            <a:r>
              <a:rPr lang="en-US" sz="1800" dirty="0">
                <a:latin typeface="Calibri" panose="020F0502020204030204" pitchFamily="34" charset="0"/>
                <a:ea typeface="Times New Roman" panose="02020603050405020304" pitchFamily="18" charset="0"/>
              </a:rPr>
              <a:t> 24 hours telephone for adverse events reporting : +20226185150 </a:t>
            </a:r>
          </a:p>
          <a:p>
            <a:pPr marL="0" indent="0" algn="ctr">
              <a:spcAft>
                <a:spcPts val="0"/>
              </a:spcAft>
              <a:buNone/>
            </a:pPr>
            <a:endParaRPr lang="en-US" sz="1800" dirty="0">
              <a:latin typeface="Calibri" panose="020F0502020204030204" pitchFamily="34" charset="0"/>
              <a:ea typeface="Calibri" panose="020F0502020204030204" pitchFamily="34" charset="0"/>
            </a:endParaRPr>
          </a:p>
          <a:p>
            <a:pPr algn="ctr">
              <a:spcAft>
                <a:spcPts val="0"/>
              </a:spcAft>
              <a:buFont typeface="Arial" panose="020B0604020202020204" pitchFamily="34" charset="0"/>
              <a:buBlip>
                <a:blip r:embed="rId3"/>
              </a:buBlip>
            </a:pPr>
            <a:r>
              <a:rPr lang="en-US" sz="1800" dirty="0">
                <a:latin typeface="Calibri" panose="020F0502020204030204" pitchFamily="34" charset="0"/>
                <a:ea typeface="Times New Roman" panose="02020603050405020304" pitchFamily="18" charset="0"/>
              </a:rPr>
              <a:t> Address: Head office: Boomerang building, no.46, block j, 5</a:t>
            </a:r>
            <a:r>
              <a:rPr lang="en-US" sz="1800" baseline="30000" dirty="0">
                <a:latin typeface="Calibri" panose="020F0502020204030204" pitchFamily="34" charset="0"/>
                <a:ea typeface="Times New Roman" panose="02020603050405020304" pitchFamily="18" charset="0"/>
              </a:rPr>
              <a:t>th</a:t>
            </a:r>
            <a:r>
              <a:rPr lang="en-US" sz="1800" dirty="0">
                <a:latin typeface="Calibri" panose="020F0502020204030204" pitchFamily="34" charset="0"/>
                <a:ea typeface="Times New Roman" panose="02020603050405020304" pitchFamily="18" charset="0"/>
              </a:rPr>
              <a:t> district , 11835, New Cairo, Egypt PO Box no. 41</a:t>
            </a:r>
            <a:endParaRPr lang="en-US" sz="1800" dirty="0">
              <a:latin typeface="Calibri" panose="020F0502020204030204" pitchFamily="34" charset="0"/>
              <a:ea typeface="Calibri" panose="020F0502020204030204" pitchFamily="34" charset="0"/>
            </a:endParaRPr>
          </a:p>
          <a:p>
            <a:endParaRPr lang="ar-EG" dirty="0"/>
          </a:p>
        </p:txBody>
      </p:sp>
      <p:sp>
        <p:nvSpPr>
          <p:cNvPr id="3" name="Text Placeholder 2">
            <a:extLst>
              <a:ext uri="{FF2B5EF4-FFF2-40B4-BE49-F238E27FC236}">
                <a16:creationId xmlns:a16="http://schemas.microsoft.com/office/drawing/2014/main" id="{E5E6EE59-7704-70DB-FB2B-BFA6B5095291}"/>
              </a:ext>
            </a:extLst>
          </p:cNvPr>
          <p:cNvSpPr>
            <a:spLocks noGrp="1"/>
          </p:cNvSpPr>
          <p:nvPr>
            <p:ph type="body" sz="quarter" idx="18"/>
          </p:nvPr>
        </p:nvSpPr>
        <p:spPr/>
        <p:txBody>
          <a:bodyPr/>
          <a:lstStyle/>
          <a:p>
            <a:endParaRPr lang="ar-EG"/>
          </a:p>
        </p:txBody>
      </p:sp>
      <p:sp>
        <p:nvSpPr>
          <p:cNvPr id="5" name="Title 4">
            <a:extLst>
              <a:ext uri="{FF2B5EF4-FFF2-40B4-BE49-F238E27FC236}">
                <a16:creationId xmlns:a16="http://schemas.microsoft.com/office/drawing/2014/main" id="{A9A1E82F-3142-3858-1710-AC236A3177FF}"/>
              </a:ext>
            </a:extLst>
          </p:cNvPr>
          <p:cNvSpPr>
            <a:spLocks noGrp="1"/>
          </p:cNvSpPr>
          <p:nvPr>
            <p:ph type="title"/>
          </p:nvPr>
        </p:nvSpPr>
        <p:spPr/>
        <p:txBody>
          <a:bodyPr/>
          <a:lstStyle/>
          <a:p>
            <a:r>
              <a:rPr lang="en-US" dirty="0"/>
              <a:t>GSK Contacts</a:t>
            </a:r>
            <a:endParaRPr lang="ar-EG" dirty="0"/>
          </a:p>
        </p:txBody>
      </p:sp>
      <p:sp>
        <p:nvSpPr>
          <p:cNvPr id="6" name="Subtitle 5">
            <a:extLst>
              <a:ext uri="{FF2B5EF4-FFF2-40B4-BE49-F238E27FC236}">
                <a16:creationId xmlns:a16="http://schemas.microsoft.com/office/drawing/2014/main" id="{3DFCDCC2-0CF6-DD73-E68A-1340811E0C3B}"/>
              </a:ext>
            </a:extLst>
          </p:cNvPr>
          <p:cNvSpPr>
            <a:spLocks noGrp="1"/>
          </p:cNvSpPr>
          <p:nvPr>
            <p:ph type="subTitle" idx="1"/>
          </p:nvPr>
        </p:nvSpPr>
        <p:spPr/>
        <p:txBody>
          <a:bodyPr/>
          <a:lstStyle/>
          <a:p>
            <a:endParaRPr lang="ar-EG"/>
          </a:p>
        </p:txBody>
      </p:sp>
      <p:sp>
        <p:nvSpPr>
          <p:cNvPr id="7" name="Footer Placeholder 6">
            <a:extLst>
              <a:ext uri="{FF2B5EF4-FFF2-40B4-BE49-F238E27FC236}">
                <a16:creationId xmlns:a16="http://schemas.microsoft.com/office/drawing/2014/main" id="{1EE671B1-A3BB-075F-789F-A1DC5FD47E55}"/>
              </a:ext>
            </a:extLst>
          </p:cNvPr>
          <p:cNvSpPr>
            <a:spLocks noGrp="1"/>
          </p:cNvSpPr>
          <p:nvPr>
            <p:ph type="ftr"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Noto Sans"/>
              </a:rPr>
              <a:t>For Internal Use Only</a:t>
            </a:r>
            <a:endParaRPr kumimoji="0" lang="en-GB" sz="12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794376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83249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GSK " val="DqY5De45"/>
  <p:tag name="ARTICULATE_SLIDE_COUNT" val="30"/>
  <p:tag name="ARTICULATE_PROJECT_OPEN" val="0"/>
  <p:tag name="PRESGUID" val="8ccfa812-2c5f-48c6-a397-2b0a1432bd4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GSK ">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defPPr marL="285750" indent="-285750" algn="l" eaLnBrk="0" fontAlgn="auto" hangingPunct="0">
          <a:spcBef>
            <a:spcPts val="300"/>
          </a:spcBef>
          <a:spcAft>
            <a:spcPts val="300"/>
          </a:spcAft>
          <a:buClr>
            <a:schemeClr val="tx2"/>
          </a:buClr>
          <a:buSzPct val="110000"/>
          <a:buFont typeface="Arial" panose="020B0604020202020204" pitchFamily="34" charset="0"/>
          <a:buChar char="•"/>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0000" tIns="180000" rIns="180000" bIns="180000" rtlCol="0">
        <a:normAutofit/>
      </a:bodyPr>
      <a:lstStyle>
        <a:defPPr marL="285750" indent="-285750" algn="l">
          <a:spcBef>
            <a:spcPts val="300"/>
          </a:spcBef>
          <a:spcAft>
            <a:spcPts val="300"/>
          </a:spcAft>
          <a:buClr>
            <a:schemeClr val="tx2"/>
          </a:buClr>
          <a:buSzPct val="110000"/>
          <a:buFont typeface="Arial" panose="020B0604020202020204" pitchFamily="34" charset="0"/>
          <a:buChar char="•"/>
          <a:defRPr sz="1600" dirty="0" err="1" smtClean="0"/>
        </a:defPPr>
      </a:lstStyle>
    </a:txDef>
  </a:objectDefaults>
  <a:extraClrSchemeLst/>
  <a:extLst>
    <a:ext uri="{05A4C25C-085E-4340-85A3-A5531E510DB2}">
      <thm15:themeFamily xmlns:thm15="http://schemas.microsoft.com/office/thememl/2012/main" name="Presentation3" id="{1FC64C42-FD31-4645-8EA4-F7F1E0B32C5A}" vid="{75B4F402-4C66-47F2-964F-78688538E0BA}"/>
    </a:ext>
  </a:extLst>
</a:theme>
</file>

<file path=ppt/theme/theme2.xml><?xml version="1.0" encoding="utf-8"?>
<a:theme xmlns:a="http://schemas.openxmlformats.org/drawingml/2006/main" name="1_GSK ">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defPPr marL="285750" indent="-285750" algn="l" eaLnBrk="0" fontAlgn="auto" hangingPunct="0">
          <a:spcBef>
            <a:spcPts val="300"/>
          </a:spcBef>
          <a:spcAft>
            <a:spcPts val="300"/>
          </a:spcAft>
          <a:buClr>
            <a:schemeClr val="tx2"/>
          </a:buClr>
          <a:buSzPct val="110000"/>
          <a:buFont typeface="Arial" panose="020B0604020202020204" pitchFamily="34" charset="0"/>
          <a:buChar char="•"/>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0000" tIns="180000" rIns="180000" bIns="180000" rtlCol="0">
        <a:normAutofit/>
      </a:bodyPr>
      <a:lstStyle>
        <a:defPPr marL="285750" indent="-285750" algn="l">
          <a:spcBef>
            <a:spcPts val="300"/>
          </a:spcBef>
          <a:spcAft>
            <a:spcPts val="300"/>
          </a:spcAft>
          <a:buClr>
            <a:schemeClr val="tx2"/>
          </a:buClr>
          <a:buSzPct val="110000"/>
          <a:buFont typeface="Arial" panose="020B0604020202020204" pitchFamily="34" charset="0"/>
          <a:buChar char="•"/>
          <a:defRPr sz="1600" dirty="0" err="1" smtClean="0"/>
        </a:defPPr>
      </a:lstStyle>
    </a:txDef>
  </a:objectDefaults>
  <a:extraClrSchemeLst/>
  <a:extLst>
    <a:ext uri="{05A4C25C-085E-4340-85A3-A5531E510DB2}">
      <thm15:themeFamily xmlns:thm15="http://schemas.microsoft.com/office/thememl/2012/main" name="GSK_New_PPT_16x9_Template_Sep22_v2  -  Read-Only" id="{EE3E7A9B-3AB6-4322-B87F-828C0A0D3317}" vid="{EC6655C6-C3EC-4531-B19E-81C81EAA6C18}"/>
    </a:ext>
  </a:extLst>
</a:theme>
</file>

<file path=ppt/theme/theme3.xml><?xml version="1.0" encoding="utf-8"?>
<a:theme xmlns:a="http://schemas.openxmlformats.org/drawingml/2006/main" name="Office Theme">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GSK 2015 v2">
    <a:dk1>
      <a:srgbClr val="544F40"/>
    </a:dk1>
    <a:lt1>
      <a:srgbClr val="FFFFFF"/>
    </a:lt1>
    <a:dk2>
      <a:srgbClr val="15717D"/>
    </a:dk2>
    <a:lt2>
      <a:srgbClr val="3A7013"/>
    </a:lt2>
    <a:accent1>
      <a:srgbClr val="F36633"/>
    </a:accent1>
    <a:accent2>
      <a:srgbClr val="544F40"/>
    </a:accent2>
    <a:accent3>
      <a:srgbClr val="D5D1CE"/>
    </a:accent3>
    <a:accent4>
      <a:srgbClr val="BC1077"/>
    </a:accent4>
    <a:accent5>
      <a:srgbClr val="40488D"/>
    </a:accent5>
    <a:accent6>
      <a:srgbClr val="ED003C"/>
    </a:accent6>
    <a:hlink>
      <a:srgbClr val="002060"/>
    </a:hlink>
    <a:folHlink>
      <a:srgbClr val="7030A0"/>
    </a:folHlink>
  </a:clrScheme>
  <a:fontScheme name="GS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GSK 2015 v2">
    <a:dk1>
      <a:srgbClr val="544F40"/>
    </a:dk1>
    <a:lt1>
      <a:srgbClr val="FFFFFF"/>
    </a:lt1>
    <a:dk2>
      <a:srgbClr val="15717D"/>
    </a:dk2>
    <a:lt2>
      <a:srgbClr val="3A7013"/>
    </a:lt2>
    <a:accent1>
      <a:srgbClr val="F36633"/>
    </a:accent1>
    <a:accent2>
      <a:srgbClr val="544F40"/>
    </a:accent2>
    <a:accent3>
      <a:srgbClr val="D5D1CE"/>
    </a:accent3>
    <a:accent4>
      <a:srgbClr val="BC1077"/>
    </a:accent4>
    <a:accent5>
      <a:srgbClr val="40488D"/>
    </a:accent5>
    <a:accent6>
      <a:srgbClr val="ED003C"/>
    </a:accent6>
    <a:hlink>
      <a:srgbClr val="002060"/>
    </a:hlink>
    <a:folHlink>
      <a:srgbClr val="7030A0"/>
    </a:folHlink>
  </a:clrScheme>
  <a:fontScheme name="GS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GSK 2015 v2">
    <a:dk1>
      <a:srgbClr val="544F40"/>
    </a:dk1>
    <a:lt1>
      <a:srgbClr val="FFFFFF"/>
    </a:lt1>
    <a:dk2>
      <a:srgbClr val="15717D"/>
    </a:dk2>
    <a:lt2>
      <a:srgbClr val="3A7013"/>
    </a:lt2>
    <a:accent1>
      <a:srgbClr val="F36633"/>
    </a:accent1>
    <a:accent2>
      <a:srgbClr val="544F40"/>
    </a:accent2>
    <a:accent3>
      <a:srgbClr val="D5D1CE"/>
    </a:accent3>
    <a:accent4>
      <a:srgbClr val="BC1077"/>
    </a:accent4>
    <a:accent5>
      <a:srgbClr val="40488D"/>
    </a:accent5>
    <a:accent6>
      <a:srgbClr val="ED003C"/>
    </a:accent6>
    <a:hlink>
      <a:srgbClr val="002060"/>
    </a:hlink>
    <a:folHlink>
      <a:srgbClr val="7030A0"/>
    </a:folHlink>
  </a:clrScheme>
  <a:fontScheme name="GS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0FBBF6E9189954BA0FDCD563682A98B" ma:contentTypeVersion="16" ma:contentTypeDescription="Create a new document." ma:contentTypeScope="" ma:versionID="1a4143a5922bdc6b3737ea9818078587">
  <xsd:schema xmlns:xsd="http://www.w3.org/2001/XMLSchema" xmlns:xs="http://www.w3.org/2001/XMLSchema" xmlns:p="http://schemas.microsoft.com/office/2006/metadata/properties" xmlns:ns2="731989eb-7121-409c-871c-8f2366272918" xmlns:ns3="a5bf85ab-5b89-45d5-812d-d881043611a5" targetNamespace="http://schemas.microsoft.com/office/2006/metadata/properties" ma:root="true" ma:fieldsID="d5969143f17593460ff451703e77bfd7" ns2:_="" ns3:_="">
    <xsd:import namespace="731989eb-7121-409c-871c-8f2366272918"/>
    <xsd:import namespace="a5bf85ab-5b89-45d5-812d-d881043611a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3:SharedWithUsers" minOccurs="0"/>
                <xsd:element ref="ns3:SharedWithDetail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1989eb-7121-409c-871c-8f23662729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Location" ma:index="15"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f367377-cea2-4f59-9866-8491a8f07ab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a5bf85ab-5b89-45d5-812d-d881043611a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018993d-1d16-43cf-b63c-2f328976747f}" ma:internalName="TaxCatchAll" ma:showField="CatchAllData" ma:web="a5bf85ab-5b89-45d5-812d-d881043611a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31989eb-7121-409c-871c-8f2366272918">
      <Terms xmlns="http://schemas.microsoft.com/office/infopath/2007/PartnerControls"/>
    </lcf76f155ced4ddcb4097134ff3c332f>
    <TaxCatchAll xmlns="a5bf85ab-5b89-45d5-812d-d881043611a5" xsi:nil="true"/>
  </documentManagement>
</p:properties>
</file>

<file path=customXml/itemProps1.xml><?xml version="1.0" encoding="utf-8"?>
<ds:datastoreItem xmlns:ds="http://schemas.openxmlformats.org/officeDocument/2006/customXml" ds:itemID="{A5DA663B-0373-4C8B-B815-9005A7A0024E}">
  <ds:schemaRefs>
    <ds:schemaRef ds:uri="http://schemas.microsoft.com/sharepoint/v3/contenttype/forms"/>
  </ds:schemaRefs>
</ds:datastoreItem>
</file>

<file path=customXml/itemProps2.xml><?xml version="1.0" encoding="utf-8"?>
<ds:datastoreItem xmlns:ds="http://schemas.openxmlformats.org/officeDocument/2006/customXml" ds:itemID="{EE0F26C6-5C28-44C7-AF1C-6D797356FB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1989eb-7121-409c-871c-8f2366272918"/>
    <ds:schemaRef ds:uri="a5bf85ab-5b89-45d5-812d-d881043611a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FC8329-C6F9-417B-AFDE-5E22243E6E66}">
  <ds:schemaRefs>
    <ds:schemaRef ds:uri="http://purl.org/dc/elements/1.1/"/>
    <ds:schemaRef ds:uri="http://schemas.microsoft.com/office/2006/documentManagement/types"/>
    <ds:schemaRef ds:uri="http://purl.org/dc/dcmitype/"/>
    <ds:schemaRef ds:uri="http://schemas.openxmlformats.org/package/2006/metadata/core-properties"/>
    <ds:schemaRef ds:uri="http://schemas.microsoft.com/office/infopath/2007/PartnerControls"/>
    <ds:schemaRef ds:uri="http://purl.org/dc/terms/"/>
    <ds:schemaRef ds:uri="http://www.w3.org/XML/1998/namespace"/>
    <ds:schemaRef ds:uri="a5bf85ab-5b89-45d5-812d-d881043611a5"/>
    <ds:schemaRef ds:uri="731989eb-7121-409c-871c-8f2366272918"/>
    <ds:schemaRef ds:uri="http://schemas.microsoft.com/office/2006/metadata/properties"/>
  </ds:schemaRefs>
</ds:datastoreItem>
</file>

<file path=docMetadata/LabelInfo.xml><?xml version="1.0" encoding="utf-8"?>
<clbl:labelList xmlns:clbl="http://schemas.microsoft.com/office/2020/mipLabelMetadata">
  <clbl:label id="{bea66b2b-af80-48b6-873b-d341d3035cfa}" enabled="1" method="Standard" siteId="{63982aff-fb6c-4c22-973b-70e4acfb63e6}" removed="0"/>
</clbl:labelList>
</file>

<file path=docProps/app.xml><?xml version="1.0" encoding="utf-8"?>
<Properties xmlns="http://schemas.openxmlformats.org/officeDocument/2006/extended-properties" xmlns:vt="http://schemas.openxmlformats.org/officeDocument/2006/docPropsVTypes">
  <Template>GSK 7315_GSK Template_16 (002)</Template>
  <TotalTime>3612</TotalTime>
  <Words>5778</Words>
  <Application>Microsoft Office PowerPoint</Application>
  <PresentationFormat>Widescreen</PresentationFormat>
  <Paragraphs>667</Paragraphs>
  <Slides>21</Slides>
  <Notes>18</Notes>
  <HiddenSlides>1</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21</vt:i4>
      </vt:variant>
    </vt:vector>
  </HeadingPairs>
  <TitlesOfParts>
    <vt:vector size="30" baseType="lpstr">
      <vt:lpstr>Arial</vt:lpstr>
      <vt:lpstr>Arial MT</vt:lpstr>
      <vt:lpstr>Calibri</vt:lpstr>
      <vt:lpstr>Georgia</vt:lpstr>
      <vt:lpstr>Symbol</vt:lpstr>
      <vt:lpstr>Times New Roman</vt:lpstr>
      <vt:lpstr>GSK </vt:lpstr>
      <vt:lpstr>1_GSK </vt:lpstr>
      <vt:lpstr>think-cell Slide</vt:lpstr>
      <vt:lpstr>    Single-inhaler triple therapy in COPD:  FF/UMEC/VI in one inhaler </vt:lpstr>
      <vt:lpstr>Disclaimer</vt:lpstr>
      <vt:lpstr>FULFIL Study  </vt:lpstr>
      <vt:lpstr>FULFIL trial study design: Lung function and quality of life assessment in COPD with single-inhaler triple therapy</vt:lpstr>
      <vt:lpstr>FULFIL: Eligibility requirements</vt:lpstr>
      <vt:lpstr>FULFIL demographics and baseline characteristics </vt:lpstr>
      <vt:lpstr>Once-daily single-inhaler triple therapy (FF/UMEC/VI) in COPD significantly improved lung function versus BD BUD/FOR</vt:lpstr>
      <vt:lpstr>FULFIL: COPD medication at baseline</vt:lpstr>
      <vt:lpstr>Once-daily single-inhaler triple therapy (FF/UMEC/VI) in COPD significantly improved lung function versus BUD/FOR</vt:lpstr>
      <vt:lpstr>Once-daily single-inhaler triple therapy (FF/UMEC/VI) in COPD significantly improved lung function versus BUD/FOR</vt:lpstr>
      <vt:lpstr>Once-daily single-inhaler triple therapy (FF/UMEC/VI) in COPD significantly improved lung function versus BD BUD/FOR</vt:lpstr>
      <vt:lpstr>Once-daily single-inhaler triple therapy (FF/UMEC/VI) in COPD significantly improved QoL vs BUD/FOR</vt:lpstr>
      <vt:lpstr>Once-daily single-inhaler triple therapy (FF/UMEC/VI) in COPD significantly improved QoL vs BD BUD/FOR </vt:lpstr>
      <vt:lpstr>Once-daily single-inhaler triple therapy (FF/UMEC/VI) in COPD significantly improved QoL vs BD BUD/FOR </vt:lpstr>
      <vt:lpstr>Once-daily single-inhaler triple therapy (FF/UMEC/VI) significantly reduced the rate of annual exacerbations compared with BUD/FOR</vt:lpstr>
      <vt:lpstr>Comparable adverse event profiles for once daily single inhaler triple therapy (FF/UMEC/VI) and BUD/FOR  </vt:lpstr>
      <vt:lpstr>PowerPoint Presentation</vt:lpstr>
      <vt:lpstr>Conclusions from FULFIL</vt:lpstr>
      <vt:lpstr>Trelegy Ellipta 100/62.5/25 mcg and 200/62.5/25 mcg</vt:lpstr>
      <vt:lpstr>GSK Contacts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GSK PowerPoint template</dc:title>
  <dc:creator>Russell Perry</dc:creator>
  <cp:lastModifiedBy>Abdelrahman Sayed</cp:lastModifiedBy>
  <cp:revision>3</cp:revision>
  <dcterms:created xsi:type="dcterms:W3CDTF">2022-06-01T13:07:00Z</dcterms:created>
  <dcterms:modified xsi:type="dcterms:W3CDTF">2025-07-22T05:45:11Z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0x010100A0FBBF6E9189954BA0FDCD563682A98B</vt:lpwstr>
  </property>
  <property fmtid="{D5CDD505-2E9C-101B-9397-08002B2CF9AE}" pid="3" name="MediaServiceImageTags">
    <vt:lpwstr/>
  </property>
  <property fmtid="{D5CDD505-2E9C-101B-9397-08002B2CF9AE}" pid="4" name="ArticulateGUID">
    <vt:lpwstr>15CDE283-B26F-4D28-871F-EAED173C219D</vt:lpwstr>
  </property>
  <property fmtid="{D5CDD505-2E9C-101B-9397-08002B2CF9AE}" pid="5" name="ArticulatePath">
    <vt:lpwstr>Presentation1</vt:lpwstr>
  </property>
  <property fmtid="{D5CDD505-2E9C-101B-9397-08002B2CF9AE}" pid="6" name="MSIP_Label_bea66b2b-af80-48b6-873b-d341d3035cfa_Enabled">
    <vt:lpwstr>true</vt:lpwstr>
  </property>
  <property fmtid="{D5CDD505-2E9C-101B-9397-08002B2CF9AE}" pid="7" name="MSIP_Label_bea66b2b-af80-48b6-873b-d341d3035cfa_SetDate">
    <vt:lpwstr>2025-02-10T12:10:50Z</vt:lpwstr>
  </property>
  <property fmtid="{D5CDD505-2E9C-101B-9397-08002B2CF9AE}" pid="8" name="MSIP_Label_bea66b2b-af80-48b6-873b-d341d3035cfa_Method">
    <vt:lpwstr>Standard</vt:lpwstr>
  </property>
  <property fmtid="{D5CDD505-2E9C-101B-9397-08002B2CF9AE}" pid="9" name="MSIP_Label_bea66b2b-af80-48b6-873b-d341d3035cfa_Name">
    <vt:lpwstr>Proprietary</vt:lpwstr>
  </property>
  <property fmtid="{D5CDD505-2E9C-101B-9397-08002B2CF9AE}" pid="10" name="MSIP_Label_bea66b2b-af80-48b6-873b-d341d3035cfa_SiteId">
    <vt:lpwstr>63982aff-fb6c-4c22-973b-70e4acfb63e6</vt:lpwstr>
  </property>
  <property fmtid="{D5CDD505-2E9C-101B-9397-08002B2CF9AE}" pid="11" name="MSIP_Label_bea66b2b-af80-48b6-873b-d341d3035cfa_ActionId">
    <vt:lpwstr>8e8c608e-c4bd-430a-9c63-f869506d74ca</vt:lpwstr>
  </property>
  <property fmtid="{D5CDD505-2E9C-101B-9397-08002B2CF9AE}" pid="12" name="MSIP_Label_bea66b2b-af80-48b6-873b-d341d3035cfa_ContentBits">
    <vt:lpwstr>0</vt:lpwstr>
  </property>
  <property fmtid="{D5CDD505-2E9C-101B-9397-08002B2CF9AE}" pid="13" name="MSIP_Label_bea66b2b-af80-48b6-873b-d341d3035cfa_Tag">
    <vt:lpwstr>10, 3, 0, 1</vt:lpwstr>
  </property>
</Properties>
</file>